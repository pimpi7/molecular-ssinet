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7" r:id="rId2"/>
    <p:sldId id="326" r:id="rId3"/>
    <p:sldId id="336" r:id="rId4"/>
    <p:sldId id="337" r:id="rId5"/>
    <p:sldId id="338" r:id="rId6"/>
    <p:sldId id="339" r:id="rId7"/>
    <p:sldId id="349" r:id="rId8"/>
    <p:sldId id="340" r:id="rId9"/>
    <p:sldId id="344" r:id="rId10"/>
    <p:sldId id="345" r:id="rId11"/>
    <p:sldId id="360" r:id="rId12"/>
    <p:sldId id="361" r:id="rId13"/>
    <p:sldId id="348" r:id="rId14"/>
    <p:sldId id="378" r:id="rId15"/>
    <p:sldId id="379" r:id="rId16"/>
    <p:sldId id="381" r:id="rId17"/>
    <p:sldId id="341" r:id="rId18"/>
    <p:sldId id="347" r:id="rId19"/>
    <p:sldId id="352" r:id="rId20"/>
    <p:sldId id="356" r:id="rId21"/>
    <p:sldId id="355" r:id="rId22"/>
    <p:sldId id="357" r:id="rId23"/>
    <p:sldId id="358" r:id="rId24"/>
    <p:sldId id="332" r:id="rId25"/>
    <p:sldId id="359" r:id="rId26"/>
    <p:sldId id="353" r:id="rId27"/>
    <p:sldId id="362" r:id="rId28"/>
    <p:sldId id="382" r:id="rId29"/>
    <p:sldId id="383" r:id="rId30"/>
    <p:sldId id="373" r:id="rId31"/>
    <p:sldId id="372" r:id="rId32"/>
    <p:sldId id="376" r:id="rId33"/>
    <p:sldId id="367" r:id="rId34"/>
    <p:sldId id="366" r:id="rId35"/>
    <p:sldId id="369" r:id="rId36"/>
    <p:sldId id="370" r:id="rId37"/>
    <p:sldId id="371" r:id="rId38"/>
    <p:sldId id="385" r:id="rId39"/>
    <p:sldId id="37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5EF"/>
    <a:srgbClr val="FFFFFF"/>
    <a:srgbClr val="CC0000"/>
    <a:srgbClr val="FFA3A3"/>
    <a:srgbClr val="EB7B3D"/>
    <a:srgbClr val="F2A77E"/>
    <a:srgbClr val="F7C9AF"/>
    <a:srgbClr val="FBE3D6"/>
    <a:srgbClr val="722E0C"/>
    <a:srgbClr val="F16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88962" autoAdjust="0"/>
  </p:normalViewPr>
  <p:slideViewPr>
    <p:cSldViewPr snapToGrid="0">
      <p:cViewPr>
        <p:scale>
          <a:sx n="90" d="100"/>
          <a:sy n="90" d="100"/>
        </p:scale>
        <p:origin x="192" y="17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A2EBF-38CC-41CC-8845-D52A43580C34}" type="datetimeFigureOut">
              <a:rPr lang="it-IT" smtClean="0"/>
              <a:t>05/06/2026</a:t>
            </a:fld>
            <a:endParaRPr lang="it-IT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F48A99-A7F1-49EB-916A-9E2AEC7B1174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9012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92485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Reinforcement Learning opened a lot of new frontiers in the biological and medical field. In 2024 AlphaFold3 by Google DeepMind mapped all the molecules in the nature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90435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161616"/>
                </a:solidFill>
                <a:latin typeface="IBM Plex Sans"/>
              </a:rPr>
              <a:t>Prior saliency methods produce coarse maps with little quantitative grounding.</a:t>
            </a:r>
          </a:p>
          <a:p>
            <a:r>
              <a:rPr lang="en-US" dirty="0"/>
              <a:t>Understandable also to non-experts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54234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B70B8-C6A9-B93E-03B9-5CD7ED224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7EC58-EC39-4B99-7725-7FB507E0C2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83A70-640D-4AAC-B263-DA7BFBADA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Reinforcement Learning opened a lot of new frontiers in the biological and medical field. In 2024 AlphaFold3 by Google DeepMind mapped all the molecules in the nature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F5B46-EABD-9945-5DD2-DAF664BF39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81490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297F5-A1A0-F24B-7496-9C814E6CB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417FE-8E87-F18F-6E5D-286670487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BDBBF-8998-6568-DD4E-BC1FC5F80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FD459-2EA9-7EED-50E6-FF9044F66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69486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A3771-7D97-129C-A910-CFB47890F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C561D-F5CC-D47C-693B-E9EF79399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37C05-F180-AACE-93F4-37A6D48D3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54A9A-660B-6059-036E-EAE107B0C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602996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C1A6B-5141-D11B-9592-18ADB3D5E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98CFF5-1838-78D3-3E64-1A454075C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DCB2C-3123-39C9-2D3A-B0AB52C24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Protease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C8693-0A3B-81C3-CFFC-ABFF27E27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51947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34C2F-6FBF-6688-2FF5-FBEE0AA17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3D4551-7F85-175E-AB59-AD002EC1D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30747C-2C65-D66C-2C99-54A5C6222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CCDD9-AC34-4410-14A5-4B5A12A88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55133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B0EE4-D73B-0B5A-385C-3402EF8AD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658A1D-1EA3-B91F-EBD0-03ACD5AF7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C40A6F-2859-347C-9305-432160AD2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D8806-275B-3F53-DE18-10EE6C077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15364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B9EE6-1C11-B396-E296-768082056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5B53F-112A-6B6F-77B8-637AE28FA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140B9D-28F2-FA55-1458-93CC82A81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6479E-B9FC-5A93-C5CF-31A3686B5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9185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840EA-2B42-C121-E910-B9FB7951C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3C9FC1-2618-B116-AA1D-94DFD5A15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4DA6A1-66DE-BBC6-64F5-6AE265C8F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CAAC7-0D55-8459-2953-E7727CC83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453894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BC481-FE55-34C2-4BD7-D96C2DD21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8B9C76-EFE3-2195-8C22-720B1866D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BC0D07-A185-3363-0414-789238209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9FC37-ED63-78E8-6783-B74726635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679248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DF863-A97E-4C6C-55BB-FC47525C1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FC3B7-DB5F-67B5-C92F-4DC4A5A1A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C8912-6918-1CE7-1DD5-AEFB04B63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0990F-EBAA-2E4E-1E0A-2681649081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26933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85172-1EAA-ED90-4106-D53950DE7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F6F71-6605-33C1-A2D6-032A15FCA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39E57-D6E4-DFCC-0789-6C3F488C6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0004F-6903-6125-3858-FAD5A9748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402104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2EA25-C5EE-62A1-7128-FF79BAF58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D4C019-529C-396D-8643-B5568916E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2D230-35DA-778A-DDBC-556BC8DBD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B832D-716B-7087-BAC1-04B6D03BA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717703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4DA9F-5385-0BA9-0E56-12EB255C5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D57F4-421D-9755-F9B3-E686C8576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F82179-803C-89D3-96ED-F7E826AB7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8A946-A1BE-CBB8-A1C3-0C337D2F1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060773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A9B0E-E2D6-04E1-21B6-49FCFE70B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C1631A-0EBD-3D57-DBC5-7313C99D4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F90F2-2660-60C5-3C2D-630EA2751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B5096-5CCB-CD8E-566F-9B2DBC7D4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00557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ABB94-8CE7-B1F5-5E31-8E76FEB26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AFC27-34D7-9C58-B8A0-DFAE6008F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2EA091-2CC3-7D9A-36B5-3495839FF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set S containing all terminal states of length T is exponential in size and hence, needs to be approximated as a mathematical expectation.</a:t>
            </a:r>
            <a:br>
              <a:rPr lang="en-US" dirty="0"/>
            </a:br>
            <a:r>
              <a:rPr lang="en-US" dirty="0"/>
              <a:t>To maximize R(Θ) we need to calculate its gradient which can be done using the REINFORCE algorithm1 and the following differentiation rule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18244-E065-4C9B-1D75-12FA9301E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759133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138D5-3EB1-6321-6BB5-F578CD817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2332A-8BBC-3A65-57E3-5208AA414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F5CCD-B347-F6C6-A29E-EFC0E2F0C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Fig. 1: Architecture diagram of our self-supervised interpretable framework, which includes two stages. In the first stage, we switch S to K1 and jointly pretrain the feature extractor </a:t>
            </a:r>
            <a:r>
              <a:rPr lang="en-US" dirty="0" err="1"/>
              <a:t>fe</a:t>
            </a:r>
            <a:r>
              <a:rPr lang="en-US" dirty="0"/>
              <a:t> and action predictor fa with RL. In the second stage, we switch S to K2 and train the decoder </a:t>
            </a:r>
            <a:r>
              <a:rPr lang="en-US" dirty="0" err="1"/>
              <a:t>fd</a:t>
            </a:r>
            <a:r>
              <a:rPr lang="en-US" dirty="0"/>
              <a:t> while freezing </a:t>
            </a:r>
            <a:r>
              <a:rPr lang="en-US" dirty="0" err="1"/>
              <a:t>fe</a:t>
            </a:r>
            <a:r>
              <a:rPr lang="en-US" dirty="0"/>
              <a:t> and fa. The encoder is shared from the feature extractor and also denoted by </a:t>
            </a:r>
            <a:r>
              <a:rPr lang="en-US" dirty="0" err="1"/>
              <a:t>fe</a:t>
            </a:r>
            <a:r>
              <a:rPr lang="en-US" dirty="0"/>
              <a:t>. NA is the dimension of action space.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77184-34CF-44C5-A923-A37B38805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698249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B93EE-924B-3D08-917A-B7C4AE05A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A98D4-223D-69BF-E336-F33D84CE4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FD1D5-D3D6-E2F4-BCC1-08D8DD980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components are trained end-to-end with PPO. The agent interacts with the environment, collects experience, and updates its weights to maximize cumulative reward. Nothing unusual here — this is just standard deep RL training.</a:t>
            </a:r>
          </a:p>
          <a:p>
            <a:r>
              <a:rPr lang="en-US" dirty="0"/>
              <a:t>Once the agent has converged to a good policy, it is called the </a:t>
            </a:r>
            <a:r>
              <a:rPr lang="en-US" b="1" dirty="0"/>
              <a:t>expert policy</a:t>
            </a:r>
            <a:r>
              <a:rPr lang="en-US" dirty="0"/>
              <a:t> </a:t>
            </a:r>
            <a:r>
              <a:rPr lang="en-US" i="1" dirty="0"/>
              <a:t>π_e</a:t>
            </a:r>
            <a:r>
              <a:rPr lang="en-US" dirty="0"/>
              <a:t>. It is then frozen and used to collect a dataset of M = 50,000 state-action pairs {(</a:t>
            </a:r>
            <a:r>
              <a:rPr lang="en-US" dirty="0" err="1"/>
              <a:t>s_i</a:t>
            </a:r>
            <a:r>
              <a:rPr lang="en-US" dirty="0"/>
              <a:t>, </a:t>
            </a:r>
            <a:r>
              <a:rPr lang="en-US" dirty="0" err="1"/>
              <a:t>a_i</a:t>
            </a:r>
            <a:r>
              <a:rPr lang="en-US" dirty="0"/>
              <a:t>)} by rolling it out in the environment. Each pair records a state the agent visited and the action it chose. This dataset is the only "supervision" that </a:t>
            </a:r>
            <a:r>
              <a:rPr lang="en-US" dirty="0" err="1"/>
              <a:t>SSINet</a:t>
            </a:r>
            <a:r>
              <a:rPr lang="en-US" dirty="0"/>
              <a:t> will ever receive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EB2BE-82C9-AE38-BD60-146D52C75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730914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10B11-0DC8-FA69-307A-53639C62D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D516-FDEF-4137-7487-62B22E5F8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93D51-2470-8E01-D0E4-6B06CB004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161616"/>
                </a:solidFill>
                <a:latin typeface="IBM Plex Sans"/>
              </a:rPr>
              <a:t>Prior saliency methods produce coarse maps with little quantitative grounding.</a:t>
            </a:r>
          </a:p>
          <a:p>
            <a:r>
              <a:rPr lang="en-US" dirty="0"/>
              <a:t>Understandable also to non-experts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6390B-AE6F-EC14-348F-99DDC35DD8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951432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AE900-2141-A695-7CEB-A427B78B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EB831-3CE7-C7B5-54DB-0A3D56119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8D16DE-C0E0-5FA0-C07F-F61FFBBD6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161616"/>
                </a:solidFill>
                <a:latin typeface="IBM Plex Sans"/>
              </a:rPr>
              <a:t>Prior saliency methods produce coarse maps with little quantitative grounding.</a:t>
            </a:r>
          </a:p>
          <a:p>
            <a:r>
              <a:rPr lang="en-US" dirty="0"/>
              <a:t>Understandable also to non-experts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A22C7-8377-7A74-B1BA-710A3C627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503863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0F609-7509-8C62-58A5-006FD3281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EF39D-785A-8606-8A82-424A37227A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54764-1851-3AA3-7398-F06DAC796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161616"/>
                </a:solidFill>
                <a:latin typeface="IBM Plex Sans"/>
              </a:rPr>
              <a:t>Prior saliency methods produce coarse maps with little quantitative grounding.</a:t>
            </a:r>
          </a:p>
          <a:p>
            <a:r>
              <a:rPr lang="en-US" dirty="0"/>
              <a:t>Understandable also to non-experts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E1A96-94BF-CD20-BE6A-68CF3AD2A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801503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MRR – sharpens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564254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76826-E206-F680-CCC1-02EB2EF7C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B76EE-52BD-2BF9-CF9F-F8973A774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6671BC-B2E6-EF60-23AE-B924FA8DB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MRR – sharpens the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6BDD0-051E-98A1-4FD1-DC7C66ADD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942992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9A419-2734-89C1-8AA2-476626354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B11C8-897F-22FE-0902-A47590DA0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9F5AA-27FF-A1B4-BCAC-E945D3312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161616"/>
                </a:solidFill>
                <a:latin typeface="IBM Plex Sans"/>
              </a:rPr>
              <a:t>Prior saliency methods produce coarse maps with little quantitative grounding.</a:t>
            </a:r>
          </a:p>
          <a:p>
            <a:r>
              <a:rPr lang="en-US" dirty="0"/>
              <a:t>Understandable also to non-experts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BC5D9-1364-1B69-DFD7-A694EA173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571776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7600A-53B6-DDA2-7742-F7ADCD8F4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FA654-1608-465E-4FDE-791C75A42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FA5FA-DF02-5319-D07C-AC6331EFD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57794-C67D-88F6-157F-D56464B53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44787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242AB-E71C-A8ED-A414-EE7465865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23EE00-1C5C-357F-4674-8481EFC04B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B3C84-A71C-F788-4BC0-525CAB84C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1" dirty="0" err="1"/>
              <a:t>InfoNCE</a:t>
            </a:r>
            <a:r>
              <a:rPr lang="en-US" dirty="0"/>
              <a:t> contrastive loss, trains the </a:t>
            </a:r>
            <a:r>
              <a:rPr lang="en-US" dirty="0" err="1"/>
              <a:t>AtomMaskMLP</a:t>
            </a:r>
            <a:r>
              <a:rPr lang="en-US" dirty="0"/>
              <a:t> to </a:t>
            </a:r>
            <a:r>
              <a:rPr lang="en-US" b="1" dirty="0"/>
              <a:t>produce a masked graph embedding </a:t>
            </a:r>
            <a:r>
              <a:rPr lang="en-US" dirty="0"/>
              <a:t>— obtained via importance-weighted atom pooling — that remains indistinguishable from the full GIN embedding of the same molecule, while being distinguishable from the embeddings of all other molecules in the batch; this enforces Property 1 (</a:t>
            </a:r>
            <a:r>
              <a:rPr lang="en-US" b="1" dirty="0"/>
              <a:t>Maximum</a:t>
            </a:r>
            <a:r>
              <a:rPr lang="en-US" dirty="0"/>
              <a:t> </a:t>
            </a:r>
            <a:r>
              <a:rPr lang="en-US" b="1" dirty="0"/>
              <a:t>Behavior</a:t>
            </a:r>
            <a:r>
              <a:rPr lang="en-US" dirty="0"/>
              <a:t> </a:t>
            </a:r>
            <a:r>
              <a:rPr lang="en-US" b="1" dirty="0"/>
              <a:t>Resemblance</a:t>
            </a:r>
            <a:r>
              <a:rPr lang="en-US" dirty="0"/>
              <a:t>).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1" dirty="0"/>
              <a:t>L1 sparsity penalty</a:t>
            </a:r>
            <a:r>
              <a:rPr lang="en-US" dirty="0"/>
              <a:t> that directly minimizes the mean atom importance weight, pushing the mask </a:t>
            </a:r>
            <a:r>
              <a:rPr lang="en-US" b="1" dirty="0"/>
              <a:t>to highlight as few atoms as possible </a:t>
            </a:r>
            <a:r>
              <a:rPr lang="en-US" dirty="0"/>
              <a:t>and enforcing Property 2 (Minimum Region Retaining).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Gradients flow exclusively through the </a:t>
            </a:r>
            <a:r>
              <a:rPr lang="en-US" dirty="0" err="1"/>
              <a:t>AtomMaskMLP</a:t>
            </a:r>
            <a:r>
              <a:rPr lang="en-US" dirty="0"/>
              <a:t>; the GIN encoder remains fully frozen throughout.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5AF30-3500-F338-9490-E7ABB8419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6768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AEACD-BCEA-9EE0-7E00-4C96AAC8D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DDFF7-B58A-20AF-CD82-6D97F6092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32E69-D941-B87B-367A-955212E9D9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ECB13-C96B-3F57-33AA-5ED07D0C8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770981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B0D72-3F36-C43B-AFA9-55A497996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FED3D4-FE8B-8F6C-24B3-BAB4867BC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DA22C-958E-A410-C57F-C4A8A9B1F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D76FC-5286-5B3C-1795-5136DD585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30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057781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43DE0-9C76-99C3-3906-886FA86D6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E749C-E851-AB6D-330A-B3ABA88F7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2B6B88-20BC-6924-FA04-086E6E000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Our implementation of SSINet departs from the original formulation by initializing the structured sparsity mask through a warm start—deriving an initial mask from a brief pretraining phase rather than a random or uniform prior—and subsequently refining it via an online update that recomputes mask saliency throughout training rather than fixing it after a single offline calibration pass. The canonical SSINet, designed for image domains, exploits the continuous, grid-structured locality of pixels, where a statically computed mask remains valid because spatial correlations are stationary across the input manifold. Molecular graphs, however, present discrete, permutation-invariant topological relationships whose connectivity-induced feature distributions shift substantially across batches, rendering a fixed mask unstable. The warm start preserves the original convergence trajectory, while the online update tracks the non-stationary graph statistics, jointly reproducing Sinte's intended gradient dynamics and regularization behavior under the domain transfer from pixels to molecules.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843E1-CA98-9445-C366-1F6A383D4E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31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549568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61CFE-4275-F0F4-C3CA-A28458584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0C1DA9-7E2A-EAFF-2F1C-AEC4BCBED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89624E-DEE5-2978-D421-51E8C8482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Our implementation of </a:t>
            </a:r>
            <a:r>
              <a:rPr lang="en-US" dirty="0" err="1"/>
              <a:t>SsiNet</a:t>
            </a:r>
            <a:r>
              <a:rPr lang="en-US" dirty="0"/>
              <a:t> departs from the original formulation by initializing the structured sparsity mask through a warm start—deriving an initial mask from a brief pretraining phase rather than a random or uniform prior—and subsequently refining it via an online update that recomputes mask saliency throughout training rather than fixing it after a single offline calibration pass. The canonical </a:t>
            </a:r>
            <a:r>
              <a:rPr lang="en-US" dirty="0" err="1"/>
              <a:t>SsiNet</a:t>
            </a:r>
            <a:r>
              <a:rPr lang="en-US" dirty="0"/>
              <a:t>, designed for image domains, exploits the continuous, grid-structured locality of pixels, where a statically computed mask remains valid because spatial correlations are stationary across the input manifold. Molecular graphs, however, present discrete, permutation-invariant topological relationships whose connectivity-induced feature distributions shift substantially across batches, rendering a fixed mask unstable. The warm start preserves the original convergence trajectory, while the online update tracks the non-stationary graph statistics, jointly reproducing </a:t>
            </a:r>
            <a:r>
              <a:rPr lang="en-US" dirty="0" err="1"/>
              <a:t>SsiNet's</a:t>
            </a:r>
            <a:r>
              <a:rPr lang="en-US" dirty="0"/>
              <a:t> intended gradient dynamics and regularization behavior under the domain transfer from pixels to molecules.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2D212-0ADF-FD7E-CF72-BEE85197C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32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386648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925DB-62C6-8C13-19A9-78C746AF3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F43FB8-CB71-E061-34F7-E873B3911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5FD92-517A-1786-1B48-1E412370D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04FEF-3B9E-77EC-EA78-CAD18ABB2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33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916622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C8AF1-2664-6C1F-2211-82BBAAD89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9412A6-2D8D-F868-88FC-F83C259D7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E3832-D66F-2253-BF81-FC58BEF12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chain of seven (or more) para-substituted phenyl rings linked by aromatic ketones, with a 4-tolyl cap and a phenyl tail. There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nitrogen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anywhere in the molecule. There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sulfur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There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H-bond donor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From a kinase-inhibitor standpoint this molecule cannot make hinge contacts — it has nothing to donate.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08954-E79F-5DE8-B02D-F6239A9A2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34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722572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1A815-BDFB-2550-D932-F828394AC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792950-9D6D-9A5E-5677-938770634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2C7BA-CE56-D5EF-43DB-0958DD434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Pharmacophorically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this molecule is a textbook aryl-sulfonamide kinase warhead, the same chemotype family as celecoxib (COX-2), pazopanib and sorafenib (RTKs),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apatinib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(VEGFR), and a long line of CK1/TTBK preclinical leads. The primary sulfonamide is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recognised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kinase ATP-pocket hinges through a stereotyped triple H-bond pattern: the sulfonamide N–H donates to the hinge backbone carbonyl, one of the sulfonyl oxygens accepts from the next-residue backbone N–H, and the second sulfonyl oxygen accepts a water-mediated H-bond from the catalytic lysine. This is exactly the geometry seen in 4BTK co-crystal structures with sulfonamide ligands.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6C835-F3C7-3FAB-8FBB-E34116919C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35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683620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040C5-BE76-91B8-376E-46FB4866D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D63698-6493-D45B-7FD1-9B1A3C257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EE05B1-C0BF-DB26-EA1C-3842A6357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/>
              <a:t>In this case, the </a:t>
            </a:r>
            <a:r>
              <a:rPr lang="en-US" b="1" dirty="0"/>
              <a:t>phthalazinone</a:t>
            </a:r>
            <a:r>
              <a:rPr lang="en-US" dirty="0"/>
              <a:t> </a:t>
            </a:r>
            <a:r>
              <a:rPr lang="en-US" b="1" dirty="0"/>
              <a:t>fused-ring</a:t>
            </a:r>
            <a:r>
              <a:rPr lang="en-US" dirty="0"/>
              <a:t> </a:t>
            </a:r>
            <a:r>
              <a:rPr lang="en-US" b="1" dirty="0"/>
              <a:t>system</a:t>
            </a:r>
            <a:r>
              <a:rPr lang="en-US" dirty="0"/>
              <a:t>, acts as the core pharmacophore </a:t>
            </a:r>
            <a:r>
              <a:rPr lang="en-US" b="1" dirty="0"/>
              <a:t>providing the necessary H-bond </a:t>
            </a:r>
            <a:r>
              <a:rPr lang="en-US" dirty="0"/>
              <a:t>contacts to establish the </a:t>
            </a:r>
            <a:r>
              <a:rPr lang="en-US" b="1" dirty="0"/>
              <a:t>hinge</a:t>
            </a:r>
            <a:r>
              <a:rPr lang="en-US" dirty="0"/>
              <a:t> </a:t>
            </a:r>
            <a:r>
              <a:rPr lang="en-US" b="1" dirty="0"/>
              <a:t>binding</a:t>
            </a:r>
            <a:r>
              <a:rPr lang="en-US" dirty="0"/>
              <a:t> with TTBK1, being more structurally suitable and resistant than the </a:t>
            </a:r>
            <a:r>
              <a:rPr lang="en-US" b="1" dirty="0"/>
              <a:t>sulfonyle</a:t>
            </a:r>
            <a:r>
              <a:rPr lang="en-US" dirty="0"/>
              <a:t> </a:t>
            </a:r>
            <a:r>
              <a:rPr lang="en-US" b="1" dirty="0"/>
              <a:t>warhead</a:t>
            </a:r>
            <a:r>
              <a:rPr lang="en-US" dirty="0"/>
              <a:t> seen before, thanks to the presence of Carbon and Nitrogen.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model correctly highlight this situation, showing that it didn’t memorize the  sulfonyle warhead as a generally suitable </a:t>
            </a:r>
            <a:r>
              <a:rPr lang="en-US" dirty="0" err="1"/>
              <a:t>pharmacore</a:t>
            </a:r>
            <a:r>
              <a:rPr lang="en-US" dirty="0"/>
              <a:t>, but it can evaluate  correctly for each molecule.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C0829-A20D-EF14-4D90-E3963BB72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36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494790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CA92A-4EC9-9171-DFB2-CB5060241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8CADAC-92F9-A9AC-2C1C-5083F8D8E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66F3DD-0BDF-2696-C88F-8627CF6D9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7EF38-E3EE-C9D8-86A9-41B9E9525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37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384005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8F548-7894-D92E-2EDB-F4DEDCBD1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0B89D-2B04-68A9-BD3E-A30301390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6D636-E61D-743F-9987-1C8BEB230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E0E47-08D1-AE12-2966-F8058050C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38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2937258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F997A-CFF0-4DA3-C755-F5298D4FA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F319B-59F9-8881-BFE2-4C83AE083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227D7-E6C2-30E9-A81B-6A454DA5F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57094-F222-DF09-1351-693A7756BB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39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61806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52B08-9F6C-71A4-5B85-BA7C44AAE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0F6593-2FE5-49A4-A8AF-D9A66B47A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0B817-26AF-8551-9A66-5A2BE8E39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05/06/2026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A184F-393D-A3D6-91A4-D21D6DA98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772CE-3B3E-B840-29CC-362832F31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56569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7F61-554B-3670-8F94-5F67857DC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C52A0-A955-8370-4502-FE9AC5201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A9586-5C0F-3B13-13B6-A270B750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05/06/2026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52CA9-178D-52CD-1D00-178BC9B59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1A0FF-139B-34E5-254F-B5B8B73DE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00282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D1B2A-233B-DD33-FFEF-C2C29B719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54826-39E7-C553-96BA-9597BDCED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91A75-8043-4F5D-E30B-2E263F9F0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05/06/2026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9B4EE-7300-8123-AF28-70776CD5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C833A-3596-5EAE-83FC-3A42C13E3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3028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81BC8-E38E-C0B4-6505-F8EC26018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E5231-EBD4-C163-92B9-3C3ACEA1A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2128A-EAF9-D63A-08DE-BA4131D77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D09C4-EE65-0817-7C92-0839477B9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05/06/2026</a:t>
            </a:fld>
            <a:endParaRPr lang="it-IT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09FA5-F5DE-CB3A-FF96-4A5460C19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F25EE-CF1C-DD2F-B94C-D9D251DE4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77865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9D446-D90B-56C0-B64C-9C2620F16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3B750-B501-91C8-26D3-488FB27DC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7B9ED-0D08-CDB2-9AEF-D0D17BBEF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A49DFE-8879-F391-5BE2-73B9F8069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EEDBE-D6A1-E91C-E89F-5DC0F884F0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22FDFF-E57A-65E1-4793-645D439F4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05/06/2026</a:t>
            </a:fld>
            <a:endParaRPr lang="it-IT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16BD18-6E83-D075-8599-FD09375F1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8181B3-5F8E-B7D9-336E-0BA050766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3026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EB832-C17F-60E5-4768-3B3D8CCC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44C360-F9FA-D06E-87B2-3008FB2C7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05/06/2026</a:t>
            </a:fld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E8777B-4A95-8A65-3F8A-6C5514E80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F40C7F-EFC8-EEF0-B0E0-CD1E046EA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48031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3CD271-363C-C1A8-4F54-DEDED611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05/06/2026</a:t>
            </a:fld>
            <a:endParaRPr lang="it-IT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0067F8-D129-9024-7E91-B86437CD9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F82DD-9D0E-2900-CCF6-F72AD7DEF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75207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F9D29-AB81-CCF6-EB13-DE42C0147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B07FB-5AD1-5AE6-223B-A828CF756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95105-8804-2F82-F56F-E797B79F7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0E4A3-8F5F-C28B-806E-1C9C13CE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05/06/2026</a:t>
            </a:fld>
            <a:endParaRPr lang="it-IT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491C4-ADA5-67D1-4474-F1846D759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E41AD-642B-2A96-9DA6-123C2298E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91982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BABD5-7CE2-64B1-11D3-BC68A6CC1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26B961-BC20-78DE-F505-FFF1B248F3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42383-8C22-AFED-C9AA-148B2433A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2DE09-D62C-D128-90C3-A3603DD18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05/06/2026</a:t>
            </a:fld>
            <a:endParaRPr lang="it-IT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13750-52AE-8232-5189-61973CC36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5E511-E1FB-815E-3424-5019E71CA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27213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93430-A7EB-9BCB-ABEC-B56986423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B4E52-AD39-089A-F0C9-FA9CAEA00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5A9B0-FC21-8010-7D69-301B9F1B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05/06/2026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A87B3-2759-CB8F-6F44-3DC581094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E91CE-8400-37FD-EEC1-779823A9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76163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3D5796-F381-DAA4-4FC3-44F1E30863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DD9AED-08AE-352A-146A-048AE0EC0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85D1B-9110-9B40-DA0A-F59679E79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05/06/2026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4A595-0638-9CAB-05FA-781A9E8C4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BE299-DBD2-D8EA-078B-EB4789D1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84090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ACD38E-E0DB-572D-3B7C-4066C649F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A0F8E-55C5-903E-14D0-9F579E986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768C3-EA23-A642-618E-121D4BCA8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EF195-71D2-4E51-8F71-5848C8970B32}" type="datetimeFigureOut">
              <a:rPr lang="it-IT" smtClean="0"/>
              <a:t>05/06/2026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31453-765C-25D7-6817-10D1E9094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316CF-1027-0712-A5E5-6A8E9B6F9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50617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40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0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0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microsoft.com/office/2007/relationships/hdphoto" Target="../media/hdphoto1.wdp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4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microsoft.com/office/2007/relationships/hdphoto" Target="../media/hdphoto1.wdp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svg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svg"/><Relationship Id="rId5" Type="http://schemas.openxmlformats.org/officeDocument/2006/relationships/image" Target="../media/image48.svg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6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svg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svg"/><Relationship Id="rId5" Type="http://schemas.openxmlformats.org/officeDocument/2006/relationships/image" Target="../media/image64.svg"/><Relationship Id="rId4" Type="http://schemas.openxmlformats.org/officeDocument/2006/relationships/image" Target="../media/image63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svg"/><Relationship Id="rId5" Type="http://schemas.openxmlformats.org/officeDocument/2006/relationships/image" Target="../media/image62.png"/><Relationship Id="rId4" Type="http://schemas.openxmlformats.org/officeDocument/2006/relationships/image" Target="../media/image66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1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svg"/><Relationship Id="rId5" Type="http://schemas.openxmlformats.org/officeDocument/2006/relationships/image" Target="../media/image69.svg"/><Relationship Id="rId4" Type="http://schemas.openxmlformats.org/officeDocument/2006/relationships/image" Target="../media/image6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svg"/><Relationship Id="rId3" Type="http://schemas.openxmlformats.org/officeDocument/2006/relationships/image" Target="../media/image58.svg"/><Relationship Id="rId7" Type="http://schemas.openxmlformats.org/officeDocument/2006/relationships/image" Target="../media/image75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svg"/><Relationship Id="rId5" Type="http://schemas.openxmlformats.org/officeDocument/2006/relationships/image" Target="../media/image73.svg"/><Relationship Id="rId10" Type="http://schemas.openxmlformats.org/officeDocument/2006/relationships/image" Target="../media/image78.svg"/><Relationship Id="rId4" Type="http://schemas.openxmlformats.org/officeDocument/2006/relationships/image" Target="../media/image72.svg"/><Relationship Id="rId9" Type="http://schemas.openxmlformats.org/officeDocument/2006/relationships/image" Target="../media/image7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svg"/><Relationship Id="rId5" Type="http://schemas.openxmlformats.org/officeDocument/2006/relationships/image" Target="../media/image80.svg"/><Relationship Id="rId4" Type="http://schemas.openxmlformats.org/officeDocument/2006/relationships/image" Target="../media/image73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59C6F7-0BCA-3F0A-D4BC-E984D6D0B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96276F-3B8D-97DB-ED9B-B2A4AEEB9B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2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BC9294-2F47-BD4A-9AC3-9A791517C6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942"/>
          <a:stretch>
            <a:fillRect/>
          </a:stretch>
        </p:blipFill>
        <p:spPr>
          <a:xfrm>
            <a:off x="5269268" y="192275"/>
            <a:ext cx="1653462" cy="19821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E29253-FA72-A353-CBB8-F893FBB52FDF}"/>
              </a:ext>
            </a:extLst>
          </p:cNvPr>
          <p:cNvSpPr txBox="1"/>
          <p:nvPr/>
        </p:nvSpPr>
        <p:spPr>
          <a:xfrm>
            <a:off x="-27934" y="2828835"/>
            <a:ext cx="122478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Molecular SSINet: Applying Self-Supervised Discovering of Interpretable Features to Molecule Generation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3F8EDC-E0EC-44A6-912F-FA526DDD5DA9}"/>
              </a:ext>
            </a:extLst>
          </p:cNvPr>
          <p:cNvSpPr txBox="1"/>
          <p:nvPr/>
        </p:nvSpPr>
        <p:spPr>
          <a:xfrm>
            <a:off x="3242744" y="6095555"/>
            <a:ext cx="5706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Pimpinelli Francesco 2214340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>
                <a:solidFill>
                  <a:prstClr val="white"/>
                </a:solidFill>
                <a:latin typeface="Aptos" panose="02110004020202020204"/>
              </a:rPr>
              <a:t>REINFORCEMENT LEARNING A.A 25/26</a:t>
            </a:r>
            <a:endParaRPr kumimoji="0" lang="en-US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CA60138-8134-4384-F208-089FF97041E0}"/>
              </a:ext>
            </a:extLst>
          </p:cNvPr>
          <p:cNvCxnSpPr>
            <a:cxnSpLocks/>
          </p:cNvCxnSpPr>
          <p:nvPr/>
        </p:nvCxnSpPr>
        <p:spPr>
          <a:xfrm>
            <a:off x="5695562" y="5353561"/>
            <a:ext cx="80087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061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C3D88-1E9C-A4A6-87B5-D0B2C0700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Accent Circle 1"/>
          <p:cNvSpPr/>
          <p:nvPr/>
        </p:nvSpPr>
        <p:spPr>
          <a:xfrm>
            <a:off x="101600" y="2514600"/>
            <a:ext cx="254000" cy="254000"/>
          </a:xfrm>
          <a:prstGeom prst="ellipse">
            <a:avLst/>
          </a:prstGeom>
          <a:solidFill>
            <a:srgbClr val="E8A838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3" name="Accent Line"/>
          <p:cNvSpPr/>
          <p:nvPr/>
        </p:nvSpPr>
        <p:spPr>
          <a:xfrm>
            <a:off x="457200" y="2743200"/>
            <a:ext cx="2743200" cy="0"/>
          </a:xfrm>
          <a:prstGeom prst="line">
            <a:avLst/>
          </a:prstGeom>
          <a:ln w="19050">
            <a:solidFill>
              <a:srgbClr val="E8A838">
                <a:alpha val="60000"/>
              </a:srgbClr>
            </a:solidFill>
            <a:prstDash val="dash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6" name="Accent Diamond"/>
          <p:cNvSpPr/>
          <p:nvPr/>
        </p:nvSpPr>
        <p:spPr>
          <a:xfrm rot="2700000">
            <a:off x="11201400" y="5486400"/>
            <a:ext cx="304800" cy="304800"/>
          </a:xfrm>
          <a:prstGeom prst="rect">
            <a:avLst/>
          </a:prstGeom>
          <a:solidFill>
            <a:srgbClr val="E8A83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0" name="Fun Arrow"/>
          <p:cNvSpPr/>
          <p:nvPr/>
        </p:nvSpPr>
        <p:spPr>
          <a:xfrm rot="5400000">
            <a:off x="5638800" y="2438400"/>
            <a:ext cx="533400" cy="3810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E8A838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E80EFEF3-9B24-A2DA-69EB-91C4AA482886}"/>
              </a:ext>
            </a:extLst>
          </p:cNvPr>
          <p:cNvSpPr/>
          <p:nvPr/>
        </p:nvSpPr>
        <p:spPr>
          <a:xfrm rot="10800000">
            <a:off x="-2" y="-3"/>
            <a:ext cx="4098355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80045B-A75C-C2B2-D5B3-C67654E0C6C1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D286D28C-FC43-1663-37D8-3D2572DF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9B5565A-778D-3D1D-2145-C90A1B5DB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2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91DAC80-3B66-2A56-DE12-6E751FABC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3" y="-227754"/>
            <a:ext cx="3960877" cy="1325563"/>
          </a:xfrm>
        </p:spPr>
        <p:txBody>
          <a:bodyPr/>
          <a:lstStyle/>
          <a:p>
            <a:r>
              <a:rPr lang="en-US" noProof="0" dirty="0">
                <a:solidFill>
                  <a:schemeClr val="bg1"/>
                </a:solidFill>
              </a:rPr>
              <a:t>🔎</a:t>
            </a:r>
            <a:r>
              <a:rPr lang="en-US" b="1" noProof="0" dirty="0">
                <a:solidFill>
                  <a:schemeClr val="bg1"/>
                </a:solidFill>
              </a:rPr>
              <a:t>The Context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766155-CA4F-3BA3-D33A-6CA555AD7515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C175F7E7-1028-CD30-1F56-50B40598D4E3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114C6678-1150-C0BC-28E5-7A828606DF7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2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8947EC-6374-A1A9-CBC4-A983F36BDD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28690" y="133719"/>
            <a:ext cx="5696002" cy="2686717"/>
          </a:xfrm>
          <a:prstGeom prst="roundRect">
            <a:avLst>
              <a:gd name="adj" fmla="val 3000"/>
            </a:avLst>
          </a:prstGeom>
          <a:ln w="38100">
            <a:solidFill>
              <a:schemeClr val="tx1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F231E72-CBED-140D-6E85-2781F6AEBD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819"/>
          <a:stretch>
            <a:fillRect/>
          </a:stretch>
        </p:blipFill>
        <p:spPr>
          <a:xfrm>
            <a:off x="552460" y="2802188"/>
            <a:ext cx="5696002" cy="3223303"/>
          </a:xfrm>
          <a:prstGeom prst="roundRect">
            <a:avLst>
              <a:gd name="adj" fmla="val 3000"/>
            </a:avLst>
          </a:prstGeom>
          <a:ln w="38100">
            <a:solidFill>
              <a:schemeClr val="tx1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19C412C-1BE1-2332-A51E-F7C9CA391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342" y="2793218"/>
            <a:ext cx="5607477" cy="3342173"/>
          </a:xfrm>
          <a:prstGeom prst="roundRect">
            <a:avLst>
              <a:gd name="adj" fmla="val 3000"/>
            </a:avLst>
          </a:prstGeom>
          <a:ln w="38100">
            <a:solidFill>
              <a:schemeClr val="tx1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</p:pic>
      <p:pic>
        <p:nvPicPr>
          <p:cNvPr id="57" name="Graphic 57" descr="Research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6000" y="101600"/>
            <a:ext cx="558800" cy="558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CFF088-A7BD-45FF-6F53-2E04B1B364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441" y="1045192"/>
            <a:ext cx="6100335" cy="1747764"/>
          </a:xfrm>
          <a:prstGeom prst="roundRect">
            <a:avLst>
              <a:gd name="adj" fmla="val 3000"/>
            </a:avLst>
          </a:prstGeom>
          <a:ln w="38100">
            <a:solidFill>
              <a:schemeClr val="tx1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636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46D3B-8B2C-FA0D-389E-8A5CB15AB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Arrow Connector 22">
            <a:extLst>
              <a:ext uri="{FF2B5EF4-FFF2-40B4-BE49-F238E27FC236}">
                <a16:creationId xmlns:a16="http://schemas.microsoft.com/office/drawing/2014/main" id="{7FEDF4B4-29E4-282B-0498-F337477A4D59}"/>
              </a:ext>
            </a:extLst>
          </p:cNvPr>
          <p:cNvCxnSpPr>
            <a:cxnSpLocks/>
          </p:cNvCxnSpPr>
          <p:nvPr/>
        </p:nvCxnSpPr>
        <p:spPr>
          <a:xfrm>
            <a:off x="384628" y="2932519"/>
            <a:ext cx="5788833" cy="2631088"/>
          </a:xfrm>
          <a:prstGeom prst="bentConnector3">
            <a:avLst>
              <a:gd name="adj1" fmla="val 90242"/>
            </a:avLst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C42F8BC5-43C3-D255-65A2-651E6365548E}"/>
              </a:ext>
            </a:extLst>
          </p:cNvPr>
          <p:cNvSpPr/>
          <p:nvPr/>
        </p:nvSpPr>
        <p:spPr>
          <a:xfrm rot="10800000">
            <a:off x="-16" y="-22"/>
            <a:ext cx="8413914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C6A98D-25E7-EE2D-141B-2C5314C73311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7C722FA-B8F4-2F35-5F40-352C48FD3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2B9BA04-27FC-D3EA-9892-33D559BE6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3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93D84F-957E-01F5-022A-1DABFEC89273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C16AB025-85A2-525B-3497-F1463FE04DD0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729D47F1-A297-0B2E-5F27-E6C19904B67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3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7EA09A-A41F-9068-1850-67BA97302EA9}"/>
              </a:ext>
            </a:extLst>
          </p:cNvPr>
          <p:cNvSpPr txBox="1">
            <a:spLocks/>
          </p:cNvSpPr>
          <p:nvPr/>
        </p:nvSpPr>
        <p:spPr>
          <a:xfrm>
            <a:off x="-73022" y="-215142"/>
            <a:ext cx="880589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🔎</a:t>
            </a:r>
            <a:r>
              <a:rPr lang="en-US" b="1" dirty="0">
                <a:solidFill>
                  <a:schemeClr val="bg1"/>
                </a:solidFill>
              </a:rPr>
              <a:t>The Context</a:t>
            </a:r>
            <a:r>
              <a:rPr lang="en-US" b="1" noProof="0" dirty="0">
                <a:solidFill>
                  <a:schemeClr val="bg1"/>
                </a:solidFill>
              </a:rPr>
              <a:t>: </a:t>
            </a:r>
            <a:r>
              <a:rPr lang="it-IT" noProof="0" dirty="0">
                <a:solidFill>
                  <a:schemeClr val="bg1"/>
                </a:solidFill>
              </a:rPr>
              <a:t>👀</a:t>
            </a:r>
            <a:r>
              <a:rPr lang="en-US" b="1" noProof="0" dirty="0">
                <a:solidFill>
                  <a:schemeClr val="bg1"/>
                </a:solidFill>
              </a:rPr>
              <a:t>Interpretability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50126F-FCB2-6BFA-33D1-39E46CDC21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04" r="15586"/>
          <a:stretch>
            <a:fillRect/>
          </a:stretch>
        </p:blipFill>
        <p:spPr>
          <a:xfrm>
            <a:off x="6173461" y="3629498"/>
            <a:ext cx="5856514" cy="213293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37A4EAD-455E-5483-C049-2CC0BD26D2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599"/>
          <a:stretch>
            <a:fillRect/>
          </a:stretch>
        </p:blipFill>
        <p:spPr>
          <a:xfrm>
            <a:off x="1918095" y="3151998"/>
            <a:ext cx="9357397" cy="135265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0C19390-2C0E-DD5B-8117-3E227B05EFD2}"/>
              </a:ext>
            </a:extLst>
          </p:cNvPr>
          <p:cNvCxnSpPr>
            <a:cxnSpLocks/>
            <a:endCxn id="19" idx="1"/>
          </p:cNvCxnSpPr>
          <p:nvPr/>
        </p:nvCxnSpPr>
        <p:spPr>
          <a:xfrm rot="16200000" flipH="1">
            <a:off x="1004227" y="2914457"/>
            <a:ext cx="1186898" cy="640838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A0808B4-3BDA-F2EF-5CD2-FA4B9DEDB6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98" y="1095567"/>
            <a:ext cx="9467909" cy="182286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7F9671-236D-00C6-29E7-B70896C2A6AE}"/>
              </a:ext>
            </a:extLst>
          </p:cNvPr>
          <p:cNvSpPr txBox="1"/>
          <p:nvPr/>
        </p:nvSpPr>
        <p:spPr>
          <a:xfrm>
            <a:off x="769299" y="4982152"/>
            <a:ext cx="43770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noProof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“Better understanding of the </a:t>
            </a:r>
          </a:p>
          <a:p>
            <a:r>
              <a:rPr lang="en-US" sz="2400" i="1" noProof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decision-making processes”</a:t>
            </a:r>
            <a:endParaRPr lang="en-US" sz="2400" i="1" noProof="0" dirty="0"/>
          </a:p>
        </p:txBody>
      </p:sp>
    </p:spTree>
    <p:extLst>
      <p:ext uri="{BB962C8B-B14F-4D97-AF65-F5344CB8AC3E}">
        <p14:creationId xmlns:p14="http://schemas.microsoft.com/office/powerpoint/2010/main" val="34472518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Wor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55A86-0EDF-7C43-7E3E-F4F676C5C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3E93B9C7-AACF-862D-F653-4A6B33F12347}"/>
              </a:ext>
            </a:extLst>
          </p:cNvPr>
          <p:cNvSpPr/>
          <p:nvPr/>
        </p:nvSpPr>
        <p:spPr>
          <a:xfrm rot="10800000">
            <a:off x="-4" y="-8"/>
            <a:ext cx="11105533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E2C1EC-9FA8-B807-6233-8B8E630073C6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FE478CD-608D-3394-5075-BE5775B52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D2A8323-A3B8-CD49-30C6-03AED7D7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4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9478145-7C74-AE18-5BE1-3973B301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2" y="-227754"/>
            <a:ext cx="11105535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🔎</a:t>
            </a:r>
            <a:r>
              <a:rPr lang="en-US" b="1" noProof="0" dirty="0">
                <a:solidFill>
                  <a:schemeClr val="bg1"/>
                </a:solidFill>
              </a:rPr>
              <a:t>The Context: </a:t>
            </a:r>
            <a:r>
              <a:rPr lang="en-US" b="1" dirty="0">
                <a:solidFill>
                  <a:schemeClr val="bg1"/>
                </a:solidFill>
              </a:rPr>
              <a:t>🧬 </a:t>
            </a:r>
            <a:r>
              <a:rPr lang="en-US" b="1" noProof="0" dirty="0" err="1">
                <a:solidFill>
                  <a:schemeClr val="bg1"/>
                </a:solidFill>
              </a:rPr>
              <a:t>MoleGuLAR</a:t>
            </a:r>
            <a:r>
              <a:rPr lang="en-US" b="1" noProof="0" dirty="0">
                <a:solidFill>
                  <a:schemeClr val="bg1"/>
                </a:solidFill>
              </a:rPr>
              <a:t> &amp; </a:t>
            </a:r>
            <a:r>
              <a:rPr lang="it-IT" b="1" noProof="0" dirty="0">
                <a:solidFill>
                  <a:schemeClr val="bg1"/>
                </a:solidFill>
              </a:rPr>
              <a:t>🖥️ </a:t>
            </a:r>
            <a:r>
              <a:rPr lang="en-US" b="1" noProof="0" dirty="0">
                <a:solidFill>
                  <a:schemeClr val="bg1"/>
                </a:solidFill>
              </a:rPr>
              <a:t>SSINet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36885A-A6E6-301D-978F-2BBA6482E308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F3E19D8F-49BB-18F1-E0CB-CD87CC0AA92E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</a:t>
            </a:r>
            <a:r>
              <a:rPr lang="en-US" sz="1400" noProof="0" dirty="0">
                <a:solidFill>
                  <a:schemeClr val="bg1"/>
                </a:solidFill>
              </a:rPr>
              <a:t> </a:t>
            </a:r>
            <a:r>
              <a:rPr lang="en-US" sz="1400" b="1" noProof="0" dirty="0">
                <a:solidFill>
                  <a:schemeClr val="bg1"/>
                </a:solidFill>
              </a:rPr>
              <a:t>Francesco</a:t>
            </a:r>
            <a:r>
              <a:rPr lang="en-US" sz="1400" noProof="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A4B34C2E-E321-7692-E8AB-4DE007A90BD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4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9FA946C-6551-FDAE-57C3-920A1CB15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80" y="1097803"/>
            <a:ext cx="7607473" cy="25975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8817D3-6195-07FC-084D-4D7B2FEFB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588" y="3366082"/>
            <a:ext cx="6692939" cy="254505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60291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7B733-C6B8-1CC4-CF49-A1A6600EA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3F88AE-33E3-7715-6555-B97426439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4" r="870"/>
          <a:stretch>
            <a:fillRect/>
          </a:stretch>
        </p:blipFill>
        <p:spPr>
          <a:xfrm>
            <a:off x="3037787" y="761876"/>
            <a:ext cx="6944413" cy="5536266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9B8E7BE2-84F3-D1A3-4C2D-F7B680F3FC8B}"/>
              </a:ext>
            </a:extLst>
          </p:cNvPr>
          <p:cNvSpPr/>
          <p:nvPr/>
        </p:nvSpPr>
        <p:spPr>
          <a:xfrm rot="10800000">
            <a:off x="-3" y="-5"/>
            <a:ext cx="7000158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0A44D8-44F4-95DB-A337-280A3C3913DD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118AFFF-3591-1B55-C5CC-347C101D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1FFDFEC-83E1-EAAE-177E-B5E262DF7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5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0915513-DF91-053E-419A-B2581CE12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2" y="-227754"/>
            <a:ext cx="7114533" cy="1325563"/>
          </a:xfrm>
        </p:spPr>
        <p:txBody>
          <a:bodyPr/>
          <a:lstStyle/>
          <a:p>
            <a:r>
              <a:rPr lang="en-US" b="1" noProof="0" dirty="0">
                <a:solidFill>
                  <a:schemeClr val="bg1"/>
                </a:solidFill>
              </a:rPr>
              <a:t>🧬MoleGuLAR: The Pipeline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1C359D-EEC7-2074-BEB3-CF85C8C139B7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719104C3-895E-DA6A-5C30-09298C1F3188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003457F3-568C-2BDB-293E-95659049A85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5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387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47F79-054D-716E-A0EC-F6E8554FA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259FA557-25EC-73F7-C769-9EDFAB05BA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984" b="1991"/>
          <a:stretch>
            <a:fillRect/>
          </a:stretch>
        </p:blipFill>
        <p:spPr bwMode="auto">
          <a:xfrm>
            <a:off x="2274486" y="3982875"/>
            <a:ext cx="3647269" cy="2149637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</a:ln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2D21F5-AF85-FB45-1B06-7CCB17DEE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" y="925445"/>
            <a:ext cx="8110557" cy="29500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4EC6D4-1853-12C2-21B6-85E36ED37C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8" t="62" r="-256" b="192"/>
          <a:stretch>
            <a:fillRect/>
          </a:stretch>
        </p:blipFill>
        <p:spPr>
          <a:xfrm>
            <a:off x="7339476" y="1912441"/>
            <a:ext cx="10772704" cy="8557879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43DB3313-E8DE-632E-2905-73B3FE71AD5F}"/>
              </a:ext>
            </a:extLst>
          </p:cNvPr>
          <p:cNvSpPr/>
          <p:nvPr/>
        </p:nvSpPr>
        <p:spPr>
          <a:xfrm rot="10800000">
            <a:off x="-3" y="-5"/>
            <a:ext cx="7000158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BCE5C2-E817-4FF1-C9B1-F4AC5D2FEB08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0D2C64B-1F91-5A24-FD75-6C9BE6643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54EB69B-AC8D-8C07-637B-182E04680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6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48D630-B72B-3962-ACB5-E539F41B7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2" y="-227754"/>
            <a:ext cx="7114533" cy="1325563"/>
          </a:xfrm>
        </p:spPr>
        <p:txBody>
          <a:bodyPr/>
          <a:lstStyle/>
          <a:p>
            <a:r>
              <a:rPr lang="en-US" b="1" noProof="0" dirty="0">
                <a:solidFill>
                  <a:schemeClr val="bg1"/>
                </a:solidFill>
              </a:rPr>
              <a:t>🧬MoleGuLAR: </a:t>
            </a:r>
            <a:r>
              <a:rPr lang="en-US" noProof="0" dirty="0">
                <a:solidFill>
                  <a:schemeClr val="bg1"/>
                </a:solidFill>
              </a:rPr>
              <a:t>🙂 </a:t>
            </a:r>
            <a:r>
              <a:rPr lang="en-US" b="1" noProof="0" dirty="0">
                <a:solidFill>
                  <a:schemeClr val="bg1"/>
                </a:solidFill>
              </a:rPr>
              <a:t>SMILES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774479-E582-19BC-FC1A-FFDCF9EE4530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E6F6A3BA-D8B4-3F9E-F80A-3668D2D80BC2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B1AB529A-C45A-B812-6CA1-07337FEA51D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6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6" name="Arrow: Curved Right 5">
            <a:extLst>
              <a:ext uri="{FF2B5EF4-FFF2-40B4-BE49-F238E27FC236}">
                <a16:creationId xmlns:a16="http://schemas.microsoft.com/office/drawing/2014/main" id="{C76AB348-9265-9F81-BA1C-B1FC222FB77F}"/>
              </a:ext>
            </a:extLst>
          </p:cNvPr>
          <p:cNvSpPr/>
          <p:nvPr/>
        </p:nvSpPr>
        <p:spPr>
          <a:xfrm rot="19681607">
            <a:off x="933723" y="3672590"/>
            <a:ext cx="614597" cy="1918741"/>
          </a:xfrm>
          <a:prstGeom prst="curvedRightArrow">
            <a:avLst>
              <a:gd name="adj1" fmla="val 30265"/>
              <a:gd name="adj2" fmla="val 41322"/>
              <a:gd name="adj3" fmla="val 25000"/>
            </a:avLst>
          </a:prstGeom>
          <a:solidFill>
            <a:srgbClr val="E988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226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56975-2F13-A929-0B03-16D94DDC9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9A8C5C-9525-614F-0601-03FC60016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8" t="62" r="-256" b="192"/>
          <a:stretch>
            <a:fillRect/>
          </a:stretch>
        </p:blipFill>
        <p:spPr>
          <a:xfrm>
            <a:off x="7339476" y="1912441"/>
            <a:ext cx="10772704" cy="8557879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F1544EEF-1219-274F-5704-D556096EFD2B}"/>
              </a:ext>
            </a:extLst>
          </p:cNvPr>
          <p:cNvSpPr/>
          <p:nvPr/>
        </p:nvSpPr>
        <p:spPr>
          <a:xfrm rot="10800000">
            <a:off x="-7" y="-9"/>
            <a:ext cx="10925393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B1E1430-E8AE-A165-3937-EC0C8BC43554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7E25DC9-61B7-5A2E-796D-474F03A9B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8207FE4-0FC8-3E95-214A-47C07FD61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7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1330152-3C68-AED8-D123-294BC155B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1" y="-227754"/>
            <a:ext cx="11276079" cy="1325563"/>
          </a:xfrm>
        </p:spPr>
        <p:txBody>
          <a:bodyPr/>
          <a:lstStyle/>
          <a:p>
            <a:r>
              <a:rPr lang="en-US" b="1" noProof="0" dirty="0">
                <a:solidFill>
                  <a:schemeClr val="bg1"/>
                </a:solidFill>
              </a:rPr>
              <a:t>🧬MoleGuLAR: 📄</a:t>
            </a:r>
            <a:r>
              <a:rPr lang="en-US" b="1" noProof="0" dirty="0">
                <a:solidFill>
                  <a:srgbClr val="27A4A8"/>
                </a:solidFill>
              </a:rPr>
              <a:t>Da</a:t>
            </a:r>
            <a:r>
              <a:rPr lang="en-US" b="1" noProof="0" dirty="0">
                <a:solidFill>
                  <a:srgbClr val="D33C60"/>
                </a:solidFill>
              </a:rPr>
              <a:t>ta </a:t>
            </a:r>
            <a:r>
              <a:rPr lang="en-US" b="1" noProof="0" dirty="0">
                <a:solidFill>
                  <a:schemeClr val="bg1"/>
                </a:solidFill>
              </a:rPr>
              <a:t>&amp; </a:t>
            </a:r>
            <a:r>
              <a:rPr lang="en-US" noProof="0" dirty="0">
                <a:solidFill>
                  <a:schemeClr val="bg1"/>
                </a:solidFill>
              </a:rPr>
              <a:t>🎯</a:t>
            </a:r>
            <a:r>
              <a:rPr lang="en-US" b="1" noProof="0" dirty="0">
                <a:solidFill>
                  <a:srgbClr val="E98862"/>
                </a:solidFill>
              </a:rPr>
              <a:t>Target </a:t>
            </a:r>
            <a:r>
              <a:rPr lang="en-US" b="1" noProof="0" dirty="0">
                <a:solidFill>
                  <a:srgbClr val="62C3E9"/>
                </a:solidFill>
              </a:rPr>
              <a:t>Proteins</a:t>
            </a:r>
            <a:endParaRPr lang="en-US" noProof="0" dirty="0">
              <a:solidFill>
                <a:srgbClr val="62C3E9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B0C750-51BF-737D-B965-44D89E2472F0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25B988CC-FAEA-652F-62FD-1BD2E3F31D09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C704BE75-61F1-6AA7-BF36-D0A7B416562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7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69E1BBD-ECBB-CCEB-1203-7CADC27F22C3}"/>
              </a:ext>
            </a:extLst>
          </p:cNvPr>
          <p:cNvGrpSpPr/>
          <p:nvPr/>
        </p:nvGrpSpPr>
        <p:grpSpPr>
          <a:xfrm>
            <a:off x="525095" y="2184442"/>
            <a:ext cx="2572043" cy="2968857"/>
            <a:chOff x="394057" y="2184442"/>
            <a:chExt cx="2572043" cy="296885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EA014D8-FEEF-EF9A-750A-D391F7F3EF1C}"/>
                </a:ext>
              </a:extLst>
            </p:cNvPr>
            <p:cNvSpPr/>
            <p:nvPr/>
          </p:nvSpPr>
          <p:spPr>
            <a:xfrm>
              <a:off x="394057" y="2184442"/>
              <a:ext cx="2565401" cy="2968857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27A4A8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2448E11-21C9-4705-D13B-1A9B4E64ED0A}"/>
                </a:ext>
              </a:extLst>
            </p:cNvPr>
            <p:cNvSpPr txBox="1"/>
            <p:nvPr/>
          </p:nvSpPr>
          <p:spPr>
            <a:xfrm>
              <a:off x="400699" y="4182403"/>
              <a:ext cx="2565401" cy="830997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27A4A8"/>
                  </a:solidFill>
                  <a:latin typeface="IBM Plex Sans"/>
                </a:rPr>
                <a:t>Pre-Trained on</a:t>
              </a:r>
            </a:p>
            <a:p>
              <a:pPr algn="ctr"/>
              <a:r>
                <a:rPr lang="en-US" sz="2400" b="1" noProof="0" dirty="0" err="1">
                  <a:solidFill>
                    <a:srgbClr val="D33C60"/>
                  </a:solidFill>
                  <a:latin typeface="IBM Plex Sans"/>
                </a:rPr>
                <a:t>ChEMBL</a:t>
              </a:r>
              <a:endParaRPr lang="en-US" sz="2400" b="1" noProof="0" dirty="0">
                <a:solidFill>
                  <a:srgbClr val="D33C60"/>
                </a:solidFill>
                <a:latin typeface="IBM Plex Sans"/>
              </a:endParaRPr>
            </a:p>
          </p:txBody>
        </p:sp>
        <p:pic>
          <p:nvPicPr>
            <p:cNvPr id="1034" name="Picture 10" descr="Chemical Biology Services @ EMBL-EBI · GitHub">
              <a:extLst>
                <a:ext uri="{FF2B5EF4-FFF2-40B4-BE49-F238E27FC236}">
                  <a16:creationId xmlns:a16="http://schemas.microsoft.com/office/drawing/2014/main" id="{ADF7FA3A-51A6-60D4-835D-56237A5BD4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6391" y="2322007"/>
              <a:ext cx="1300732" cy="1300732"/>
            </a:xfrm>
            <a:prstGeom prst="rect">
              <a:avLst/>
            </a:prstGeom>
            <a:solidFill>
              <a:srgbClr val="FDFDFD"/>
            </a:solidFill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5A4073C-6DF4-F664-1BB0-D855002C7EC2}"/>
              </a:ext>
            </a:extLst>
          </p:cNvPr>
          <p:cNvGrpSpPr/>
          <p:nvPr/>
        </p:nvGrpSpPr>
        <p:grpSpPr>
          <a:xfrm>
            <a:off x="3658683" y="1325555"/>
            <a:ext cx="3345829" cy="2219271"/>
            <a:chOff x="5404690" y="1291711"/>
            <a:chExt cx="3345829" cy="2219271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A1842C29-1DAD-F1F7-33CC-E414B8A7747D}"/>
                </a:ext>
              </a:extLst>
            </p:cNvPr>
            <p:cNvSpPr/>
            <p:nvPr/>
          </p:nvSpPr>
          <p:spPr>
            <a:xfrm>
              <a:off x="5404690" y="1291711"/>
              <a:ext cx="3191933" cy="2219271"/>
            </a:xfrm>
            <a:prstGeom prst="roundRect">
              <a:avLst>
                <a:gd name="adj" fmla="val 19719"/>
              </a:avLst>
            </a:prstGeom>
            <a:noFill/>
            <a:ln w="38100" cap="flat" cmpd="sng" algn="ctr">
              <a:solidFill>
                <a:srgbClr val="E98862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D807A24-740B-BCA4-212C-DAB577863FB6}"/>
                    </a:ext>
                  </a:extLst>
                </p:cNvPr>
                <p:cNvSpPr txBox="1"/>
                <p:nvPr/>
              </p:nvSpPr>
              <p:spPr>
                <a:xfrm>
                  <a:off x="5449872" y="1980087"/>
                  <a:ext cx="3300647" cy="4947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Overflow="overflow" vert="horz" wrap="square" rtlCol="0" anchor="t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0" noProof="0" smtClean="0">
                            <a:solidFill>
                              <a:srgbClr val="E98862"/>
                            </a:solidFill>
                            <a:latin typeface="Cambria Math" panose="02040503050406030204" pitchFamily="18" charset="0"/>
                          </a:rPr>
                          <m:t>𝐒𝐀𝐑𝐒</m:t>
                        </m:r>
                        <m:r>
                          <a:rPr lang="en-US" sz="2400" b="1" i="0" noProof="0" smtClean="0">
                            <a:solidFill>
                              <a:srgbClr val="E9886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0" noProof="0" smtClean="0">
                            <a:solidFill>
                              <a:srgbClr val="E98862"/>
                            </a:solidFill>
                            <a:latin typeface="Cambria Math" panose="02040503050406030204" pitchFamily="18" charset="0"/>
                          </a:rPr>
                          <m:t>𝐂𝐨𝐕</m:t>
                        </m:r>
                        <m:r>
                          <a:rPr lang="en-US" sz="2400" b="1" i="0" noProof="0" smtClean="0">
                            <a:solidFill>
                              <a:srgbClr val="E9886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0" noProof="0" smtClean="0">
                            <a:solidFill>
                              <a:srgbClr val="E9886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0" noProof="0" smtClean="0">
                            <a:solidFill>
                              <a:srgbClr val="E9886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b="1" i="1" noProof="0" smtClean="0">
                                <a:solidFill>
                                  <a:srgbClr val="E9886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0" noProof="0" smtClean="0">
                                <a:solidFill>
                                  <a:srgbClr val="E98862"/>
                                </a:solidFill>
                                <a:latin typeface="Cambria Math" panose="02040503050406030204" pitchFamily="18" charset="0"/>
                              </a:rPr>
                              <m:t>𝐌</m:t>
                            </m:r>
                          </m:e>
                          <m:sub>
                            <m:r>
                              <a:rPr lang="en-US" sz="2400" b="1" i="0" noProof="0" smtClean="0">
                                <a:solidFill>
                                  <a:srgbClr val="E98862"/>
                                </a:solidFill>
                                <a:latin typeface="Cambria Math" panose="02040503050406030204" pitchFamily="18" charset="0"/>
                              </a:rPr>
                              <m:t>𝐩𝐫𝐨</m:t>
                            </m:r>
                          </m:sub>
                        </m:sSub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D807A24-740B-BCA4-212C-DAB577863F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9872" y="1980087"/>
                  <a:ext cx="3300647" cy="494751"/>
                </a:xfrm>
                <a:prstGeom prst="rect">
                  <a:avLst/>
                </a:prstGeom>
                <a:blipFill>
                  <a:blip r:embed="rId5"/>
                  <a:stretch>
                    <a:fillRect b="-731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6" name="Graphic 35" descr="Covid-19 with solid fill">
              <a:extLst>
                <a:ext uri="{FF2B5EF4-FFF2-40B4-BE49-F238E27FC236}">
                  <a16:creationId xmlns:a16="http://schemas.microsoft.com/office/drawing/2014/main" id="{F75B12E6-F5A5-B1D7-2874-FD3BD74821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6744747" y="1427475"/>
              <a:ext cx="511818" cy="511818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EA1BE1C-1828-D57A-3FC4-33DB3731E375}"/>
                </a:ext>
              </a:extLst>
            </p:cNvPr>
            <p:cNvSpPr txBox="1"/>
            <p:nvPr/>
          </p:nvSpPr>
          <p:spPr>
            <a:xfrm>
              <a:off x="5477158" y="2515633"/>
              <a:ext cx="3046993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/>
                <a:t>Protein essential for the viral transcription and replication of the </a:t>
              </a:r>
              <a:r>
                <a:rPr lang="en-US" b="1" noProof="0" dirty="0">
                  <a:solidFill>
                    <a:srgbClr val="E98862"/>
                  </a:solidFill>
                </a:rPr>
                <a:t>COVID-19 virus</a:t>
              </a:r>
              <a:r>
                <a:rPr lang="en-US" noProof="0" dirty="0">
                  <a:solidFill>
                    <a:srgbClr val="E98862"/>
                  </a:solidFill>
                </a:rPr>
                <a:t>.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258BD07-F5CA-34A9-9AFA-9D685DC4E36F}"/>
              </a:ext>
            </a:extLst>
          </p:cNvPr>
          <p:cNvGrpSpPr/>
          <p:nvPr/>
        </p:nvGrpSpPr>
        <p:grpSpPr>
          <a:xfrm>
            <a:off x="3591792" y="3736488"/>
            <a:ext cx="3325707" cy="2219271"/>
            <a:chOff x="5352952" y="1291711"/>
            <a:chExt cx="3316139" cy="221927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000528E-2E16-F0E0-AF7A-4FB394280BEC}"/>
                </a:ext>
              </a:extLst>
            </p:cNvPr>
            <p:cNvSpPr/>
            <p:nvPr/>
          </p:nvSpPr>
          <p:spPr>
            <a:xfrm>
              <a:off x="5404690" y="1291711"/>
              <a:ext cx="3191933" cy="2219271"/>
            </a:xfrm>
            <a:prstGeom prst="roundRect">
              <a:avLst>
                <a:gd name="adj" fmla="val 19719"/>
              </a:avLst>
            </a:prstGeom>
            <a:noFill/>
            <a:ln w="38100" cap="flat" cmpd="sng" algn="ctr">
              <a:solidFill>
                <a:srgbClr val="62C3E9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AE3E7B1-0F05-0FD6-7C7E-24BA5059ABD3}"/>
                </a:ext>
              </a:extLst>
            </p:cNvPr>
            <p:cNvSpPr txBox="1"/>
            <p:nvPr/>
          </p:nvSpPr>
          <p:spPr>
            <a:xfrm>
              <a:off x="5717953" y="1980793"/>
              <a:ext cx="2565401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62C3E9"/>
                  </a:solidFill>
                </a:rPr>
                <a:t>TTBK1</a:t>
              </a:r>
            </a:p>
          </p:txBody>
        </p:sp>
        <p:pic>
          <p:nvPicPr>
            <p:cNvPr id="10" name="Graphic 9" descr="Germ with solid fill">
              <a:extLst>
                <a:ext uri="{FF2B5EF4-FFF2-40B4-BE49-F238E27FC236}">
                  <a16:creationId xmlns:a16="http://schemas.microsoft.com/office/drawing/2014/main" id="{B58A78FC-7849-F9AA-9B61-84B01C6EA0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6755949" y="1427475"/>
              <a:ext cx="489413" cy="51181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4E1833-3688-522C-DBD0-143045CE767A}"/>
                </a:ext>
              </a:extLst>
            </p:cNvPr>
            <p:cNvSpPr txBox="1"/>
            <p:nvPr/>
          </p:nvSpPr>
          <p:spPr>
            <a:xfrm>
              <a:off x="5352952" y="2515633"/>
              <a:ext cx="331613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/>
                <a:t>Target protein for treating some  </a:t>
              </a:r>
              <a:r>
                <a:rPr lang="en-US" b="1" noProof="0" dirty="0">
                  <a:solidFill>
                    <a:srgbClr val="62C3E9"/>
                  </a:solidFill>
                </a:rPr>
                <a:t>neurodegenerative</a:t>
              </a:r>
              <a:r>
                <a:rPr lang="en-US" noProof="0" dirty="0"/>
                <a:t> diseases, such as Alzheimer’s.</a:t>
              </a:r>
              <a:endParaRPr lang="en-US" b="1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092758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173D4-5533-0BFB-CBD0-69BB4BF65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06867A-0AE6-394A-E5EE-B10727F342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18" t="-879" r="391" b="-601"/>
          <a:stretch/>
        </p:blipFill>
        <p:spPr>
          <a:xfrm>
            <a:off x="-5594270" y="1829836"/>
            <a:ext cx="11420182" cy="8706730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ED65AFB8-6F25-B0F8-1CD4-81A5F7DCF8FC}"/>
              </a:ext>
            </a:extLst>
          </p:cNvPr>
          <p:cNvSpPr/>
          <p:nvPr/>
        </p:nvSpPr>
        <p:spPr>
          <a:xfrm rot="10800000">
            <a:off x="-3" y="-7"/>
            <a:ext cx="7516878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6A18EAC-2097-A911-87B3-77DCB001E84E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2B08E4B-C38D-4CC4-BFDE-3E09BDF64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9EEE7058-0088-8FD5-2EEE-BE9AFB222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8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6D138FE-1237-0D1B-E803-7631FC60F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2" y="-227754"/>
            <a:ext cx="7516878" cy="1325563"/>
          </a:xfrm>
        </p:spPr>
        <p:txBody>
          <a:bodyPr/>
          <a:lstStyle/>
          <a:p>
            <a:r>
              <a:rPr lang="en-US" b="1" noProof="0" dirty="0">
                <a:solidFill>
                  <a:schemeClr val="bg1"/>
                </a:solidFill>
              </a:rPr>
              <a:t>🧬MoleGuLAR: BA Estimation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6971BA-6EE3-7D6C-BA09-63ABE9A5EB21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E4627589-E671-9B13-FC83-DFC0BF9C36BF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8E517530-11E2-26F6-DB7F-1C1DE94A2C0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8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FFCF67A7-253C-1BA4-E23B-B82BDC661941}"/>
              </a:ext>
            </a:extLst>
          </p:cNvPr>
          <p:cNvSpPr/>
          <p:nvPr/>
        </p:nvSpPr>
        <p:spPr>
          <a:xfrm>
            <a:off x="6727970" y="4638270"/>
            <a:ext cx="4649852" cy="1325563"/>
          </a:xfrm>
          <a:prstGeom prst="roundRect">
            <a:avLst/>
          </a:prstGeom>
          <a:solidFill>
            <a:srgbClr val="FDFDFD"/>
          </a:solidFill>
          <a:ln w="38100" cap="flat" cmpd="sng" algn="ctr">
            <a:solidFill>
              <a:srgbClr val="00586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 noProof="0" dirty="0">
              <a:solidFill>
                <a:srgbClr val="005866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3F13BB8-2FD5-7031-2774-13E38EA4553E}"/>
              </a:ext>
            </a:extLst>
          </p:cNvPr>
          <p:cNvSpPr txBox="1"/>
          <p:nvPr/>
        </p:nvSpPr>
        <p:spPr>
          <a:xfrm>
            <a:off x="6727970" y="4711662"/>
            <a:ext cx="4649851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000" b="1" noProof="0" dirty="0">
                <a:solidFill>
                  <a:srgbClr val="005866"/>
                </a:solidFill>
                <a:latin typeface="IBM Plex Sans"/>
              </a:rPr>
              <a:t>Graph Isomorphism Network (GIN)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1CA55B-6CA0-5C80-B38B-02D1829B2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199" y="1192317"/>
            <a:ext cx="4773582" cy="30726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ACF9A6-ADBD-5357-CD03-DD9C55194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2518" y="5132802"/>
            <a:ext cx="4078577" cy="8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120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F2A55-1561-1021-7341-31D509B62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9C74C1D-009D-FB7A-3911-F42198A325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18" t="-879" r="391" b="-601"/>
          <a:stretch/>
        </p:blipFill>
        <p:spPr>
          <a:xfrm>
            <a:off x="-5594270" y="1829836"/>
            <a:ext cx="11420182" cy="870673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32737D70-A346-99E1-EBF7-63921C4132AC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4FC49C3-E1CB-D097-EECF-B5639DFA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5E10EFB-D306-06FD-1321-01DE55BC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9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D1C2C7-A960-9DD0-EB66-42C0767A712F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1A83BAC8-5B99-922F-B0E2-9564AAE7C2AD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CE6837ED-B375-9352-50CD-CAEBCF4F724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9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96CB4FB1-FFD9-C5F1-6DD4-4A3D76E22836}"/>
              </a:ext>
            </a:extLst>
          </p:cNvPr>
          <p:cNvSpPr/>
          <p:nvPr/>
        </p:nvSpPr>
        <p:spPr>
          <a:xfrm>
            <a:off x="6727970" y="4638270"/>
            <a:ext cx="4649852" cy="1325563"/>
          </a:xfrm>
          <a:prstGeom prst="roundRect">
            <a:avLst/>
          </a:prstGeom>
          <a:solidFill>
            <a:srgbClr val="FDFDFD"/>
          </a:solidFill>
          <a:ln w="3810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 noProof="0" dirty="0">
              <a:solidFill>
                <a:srgbClr val="C9A227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8170C2A-890B-8DCF-2021-52964353B035}"/>
              </a:ext>
            </a:extLst>
          </p:cNvPr>
          <p:cNvSpPr txBox="1"/>
          <p:nvPr/>
        </p:nvSpPr>
        <p:spPr>
          <a:xfrm>
            <a:off x="6727970" y="4711662"/>
            <a:ext cx="4649851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000" b="1" noProof="0" dirty="0">
                <a:solidFill>
                  <a:srgbClr val="C9A227"/>
                </a:solidFill>
                <a:latin typeface="IBM Plex Sans"/>
              </a:rPr>
              <a:t>Graph Isomorphism Network (GIN)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D44F5DDC-9C90-7800-6623-3E1AF45C8980}"/>
              </a:ext>
            </a:extLst>
          </p:cNvPr>
          <p:cNvSpPr/>
          <p:nvPr/>
        </p:nvSpPr>
        <p:spPr>
          <a:xfrm rot="10800000">
            <a:off x="-7" y="-11"/>
            <a:ext cx="9515011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CA1988-62D9-F93E-9840-0E9547FC0B90}"/>
              </a:ext>
            </a:extLst>
          </p:cNvPr>
          <p:cNvSpPr txBox="1">
            <a:spLocks/>
          </p:cNvSpPr>
          <p:nvPr/>
        </p:nvSpPr>
        <p:spPr>
          <a:xfrm>
            <a:off x="77721" y="-227754"/>
            <a:ext cx="95150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chemeClr val="bg1"/>
                </a:solidFill>
              </a:rPr>
              <a:t>🤝</a:t>
            </a:r>
            <a:r>
              <a:rPr lang="en-US" b="1" noProof="0" dirty="0">
                <a:solidFill>
                  <a:schemeClr val="bg1"/>
                </a:solidFill>
              </a:rPr>
              <a:t>BA Estimation: Chosen Architecture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A7EF5D7-444A-3600-6870-B6770CC0A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199" y="1192317"/>
            <a:ext cx="4773582" cy="307265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0616EE2-27C9-437C-5546-620275D66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2518" y="5132802"/>
            <a:ext cx="4078577" cy="8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471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9F1D8-131F-AB22-3B17-C2FDB46A7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39772984-A627-DD16-F3FF-4FE79C64C7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18" t="-879" r="391" b="-601"/>
          <a:stretch/>
        </p:blipFill>
        <p:spPr>
          <a:xfrm>
            <a:off x="-5594270" y="1829836"/>
            <a:ext cx="11420182" cy="870673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DF4DC020-30E9-05E8-B79E-716A81B7D5DE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297DA04-5150-91B8-1EDF-B051197F2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9133A47-008B-2129-3BC4-8EFCAF8F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10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9EB08C-DDC7-A66B-E673-9B5A43EB5551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66653FF8-9610-1295-D253-CE620F35DDE3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33E16E21-94BF-E640-CC41-6B3EA5EFEED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10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35CF442B-1D4C-DBA1-BFC3-FBC998AAA457}"/>
              </a:ext>
            </a:extLst>
          </p:cNvPr>
          <p:cNvSpPr/>
          <p:nvPr/>
        </p:nvSpPr>
        <p:spPr>
          <a:xfrm>
            <a:off x="6727970" y="986474"/>
            <a:ext cx="4649852" cy="1325563"/>
          </a:xfrm>
          <a:prstGeom prst="roundRect">
            <a:avLst/>
          </a:prstGeom>
          <a:solidFill>
            <a:srgbClr val="FDFDFD"/>
          </a:solidFill>
          <a:ln w="3810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 noProof="0" dirty="0">
              <a:solidFill>
                <a:srgbClr val="C9A227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80710B0-3FD8-DBEF-CF96-8E42B289E07A}"/>
              </a:ext>
            </a:extLst>
          </p:cNvPr>
          <p:cNvSpPr txBox="1"/>
          <p:nvPr/>
        </p:nvSpPr>
        <p:spPr>
          <a:xfrm>
            <a:off x="6727970" y="1059866"/>
            <a:ext cx="4649851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000" b="1" noProof="0" dirty="0">
                <a:solidFill>
                  <a:srgbClr val="C9A227"/>
                </a:solidFill>
                <a:latin typeface="IBM Plex Sans"/>
              </a:rPr>
              <a:t>Graph Isomorphism Network (GIN)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C291D896-AD15-3B6D-00A2-7D9AB6E9F4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525"/>
          <a:stretch>
            <a:fillRect/>
          </a:stretch>
        </p:blipFill>
        <p:spPr>
          <a:xfrm>
            <a:off x="7516302" y="2617161"/>
            <a:ext cx="3318346" cy="3439151"/>
          </a:xfrm>
          <a:prstGeom prst="rect">
            <a:avLst/>
          </a:prstGeom>
        </p:spPr>
      </p:pic>
      <p:sp>
        <p:nvSpPr>
          <p:cNvPr id="52" name="Rectangle: Top Corners Rounded 51">
            <a:extLst>
              <a:ext uri="{FF2B5EF4-FFF2-40B4-BE49-F238E27FC236}">
                <a16:creationId xmlns:a16="http://schemas.microsoft.com/office/drawing/2014/main" id="{36089BE2-8BC1-8999-DBA5-178B5BA4A7BE}"/>
              </a:ext>
            </a:extLst>
          </p:cNvPr>
          <p:cNvSpPr/>
          <p:nvPr/>
        </p:nvSpPr>
        <p:spPr>
          <a:xfrm rot="10800000">
            <a:off x="-7" y="-11"/>
            <a:ext cx="9515011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E0DB1B8A-9D3B-C6DA-8CAB-121554BA1BFB}"/>
              </a:ext>
            </a:extLst>
          </p:cNvPr>
          <p:cNvSpPr txBox="1">
            <a:spLocks/>
          </p:cNvSpPr>
          <p:nvPr/>
        </p:nvSpPr>
        <p:spPr>
          <a:xfrm>
            <a:off x="77721" y="-227754"/>
            <a:ext cx="95150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chemeClr val="bg1"/>
                </a:solidFill>
              </a:rPr>
              <a:t>🤝</a:t>
            </a:r>
            <a:r>
              <a:rPr lang="en-US" b="1" noProof="0" dirty="0">
                <a:solidFill>
                  <a:schemeClr val="bg1"/>
                </a:solidFill>
              </a:rPr>
              <a:t>BA Estimation: Chosen Architecture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14A4C0-B466-8AA3-2D6F-1773958A3B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2518" y="1501521"/>
            <a:ext cx="4078577" cy="8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70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9C423-D76D-3E54-C42B-FC3BB2203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6A7369-B002-E07B-089C-7108280F5E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18" t="-879" r="391" b="-601"/>
          <a:stretch/>
        </p:blipFill>
        <p:spPr>
          <a:xfrm>
            <a:off x="-7564452" y="-6170239"/>
            <a:ext cx="11420182" cy="8706730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4A1AEDF7-6962-84EA-70D5-B0F76FC4CD22}"/>
              </a:ext>
            </a:extLst>
          </p:cNvPr>
          <p:cNvSpPr/>
          <p:nvPr/>
        </p:nvSpPr>
        <p:spPr>
          <a:xfrm rot="10800000">
            <a:off x="3318933" y="-1"/>
            <a:ext cx="8873067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A9EF8CF-4EBE-DEBB-4CAD-42EE237F55A7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D8DF03F-B0B0-A651-4E72-DD36CA375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0A855A5-5BC5-BDC0-7E0E-94A4E481E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5050" y="6356350"/>
            <a:ext cx="2743200" cy="365125"/>
          </a:xfrm>
        </p:spPr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11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F5BF9CA-274D-D823-5368-502315C2B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528" y="-227753"/>
            <a:ext cx="8873067" cy="1325563"/>
          </a:xfrm>
        </p:spPr>
        <p:txBody>
          <a:bodyPr/>
          <a:lstStyle/>
          <a:p>
            <a:r>
              <a:rPr lang="en-US" b="1" noProof="0" dirty="0">
                <a:solidFill>
                  <a:schemeClr val="bg1"/>
                </a:solidFill>
              </a:rPr>
              <a:t>MoleGuLAR: </a:t>
            </a:r>
            <a:r>
              <a:rPr lang="en-US" noProof="0" dirty="0">
                <a:solidFill>
                  <a:schemeClr val="bg1"/>
                </a:solidFill>
              </a:rPr>
              <a:t>🎯 </a:t>
            </a:r>
            <a:r>
              <a:rPr lang="en-US" b="1" noProof="0" dirty="0">
                <a:solidFill>
                  <a:schemeClr val="bg1"/>
                </a:solidFill>
              </a:rPr>
              <a:t>Desired Properties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916D09-1457-DDF0-AA9B-81E0CE408990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D24CBCD3-83C6-EC28-BAA1-54420AFE2B7F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47214C1C-221A-D25C-830B-5ECB0F15682B}"/>
              </a:ext>
            </a:extLst>
          </p:cNvPr>
          <p:cNvSpPr txBox="1">
            <a:spLocks/>
          </p:cNvSpPr>
          <p:nvPr/>
        </p:nvSpPr>
        <p:spPr>
          <a:xfrm>
            <a:off x="85250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11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5846FE3-1E28-16E1-325B-0651253727E5}"/>
              </a:ext>
            </a:extLst>
          </p:cNvPr>
          <p:cNvGrpSpPr/>
          <p:nvPr/>
        </p:nvGrpSpPr>
        <p:grpSpPr>
          <a:xfrm>
            <a:off x="4961464" y="1203591"/>
            <a:ext cx="3191933" cy="2219271"/>
            <a:chOff x="5404690" y="1291711"/>
            <a:chExt cx="3191933" cy="221927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BA639E5-5EA6-55C9-C880-191081BCCACC}"/>
                </a:ext>
              </a:extLst>
            </p:cNvPr>
            <p:cNvSpPr/>
            <p:nvPr/>
          </p:nvSpPr>
          <p:spPr>
            <a:xfrm>
              <a:off x="5404690" y="1291711"/>
              <a:ext cx="3191933" cy="2219271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005866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BD5607-BA1A-BF14-9798-F50AA95854F8}"/>
                </a:ext>
              </a:extLst>
            </p:cNvPr>
            <p:cNvSpPr txBox="1"/>
            <p:nvPr/>
          </p:nvSpPr>
          <p:spPr>
            <a:xfrm>
              <a:off x="5717955" y="1981949"/>
              <a:ext cx="2565401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005866"/>
                  </a:solidFill>
                  <a:latin typeface="IBM Plex Sans"/>
                </a:rPr>
                <a:t>Binding Affinity</a:t>
              </a:r>
            </a:p>
          </p:txBody>
        </p:sp>
        <p:pic>
          <p:nvPicPr>
            <p:cNvPr id="20" name="Graphic 19" descr="Germ with solid fill">
              <a:extLst>
                <a:ext uri="{FF2B5EF4-FFF2-40B4-BE49-F238E27FC236}">
                  <a16:creationId xmlns:a16="http://schemas.microsoft.com/office/drawing/2014/main" id="{C0C2C9ED-4513-8136-4655-609DBDF74C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744747" y="1427475"/>
              <a:ext cx="511818" cy="51181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10B6A87-0B0C-0717-4D25-1AE93AFA7ABA}"/>
                </a:ext>
              </a:extLst>
            </p:cNvPr>
            <p:cNvSpPr txBox="1"/>
            <p:nvPr/>
          </p:nvSpPr>
          <p:spPr>
            <a:xfrm>
              <a:off x="5477158" y="2515633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/>
                <a:t>Strength of the </a:t>
              </a:r>
              <a:r>
                <a:rPr lang="en-US" b="1" noProof="0" dirty="0"/>
                <a:t>non-covalent interaction</a:t>
              </a:r>
              <a:r>
                <a:rPr lang="en-US" noProof="0" dirty="0"/>
                <a:t> between two molecules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1D83606-C571-0351-71BC-D4296B3014ED}"/>
              </a:ext>
            </a:extLst>
          </p:cNvPr>
          <p:cNvGrpSpPr/>
          <p:nvPr/>
        </p:nvGrpSpPr>
        <p:grpSpPr>
          <a:xfrm>
            <a:off x="8525050" y="1203590"/>
            <a:ext cx="3191933" cy="2219271"/>
            <a:chOff x="8837422" y="1291711"/>
            <a:chExt cx="3191933" cy="2219271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6281D599-DA5B-44B3-5433-3BDEF7A076B9}"/>
                </a:ext>
              </a:extLst>
            </p:cNvPr>
            <p:cNvSpPr/>
            <p:nvPr/>
          </p:nvSpPr>
          <p:spPr>
            <a:xfrm>
              <a:off x="8837422" y="1291711"/>
              <a:ext cx="3191933" cy="2219271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005866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B318FD3-DA1F-8D13-F9D5-74F09A57F53C}"/>
                </a:ext>
              </a:extLst>
            </p:cNvPr>
            <p:cNvSpPr txBox="1"/>
            <p:nvPr/>
          </p:nvSpPr>
          <p:spPr>
            <a:xfrm>
              <a:off x="9150687" y="1966815"/>
              <a:ext cx="2565401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 err="1">
                  <a:solidFill>
                    <a:srgbClr val="005866"/>
                  </a:solidFill>
                  <a:latin typeface="IBM Plex Sans"/>
                </a:rPr>
                <a:t>LogP</a:t>
              </a:r>
              <a:endParaRPr lang="en-US" sz="2400" b="1" noProof="0" dirty="0">
                <a:solidFill>
                  <a:srgbClr val="005866"/>
                </a:solidFill>
                <a:latin typeface="IBM Plex Sans"/>
              </a:endParaRPr>
            </a:p>
          </p:txBody>
        </p:sp>
        <p:pic>
          <p:nvPicPr>
            <p:cNvPr id="26" name="Graphic 20" descr="Ripple with solid fill">
              <a:extLst>
                <a:ext uri="{FF2B5EF4-FFF2-40B4-BE49-F238E27FC236}">
                  <a16:creationId xmlns:a16="http://schemas.microsoft.com/office/drawing/2014/main" id="{9265C20F-F81A-DC02-CE51-92816DD07E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0177479" y="1412341"/>
              <a:ext cx="511818" cy="511818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280FE37-10D0-AA0B-8FC9-E8B0011E08DE}"/>
                </a:ext>
              </a:extLst>
            </p:cNvPr>
            <p:cNvSpPr txBox="1"/>
            <p:nvPr/>
          </p:nvSpPr>
          <p:spPr>
            <a:xfrm>
              <a:off x="8909890" y="2500499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/>
                <a:t>Measures a molecule's </a:t>
              </a:r>
              <a:r>
                <a:rPr lang="en-US" b="1" noProof="0" dirty="0"/>
                <a:t>lipophilicity</a:t>
              </a:r>
              <a:r>
                <a:rPr lang="en-US" noProof="0" dirty="0"/>
                <a:t>, how well it dissolves in fats vs water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D440649-6557-AFD6-4977-D7DD68031825}"/>
              </a:ext>
            </a:extLst>
          </p:cNvPr>
          <p:cNvGrpSpPr/>
          <p:nvPr/>
        </p:nvGrpSpPr>
        <p:grpSpPr>
          <a:xfrm>
            <a:off x="4952997" y="3708196"/>
            <a:ext cx="3191933" cy="2219271"/>
            <a:chOff x="5404690" y="3713323"/>
            <a:chExt cx="3191933" cy="2219271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1C84B62-F4A3-5C17-AF0A-3B03886E4472}"/>
                </a:ext>
              </a:extLst>
            </p:cNvPr>
            <p:cNvSpPr/>
            <p:nvPr/>
          </p:nvSpPr>
          <p:spPr>
            <a:xfrm>
              <a:off x="5404690" y="3713323"/>
              <a:ext cx="3191933" cy="2219271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005866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557BA8B-198A-4C1F-38F0-F190E085D393}"/>
                </a:ext>
              </a:extLst>
            </p:cNvPr>
            <p:cNvSpPr txBox="1"/>
            <p:nvPr/>
          </p:nvSpPr>
          <p:spPr>
            <a:xfrm>
              <a:off x="5717955" y="4403561"/>
              <a:ext cx="2565401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005866"/>
                  </a:solidFill>
                  <a:latin typeface="IBM Plex Sans"/>
                </a:rPr>
                <a:t>QED</a:t>
              </a:r>
            </a:p>
          </p:txBody>
        </p:sp>
        <p:pic>
          <p:nvPicPr>
            <p:cNvPr id="32" name="Graphic 31" descr="Germ with solid fill">
              <a:extLst>
                <a:ext uri="{FF2B5EF4-FFF2-40B4-BE49-F238E27FC236}">
                  <a16:creationId xmlns:a16="http://schemas.microsoft.com/office/drawing/2014/main" id="{52E463F8-BA18-6255-A1A0-9D8EA30C96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6744747" y="3849087"/>
              <a:ext cx="511818" cy="511818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62322F6-927D-ABEB-2F45-C3D3BCF6AB12}"/>
                </a:ext>
              </a:extLst>
            </p:cNvPr>
            <p:cNvSpPr txBox="1"/>
            <p:nvPr/>
          </p:nvSpPr>
          <p:spPr>
            <a:xfrm>
              <a:off x="5477158" y="4937245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/>
                <a:t>A 0-to-1 scoring method to map </a:t>
              </a:r>
              <a:r>
                <a:rPr lang="en-US" b="1" noProof="0" dirty="0"/>
                <a:t>resemblance</a:t>
              </a:r>
              <a:r>
                <a:rPr lang="en-US" noProof="0" dirty="0"/>
                <a:t> to known oral drugs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0761522-774A-0177-3AD4-C99BA9F00B76}"/>
              </a:ext>
            </a:extLst>
          </p:cNvPr>
          <p:cNvGrpSpPr/>
          <p:nvPr/>
        </p:nvGrpSpPr>
        <p:grpSpPr>
          <a:xfrm>
            <a:off x="8525050" y="3703644"/>
            <a:ext cx="3191933" cy="2219271"/>
            <a:chOff x="8837422" y="3713323"/>
            <a:chExt cx="3191933" cy="2219271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A90B74FE-381D-E7B3-8114-5C072A5CB32B}"/>
                </a:ext>
              </a:extLst>
            </p:cNvPr>
            <p:cNvSpPr/>
            <p:nvPr/>
          </p:nvSpPr>
          <p:spPr>
            <a:xfrm>
              <a:off x="8837422" y="3713323"/>
              <a:ext cx="3191933" cy="2219271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005866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F0964FF-B699-DA43-191D-7C7D3CF904E3}"/>
                </a:ext>
              </a:extLst>
            </p:cNvPr>
            <p:cNvSpPr txBox="1"/>
            <p:nvPr/>
          </p:nvSpPr>
          <p:spPr>
            <a:xfrm>
              <a:off x="8875229" y="4438398"/>
              <a:ext cx="3116314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000" b="1" noProof="0" dirty="0">
                  <a:solidFill>
                    <a:srgbClr val="005866"/>
                  </a:solidFill>
                  <a:latin typeface="IBM Plex Sans"/>
                </a:rPr>
                <a:t>Hydration Free Energy</a:t>
              </a:r>
            </a:p>
          </p:txBody>
        </p:sp>
        <p:pic>
          <p:nvPicPr>
            <p:cNvPr id="36" name="Graphic 20" descr="Eye dropper with solid fill">
              <a:extLst>
                <a:ext uri="{FF2B5EF4-FFF2-40B4-BE49-F238E27FC236}">
                  <a16:creationId xmlns:a16="http://schemas.microsoft.com/office/drawing/2014/main" id="{8060F0C4-F02F-BE51-51D5-5BDDA924EA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0177479" y="3849087"/>
              <a:ext cx="511818" cy="511818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9BEF6A5-B352-C1C4-21E6-EA47AD9664A1}"/>
                </a:ext>
              </a:extLst>
            </p:cNvPr>
            <p:cNvSpPr txBox="1"/>
            <p:nvPr/>
          </p:nvSpPr>
          <p:spPr>
            <a:xfrm>
              <a:off x="8909890" y="4937245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/>
                <a:t> The amount of energy released when one mole of ions undergoes </a:t>
              </a:r>
              <a:r>
                <a:rPr lang="en-US" b="1" noProof="0" dirty="0"/>
                <a:t>solvation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7ACDFDC-EB08-EB59-5719-8EB471FFDD40}"/>
              </a:ext>
            </a:extLst>
          </p:cNvPr>
          <p:cNvGrpSpPr/>
          <p:nvPr/>
        </p:nvGrpSpPr>
        <p:grpSpPr>
          <a:xfrm>
            <a:off x="1271169" y="2559236"/>
            <a:ext cx="3310175" cy="2219271"/>
            <a:chOff x="5356759" y="3713323"/>
            <a:chExt cx="3310175" cy="2219271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9B52513-8FA8-6261-C81A-67DA3F034FF3}"/>
                </a:ext>
              </a:extLst>
            </p:cNvPr>
            <p:cNvSpPr/>
            <p:nvPr/>
          </p:nvSpPr>
          <p:spPr>
            <a:xfrm>
              <a:off x="5404690" y="3713323"/>
              <a:ext cx="3191933" cy="2219271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005866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BECF0E5-6008-6C40-62A2-C40440B35DDD}"/>
                </a:ext>
              </a:extLst>
            </p:cNvPr>
            <p:cNvSpPr txBox="1"/>
            <p:nvPr/>
          </p:nvSpPr>
          <p:spPr>
            <a:xfrm>
              <a:off x="5717955" y="4403561"/>
              <a:ext cx="2565401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005866"/>
                  </a:solidFill>
                  <a:latin typeface="IBM Plex Sans"/>
                </a:rPr>
                <a:t>TPSA</a:t>
              </a:r>
            </a:p>
          </p:txBody>
        </p:sp>
        <p:pic>
          <p:nvPicPr>
            <p:cNvPr id="21" name="Graphic 20" descr="Chemicals with solid fill">
              <a:extLst>
                <a:ext uri="{FF2B5EF4-FFF2-40B4-BE49-F238E27FC236}">
                  <a16:creationId xmlns:a16="http://schemas.microsoft.com/office/drawing/2014/main" id="{6AA9FE94-F845-D192-C84D-FDCC0B8CB2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6744747" y="3849087"/>
              <a:ext cx="511818" cy="511818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7FC2780-9ED3-60F9-F8BD-BC21437EEA12}"/>
                </a:ext>
              </a:extLst>
            </p:cNvPr>
            <p:cNvSpPr txBox="1"/>
            <p:nvPr/>
          </p:nvSpPr>
          <p:spPr>
            <a:xfrm>
              <a:off x="5356759" y="4865226"/>
              <a:ext cx="331017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/>
                <a:t> </a:t>
              </a:r>
              <a:r>
                <a:rPr lang="en-US" b="1" noProof="0" dirty="0"/>
                <a:t>Surface sum </a:t>
              </a:r>
              <a:r>
                <a:rPr lang="en-US" noProof="0" dirty="0"/>
                <a:t>over all </a:t>
              </a:r>
              <a:r>
                <a:rPr lang="en-US" b="1" noProof="0" dirty="0"/>
                <a:t>polar</a:t>
              </a:r>
              <a:r>
                <a:rPr lang="en-US" noProof="0" dirty="0"/>
                <a:t> </a:t>
              </a:r>
              <a:r>
                <a:rPr lang="en-US" b="1" noProof="0" dirty="0"/>
                <a:t>atoms</a:t>
              </a:r>
              <a:r>
                <a:rPr lang="en-US" noProof="0" dirty="0"/>
                <a:t> or molecules, including their attached hydrogen atoms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7504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6CAC3-0F61-097A-3A3C-762A500C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C4C9F8-F40E-101F-C88C-C99340A884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18" t="-879" r="391" b="-601"/>
          <a:stretch/>
        </p:blipFill>
        <p:spPr>
          <a:xfrm>
            <a:off x="-7564452" y="-6170239"/>
            <a:ext cx="11420182" cy="8706730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A73425B8-CA48-5105-B071-0E475DB7CAAA}"/>
              </a:ext>
            </a:extLst>
          </p:cNvPr>
          <p:cNvSpPr/>
          <p:nvPr/>
        </p:nvSpPr>
        <p:spPr>
          <a:xfrm rot="10800000">
            <a:off x="3318933" y="-1"/>
            <a:ext cx="8873067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A8C364-012B-B335-D5AD-E483472E4B2B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FF7F7E96-416C-9BBB-1F61-9571963F4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27EF051-38A0-B04E-A29E-C9A623160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5050" y="6356350"/>
            <a:ext cx="2743200" cy="365125"/>
          </a:xfrm>
        </p:spPr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12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F0D476-9A32-347E-873C-B9F52CF8B471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6517AE4F-B900-8514-D6C9-65C91F6EF0F9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996CE311-A14C-7E10-8F8A-49EA53D10E4B}"/>
              </a:ext>
            </a:extLst>
          </p:cNvPr>
          <p:cNvSpPr txBox="1">
            <a:spLocks/>
          </p:cNvSpPr>
          <p:nvPr/>
        </p:nvSpPr>
        <p:spPr>
          <a:xfrm>
            <a:off x="85250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12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2B12A3-04B9-AB18-F9D1-97F08E9BA0FE}"/>
              </a:ext>
            </a:extLst>
          </p:cNvPr>
          <p:cNvGrpSpPr/>
          <p:nvPr/>
        </p:nvGrpSpPr>
        <p:grpSpPr>
          <a:xfrm>
            <a:off x="4961464" y="1203591"/>
            <a:ext cx="3191933" cy="2219271"/>
            <a:chOff x="5404690" y="1291711"/>
            <a:chExt cx="3191933" cy="221927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870784F-E8A8-0571-F291-D28A23539286}"/>
                </a:ext>
              </a:extLst>
            </p:cNvPr>
            <p:cNvSpPr/>
            <p:nvPr/>
          </p:nvSpPr>
          <p:spPr>
            <a:xfrm>
              <a:off x="5404690" y="1291711"/>
              <a:ext cx="3191933" cy="2219271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C9A227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32AD20B-8835-7163-4C94-26C90216AC91}"/>
                </a:ext>
              </a:extLst>
            </p:cNvPr>
            <p:cNvSpPr txBox="1"/>
            <p:nvPr/>
          </p:nvSpPr>
          <p:spPr>
            <a:xfrm>
              <a:off x="5717955" y="1981949"/>
              <a:ext cx="2565401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C9A227"/>
                  </a:solidFill>
                  <a:latin typeface="IBM Plex Sans"/>
                </a:rPr>
                <a:t>Binding Affinity</a:t>
              </a:r>
            </a:p>
          </p:txBody>
        </p:sp>
        <p:pic>
          <p:nvPicPr>
            <p:cNvPr id="20" name="Graphic 19" descr="Germ with solid fill">
              <a:extLst>
                <a:ext uri="{FF2B5EF4-FFF2-40B4-BE49-F238E27FC236}">
                  <a16:creationId xmlns:a16="http://schemas.microsoft.com/office/drawing/2014/main" id="{F5399678-EBDD-BD71-E1CA-A3389C6EA6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744747" y="1427475"/>
              <a:ext cx="511818" cy="51181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79B443E-C69F-2F9B-00C0-8426CB60A1CC}"/>
                </a:ext>
              </a:extLst>
            </p:cNvPr>
            <p:cNvSpPr txBox="1"/>
            <p:nvPr/>
          </p:nvSpPr>
          <p:spPr>
            <a:xfrm>
              <a:off x="5477158" y="2515633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/>
                <a:t>Strength of the </a:t>
              </a:r>
              <a:r>
                <a:rPr lang="en-US" b="1" noProof="0" dirty="0"/>
                <a:t>non-covalent interaction</a:t>
              </a:r>
              <a:r>
                <a:rPr lang="en-US" noProof="0" dirty="0"/>
                <a:t> between two molecules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1113D15-FED1-88A0-4E2D-6E8C4C6FE34E}"/>
              </a:ext>
            </a:extLst>
          </p:cNvPr>
          <p:cNvGrpSpPr/>
          <p:nvPr/>
        </p:nvGrpSpPr>
        <p:grpSpPr>
          <a:xfrm>
            <a:off x="8525050" y="1203590"/>
            <a:ext cx="3191933" cy="2219271"/>
            <a:chOff x="8837422" y="1291711"/>
            <a:chExt cx="3191933" cy="2219271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CAF2C4C0-4721-12C9-A6B0-DA7FB482A973}"/>
                </a:ext>
              </a:extLst>
            </p:cNvPr>
            <p:cNvSpPr/>
            <p:nvPr/>
          </p:nvSpPr>
          <p:spPr>
            <a:xfrm>
              <a:off x="8837422" y="1291711"/>
              <a:ext cx="3191933" cy="2219271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C9A227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5DD6D7F-9A0A-D42E-BFF9-CC9AC78E188C}"/>
                </a:ext>
              </a:extLst>
            </p:cNvPr>
            <p:cNvSpPr txBox="1"/>
            <p:nvPr/>
          </p:nvSpPr>
          <p:spPr>
            <a:xfrm>
              <a:off x="9150687" y="1966815"/>
              <a:ext cx="2565401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 err="1">
                  <a:solidFill>
                    <a:srgbClr val="C9A227"/>
                  </a:solidFill>
                  <a:latin typeface="IBM Plex Sans"/>
                </a:rPr>
                <a:t>LogP</a:t>
              </a:r>
              <a:endParaRPr lang="en-US" sz="2400" b="1" noProof="0" dirty="0">
                <a:solidFill>
                  <a:srgbClr val="C9A227"/>
                </a:solidFill>
                <a:latin typeface="IBM Plex Sans"/>
              </a:endParaRPr>
            </a:p>
          </p:txBody>
        </p:sp>
        <p:pic>
          <p:nvPicPr>
            <p:cNvPr id="26" name="Graphic 20" descr="Ripple with solid fill">
              <a:extLst>
                <a:ext uri="{FF2B5EF4-FFF2-40B4-BE49-F238E27FC236}">
                  <a16:creationId xmlns:a16="http://schemas.microsoft.com/office/drawing/2014/main" id="{E634E0A6-923C-CA0B-E5AC-B13726A039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0177479" y="1412341"/>
              <a:ext cx="511818" cy="511818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F1B391-6BF4-6EB9-3E90-5972A30EA2AF}"/>
                </a:ext>
              </a:extLst>
            </p:cNvPr>
            <p:cNvSpPr txBox="1"/>
            <p:nvPr/>
          </p:nvSpPr>
          <p:spPr>
            <a:xfrm>
              <a:off x="8909890" y="2500499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/>
                <a:t>Measures a molecule's </a:t>
              </a:r>
              <a:r>
                <a:rPr lang="en-US" b="1" noProof="0" dirty="0"/>
                <a:t>lipophilicity</a:t>
              </a:r>
              <a:r>
                <a:rPr lang="en-US" noProof="0" dirty="0"/>
                <a:t>, how well it dissolves in fats vs water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E4A8489-4BB8-EC02-8B86-4F95876C940C}"/>
              </a:ext>
            </a:extLst>
          </p:cNvPr>
          <p:cNvGrpSpPr/>
          <p:nvPr/>
        </p:nvGrpSpPr>
        <p:grpSpPr>
          <a:xfrm>
            <a:off x="4952997" y="3708196"/>
            <a:ext cx="3191933" cy="2219271"/>
            <a:chOff x="5404690" y="3713323"/>
            <a:chExt cx="3191933" cy="2219271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19F1C7C-EBC5-AA82-C783-441F75814343}"/>
                </a:ext>
              </a:extLst>
            </p:cNvPr>
            <p:cNvSpPr/>
            <p:nvPr/>
          </p:nvSpPr>
          <p:spPr>
            <a:xfrm>
              <a:off x="5404690" y="3713323"/>
              <a:ext cx="3191933" cy="2219271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C9A227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>
                <a:solidFill>
                  <a:srgbClr val="C9A227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58FA539-E3C2-76A1-D80B-B909EEAE95DB}"/>
                </a:ext>
              </a:extLst>
            </p:cNvPr>
            <p:cNvSpPr txBox="1"/>
            <p:nvPr/>
          </p:nvSpPr>
          <p:spPr>
            <a:xfrm>
              <a:off x="5717955" y="4403561"/>
              <a:ext cx="2565401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C9A227"/>
                  </a:solidFill>
                  <a:latin typeface="IBM Plex Sans"/>
                </a:rPr>
                <a:t>QED</a:t>
              </a:r>
            </a:p>
          </p:txBody>
        </p:sp>
        <p:pic>
          <p:nvPicPr>
            <p:cNvPr id="32" name="Graphic 31" descr="Germ with solid fill">
              <a:extLst>
                <a:ext uri="{FF2B5EF4-FFF2-40B4-BE49-F238E27FC236}">
                  <a16:creationId xmlns:a16="http://schemas.microsoft.com/office/drawing/2014/main" id="{93608901-0295-4BED-54CE-9277A6D2D2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6744747" y="3849087"/>
              <a:ext cx="511818" cy="511818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AF35666-291B-77E5-8C64-37F554F4D627}"/>
                </a:ext>
              </a:extLst>
            </p:cNvPr>
            <p:cNvSpPr txBox="1"/>
            <p:nvPr/>
          </p:nvSpPr>
          <p:spPr>
            <a:xfrm>
              <a:off x="5477158" y="4937245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/>
                <a:t>A 0-to-1 scoring method to map </a:t>
              </a:r>
              <a:r>
                <a:rPr lang="en-US" b="1" noProof="0" dirty="0"/>
                <a:t>resemblance</a:t>
              </a:r>
              <a:r>
                <a:rPr lang="en-US" noProof="0" dirty="0"/>
                <a:t> to known oral drugs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269FC66-15BA-1D6E-550F-18FA4143F484}"/>
              </a:ext>
            </a:extLst>
          </p:cNvPr>
          <p:cNvGrpSpPr/>
          <p:nvPr/>
        </p:nvGrpSpPr>
        <p:grpSpPr>
          <a:xfrm>
            <a:off x="8525050" y="3703644"/>
            <a:ext cx="3191933" cy="2219271"/>
            <a:chOff x="8837422" y="3713323"/>
            <a:chExt cx="3191933" cy="2219271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D929CBBA-0620-45A4-B672-2E66B134069D}"/>
                </a:ext>
              </a:extLst>
            </p:cNvPr>
            <p:cNvSpPr/>
            <p:nvPr/>
          </p:nvSpPr>
          <p:spPr>
            <a:xfrm>
              <a:off x="8837422" y="3713323"/>
              <a:ext cx="3191933" cy="2219271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005866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1009264-28D5-C8F6-3AE3-72A77E82DFC2}"/>
                </a:ext>
              </a:extLst>
            </p:cNvPr>
            <p:cNvSpPr txBox="1"/>
            <p:nvPr/>
          </p:nvSpPr>
          <p:spPr>
            <a:xfrm>
              <a:off x="8875229" y="4438398"/>
              <a:ext cx="3116314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000" b="1" noProof="0" dirty="0">
                  <a:solidFill>
                    <a:srgbClr val="005866"/>
                  </a:solidFill>
                  <a:latin typeface="IBM Plex Sans"/>
                </a:rPr>
                <a:t>Hydration Free Energy</a:t>
              </a:r>
            </a:p>
          </p:txBody>
        </p:sp>
        <p:pic>
          <p:nvPicPr>
            <p:cNvPr id="36" name="Graphic 20" descr="Eye dropper with solid fill">
              <a:extLst>
                <a:ext uri="{FF2B5EF4-FFF2-40B4-BE49-F238E27FC236}">
                  <a16:creationId xmlns:a16="http://schemas.microsoft.com/office/drawing/2014/main" id="{826D16C3-00EA-3843-471A-0C7E5D5AA2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0177479" y="3849087"/>
              <a:ext cx="511818" cy="511818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72FC194-17DA-65D6-AE26-E4E4BBDE7F4C}"/>
                </a:ext>
              </a:extLst>
            </p:cNvPr>
            <p:cNvSpPr txBox="1"/>
            <p:nvPr/>
          </p:nvSpPr>
          <p:spPr>
            <a:xfrm>
              <a:off x="8909890" y="4937245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/>
                <a:t> The amount of energy released when one mole of ions undergoes </a:t>
              </a:r>
              <a:r>
                <a:rPr lang="en-US" b="1" noProof="0" dirty="0"/>
                <a:t>solvation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D03991-3AA1-BCF2-CEE4-7ACAE71352DA}"/>
              </a:ext>
            </a:extLst>
          </p:cNvPr>
          <p:cNvGrpSpPr/>
          <p:nvPr/>
        </p:nvGrpSpPr>
        <p:grpSpPr>
          <a:xfrm>
            <a:off x="1271169" y="2559236"/>
            <a:ext cx="3310175" cy="2219271"/>
            <a:chOff x="5356759" y="3713323"/>
            <a:chExt cx="3310175" cy="2219271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2909064-1856-6262-5D88-5D3535B7CF80}"/>
                </a:ext>
              </a:extLst>
            </p:cNvPr>
            <p:cNvSpPr/>
            <p:nvPr/>
          </p:nvSpPr>
          <p:spPr>
            <a:xfrm>
              <a:off x="5404690" y="3713323"/>
              <a:ext cx="3191933" cy="2219271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C9A227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89F2C02-DCEA-53A0-52AE-2436186D4BEC}"/>
                </a:ext>
              </a:extLst>
            </p:cNvPr>
            <p:cNvSpPr txBox="1"/>
            <p:nvPr/>
          </p:nvSpPr>
          <p:spPr>
            <a:xfrm>
              <a:off x="5717955" y="4403561"/>
              <a:ext cx="2565401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C9A227"/>
                  </a:solidFill>
                  <a:latin typeface="IBM Plex Sans"/>
                </a:rPr>
                <a:t>TPSA</a:t>
              </a:r>
            </a:p>
          </p:txBody>
        </p:sp>
        <p:pic>
          <p:nvPicPr>
            <p:cNvPr id="21" name="Graphic 20" descr="Chemicals with solid fill">
              <a:extLst>
                <a:ext uri="{FF2B5EF4-FFF2-40B4-BE49-F238E27FC236}">
                  <a16:creationId xmlns:a16="http://schemas.microsoft.com/office/drawing/2014/main" id="{E7300075-F0BF-2859-0589-703E6CF51F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6744747" y="3849087"/>
              <a:ext cx="511818" cy="511818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6E16BB-7471-732C-B5B6-7899159AB535}"/>
                </a:ext>
              </a:extLst>
            </p:cNvPr>
            <p:cNvSpPr txBox="1"/>
            <p:nvPr/>
          </p:nvSpPr>
          <p:spPr>
            <a:xfrm>
              <a:off x="5356759" y="4865226"/>
              <a:ext cx="331017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/>
                <a:t> </a:t>
              </a:r>
              <a:r>
                <a:rPr lang="en-US" b="1" noProof="0" dirty="0"/>
                <a:t>Surface sum </a:t>
              </a:r>
              <a:r>
                <a:rPr lang="en-US" noProof="0" dirty="0"/>
                <a:t>over all </a:t>
              </a:r>
              <a:r>
                <a:rPr lang="en-US" b="1" noProof="0" dirty="0"/>
                <a:t>polar</a:t>
              </a:r>
              <a:r>
                <a:rPr lang="en-US" noProof="0" dirty="0"/>
                <a:t> </a:t>
              </a:r>
              <a:r>
                <a:rPr lang="en-US" b="1" noProof="0" dirty="0"/>
                <a:t>atoms</a:t>
              </a:r>
              <a:r>
                <a:rPr lang="en-US" noProof="0" dirty="0"/>
                <a:t> or molecules, including their attached hydrogen atoms</a:t>
              </a:r>
            </a:p>
          </p:txBody>
        </p:sp>
      </p:grpSp>
      <p:sp>
        <p:nvSpPr>
          <p:cNvPr id="39" name="Title 1">
            <a:extLst>
              <a:ext uri="{FF2B5EF4-FFF2-40B4-BE49-F238E27FC236}">
                <a16:creationId xmlns:a16="http://schemas.microsoft.com/office/drawing/2014/main" id="{FF5C1B22-E1CD-F7B8-D25F-B32BEAE62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528" y="-227753"/>
            <a:ext cx="8873067" cy="1325563"/>
          </a:xfrm>
        </p:spPr>
        <p:txBody>
          <a:bodyPr/>
          <a:lstStyle/>
          <a:p>
            <a:r>
              <a:rPr lang="en-US" b="1" noProof="0" dirty="0">
                <a:solidFill>
                  <a:schemeClr val="bg1"/>
                </a:solidFill>
              </a:rPr>
              <a:t>MoleGuLAR: </a:t>
            </a:r>
            <a:r>
              <a:rPr lang="en-US" noProof="0" dirty="0">
                <a:solidFill>
                  <a:schemeClr val="bg1"/>
                </a:solidFill>
              </a:rPr>
              <a:t>🎯 </a:t>
            </a:r>
            <a:r>
              <a:rPr lang="en-US" b="1" noProof="0" dirty="0">
                <a:solidFill>
                  <a:schemeClr val="bg1"/>
                </a:solidFill>
              </a:rPr>
              <a:t>Desired Properties</a:t>
            </a:r>
          </a:p>
        </p:txBody>
      </p:sp>
    </p:spTree>
    <p:extLst>
      <p:ext uri="{BB962C8B-B14F-4D97-AF65-F5344CB8AC3E}">
        <p14:creationId xmlns:p14="http://schemas.microsoft.com/office/powerpoint/2010/main" val="3105354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A85B3-198F-C546-1994-E38FCA79C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A8D9DB-CB46-350A-3284-6D9A15C911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18" t="-879" r="391" b="-601"/>
          <a:stretch/>
        </p:blipFill>
        <p:spPr>
          <a:xfrm>
            <a:off x="-5935061" y="-4415314"/>
            <a:ext cx="11420182" cy="8706730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54CB7905-A9E7-055C-4F1D-F482EEEFA461}"/>
              </a:ext>
            </a:extLst>
          </p:cNvPr>
          <p:cNvSpPr/>
          <p:nvPr/>
        </p:nvSpPr>
        <p:spPr>
          <a:xfrm rot="10800000">
            <a:off x="3318933" y="-1"/>
            <a:ext cx="8873067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0C690C-A2BF-146A-BD88-EC3687696CC7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1F64003-DD86-F0CB-8F69-2D43DAF7C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2C3E45D-1897-8E48-3EC2-940A46E01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5050" y="6356350"/>
            <a:ext cx="2743200" cy="365125"/>
          </a:xfrm>
        </p:spPr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13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CAA5F1-33F3-DC95-3ED2-4B4DA4AEC966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D2853AE5-249E-9C33-EFC8-F3ED4A7022CB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7E277678-A6A8-AA43-FB06-963CB062AF80}"/>
              </a:ext>
            </a:extLst>
          </p:cNvPr>
          <p:cNvSpPr txBox="1">
            <a:spLocks/>
          </p:cNvSpPr>
          <p:nvPr/>
        </p:nvSpPr>
        <p:spPr>
          <a:xfrm>
            <a:off x="85250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13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7E7678-FD3E-BA8E-37E8-97B2D74F3078}"/>
              </a:ext>
            </a:extLst>
          </p:cNvPr>
          <p:cNvSpPr/>
          <p:nvPr/>
        </p:nvSpPr>
        <p:spPr>
          <a:xfrm>
            <a:off x="4961464" y="1203591"/>
            <a:ext cx="3191933" cy="2219271"/>
          </a:xfrm>
          <a:prstGeom prst="roundRect">
            <a:avLst>
              <a:gd name="adj" fmla="val 19719"/>
            </a:avLst>
          </a:prstGeom>
          <a:solidFill>
            <a:srgbClr val="FDFDFD"/>
          </a:solidFill>
          <a:ln w="3810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46391-6746-80A2-146A-1982649B886E}"/>
              </a:ext>
            </a:extLst>
          </p:cNvPr>
          <p:cNvSpPr txBox="1"/>
          <p:nvPr/>
        </p:nvSpPr>
        <p:spPr>
          <a:xfrm>
            <a:off x="5274727" y="1948764"/>
            <a:ext cx="2565401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400" b="1" noProof="0" dirty="0">
                <a:solidFill>
                  <a:srgbClr val="C9A227"/>
                </a:solidFill>
                <a:latin typeface="IBM Plex Sans"/>
              </a:rPr>
              <a:t>Exponential</a:t>
            </a:r>
          </a:p>
        </p:txBody>
      </p:sp>
      <p:pic>
        <p:nvPicPr>
          <p:cNvPr id="20" name="Graphic 19" descr="Germ with solid fill">
            <a:extLst>
              <a:ext uri="{FF2B5EF4-FFF2-40B4-BE49-F238E27FC236}">
                <a16:creationId xmlns:a16="http://schemas.microsoft.com/office/drawing/2014/main" id="{FDB3E4B2-DA6A-D28C-3514-3DCC0B0BD8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301521" y="1339355"/>
            <a:ext cx="511818" cy="5118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67456B-CBBE-0AFA-2472-7A66DE0E1B2B}"/>
              </a:ext>
            </a:extLst>
          </p:cNvPr>
          <p:cNvSpPr txBox="1"/>
          <p:nvPr/>
        </p:nvSpPr>
        <p:spPr>
          <a:xfrm>
            <a:off x="5033932" y="2640828"/>
            <a:ext cx="3046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Strong</a:t>
            </a:r>
            <a:r>
              <a:rPr lang="en-US" noProof="0" dirty="0"/>
              <a:t> push toward low binding energy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44ABD30-D284-7040-1F94-2F9C85D1839D}"/>
              </a:ext>
            </a:extLst>
          </p:cNvPr>
          <p:cNvSpPr/>
          <p:nvPr/>
        </p:nvSpPr>
        <p:spPr>
          <a:xfrm>
            <a:off x="8525050" y="1203590"/>
            <a:ext cx="3191933" cy="2219271"/>
          </a:xfrm>
          <a:prstGeom prst="roundRect">
            <a:avLst>
              <a:gd name="adj" fmla="val 19719"/>
            </a:avLst>
          </a:prstGeom>
          <a:solidFill>
            <a:srgbClr val="FDFDFD"/>
          </a:solidFill>
          <a:ln w="3810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noProof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2DBE22-5B95-3DAD-BD08-E86392E6AF43}"/>
              </a:ext>
            </a:extLst>
          </p:cNvPr>
          <p:cNvSpPr txBox="1"/>
          <p:nvPr/>
        </p:nvSpPr>
        <p:spPr>
          <a:xfrm>
            <a:off x="8838313" y="1934775"/>
            <a:ext cx="2565401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400" b="1" noProof="0" dirty="0">
                <a:solidFill>
                  <a:srgbClr val="C9A227"/>
                </a:solidFill>
                <a:latin typeface="IBM Plex Sans"/>
              </a:rPr>
              <a:t>Linear</a:t>
            </a:r>
          </a:p>
        </p:txBody>
      </p:sp>
      <p:pic>
        <p:nvPicPr>
          <p:cNvPr id="26" name="Graphic 20" descr="Ripple with solid fill">
            <a:extLst>
              <a:ext uri="{FF2B5EF4-FFF2-40B4-BE49-F238E27FC236}">
                <a16:creationId xmlns:a16="http://schemas.microsoft.com/office/drawing/2014/main" id="{96675AE2-16D5-BAE9-D7FF-73C4EB014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865107" y="1324220"/>
            <a:ext cx="511818" cy="51181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CF67691-1528-8BDC-2D55-D3A66E5C8BD2}"/>
              </a:ext>
            </a:extLst>
          </p:cNvPr>
          <p:cNvSpPr txBox="1"/>
          <p:nvPr/>
        </p:nvSpPr>
        <p:spPr>
          <a:xfrm>
            <a:off x="8597518" y="2640827"/>
            <a:ext cx="3046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Constant</a:t>
            </a:r>
            <a:r>
              <a:rPr lang="en-US" noProof="0" dirty="0"/>
              <a:t> gradient based on the score minus a threshold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3CA3C69-BC94-1ADC-1E38-FE40DE95093A}"/>
              </a:ext>
            </a:extLst>
          </p:cNvPr>
          <p:cNvSpPr/>
          <p:nvPr/>
        </p:nvSpPr>
        <p:spPr>
          <a:xfrm>
            <a:off x="4952997" y="3708196"/>
            <a:ext cx="3191933" cy="2219271"/>
          </a:xfrm>
          <a:prstGeom prst="roundRect">
            <a:avLst>
              <a:gd name="adj" fmla="val 19719"/>
            </a:avLst>
          </a:prstGeom>
          <a:solidFill>
            <a:srgbClr val="FDFDFD"/>
          </a:solidFill>
          <a:ln w="3810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noProof="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6D1CAE-8100-4CC4-5E5D-417397680397}"/>
              </a:ext>
            </a:extLst>
          </p:cNvPr>
          <p:cNvSpPr txBox="1"/>
          <p:nvPr/>
        </p:nvSpPr>
        <p:spPr>
          <a:xfrm>
            <a:off x="5266262" y="4398434"/>
            <a:ext cx="2565401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400" b="1" noProof="0" dirty="0">
                <a:solidFill>
                  <a:srgbClr val="C9A227"/>
                </a:solidFill>
                <a:latin typeface="IBM Plex Sans"/>
              </a:rPr>
              <a:t>Logarithmic</a:t>
            </a:r>
          </a:p>
        </p:txBody>
      </p:sp>
      <p:pic>
        <p:nvPicPr>
          <p:cNvPr id="32" name="Graphic 31" descr="Germ with solid fill">
            <a:extLst>
              <a:ext uri="{FF2B5EF4-FFF2-40B4-BE49-F238E27FC236}">
                <a16:creationId xmlns:a16="http://schemas.microsoft.com/office/drawing/2014/main" id="{C1D10108-81A9-00D9-6C5A-9A1707DF11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293054" y="3843960"/>
            <a:ext cx="511818" cy="51181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0E0DB34-C982-7CCB-4D5E-AF9A795356BB}"/>
              </a:ext>
            </a:extLst>
          </p:cNvPr>
          <p:cNvSpPr txBox="1"/>
          <p:nvPr/>
        </p:nvSpPr>
        <p:spPr>
          <a:xfrm>
            <a:off x="5025465" y="4932118"/>
            <a:ext cx="3046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Gentle at first </a:t>
            </a:r>
            <a:r>
              <a:rPr lang="en-US" noProof="0" dirty="0"/>
              <a:t>but becomes </a:t>
            </a:r>
            <a:r>
              <a:rPr lang="en-US" b="1" noProof="0" dirty="0"/>
              <a:t>aggressive</a:t>
            </a:r>
            <a:r>
              <a:rPr lang="en-US" noProof="0" dirty="0"/>
              <a:t> as scores approach zero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26CCF2E-FC42-9CA5-4B63-952D41E9BDC2}"/>
              </a:ext>
            </a:extLst>
          </p:cNvPr>
          <p:cNvSpPr/>
          <p:nvPr/>
        </p:nvSpPr>
        <p:spPr>
          <a:xfrm>
            <a:off x="8525050" y="3703644"/>
            <a:ext cx="3191933" cy="2219271"/>
          </a:xfrm>
          <a:prstGeom prst="roundRect">
            <a:avLst>
              <a:gd name="adj" fmla="val 19719"/>
            </a:avLst>
          </a:prstGeom>
          <a:solidFill>
            <a:srgbClr val="FDFDFD"/>
          </a:solidFill>
          <a:ln w="3810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6A0747-0256-82A3-B621-8D9B7BD4F473}"/>
              </a:ext>
            </a:extLst>
          </p:cNvPr>
          <p:cNvSpPr txBox="1"/>
          <p:nvPr/>
        </p:nvSpPr>
        <p:spPr>
          <a:xfrm>
            <a:off x="8562855" y="4486990"/>
            <a:ext cx="3116314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000" b="1" noProof="0" dirty="0">
                <a:solidFill>
                  <a:srgbClr val="C9A227"/>
                </a:solidFill>
                <a:latin typeface="IBM Plex Sans"/>
              </a:rPr>
              <a:t>Squared</a:t>
            </a:r>
          </a:p>
        </p:txBody>
      </p:sp>
      <p:pic>
        <p:nvPicPr>
          <p:cNvPr id="36" name="Graphic 20" descr="Eye dropper with solid fill">
            <a:extLst>
              <a:ext uri="{FF2B5EF4-FFF2-40B4-BE49-F238E27FC236}">
                <a16:creationId xmlns:a16="http://schemas.microsoft.com/office/drawing/2014/main" id="{4E6B51D9-D41F-8A64-357C-45DFEABDAA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865107" y="3839408"/>
            <a:ext cx="511818" cy="51181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8C77B09-9833-875B-E3C5-6483EF5E986F}"/>
              </a:ext>
            </a:extLst>
          </p:cNvPr>
          <p:cNvSpPr txBox="1"/>
          <p:nvPr/>
        </p:nvSpPr>
        <p:spPr>
          <a:xfrm>
            <a:off x="8597516" y="5141295"/>
            <a:ext cx="3046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Heavily</a:t>
            </a:r>
            <a:r>
              <a:rPr lang="en-US" noProof="0" dirty="0"/>
              <a:t> punishes low-quality molecules</a:t>
            </a:r>
            <a:endParaRPr lang="en-US" b="1" noProof="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B17CE0-446E-FB94-7955-6414D176B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528" y="-227753"/>
            <a:ext cx="8873067" cy="1325563"/>
          </a:xfrm>
        </p:spPr>
        <p:txBody>
          <a:bodyPr/>
          <a:lstStyle/>
          <a:p>
            <a:r>
              <a:rPr lang="en-US" b="1" noProof="0" dirty="0">
                <a:solidFill>
                  <a:schemeClr val="bg1"/>
                </a:solidFill>
              </a:rPr>
              <a:t>MoleGuLAR: </a:t>
            </a:r>
            <a:r>
              <a:rPr lang="en-US" b="1" dirty="0">
                <a:solidFill>
                  <a:schemeClr val="bg1"/>
                </a:solidFill>
              </a:rPr>
              <a:t>🏆Reward Strategies</a:t>
            </a:r>
            <a:endParaRPr lang="en-US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361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8EAE6-4320-E52F-37E8-5C5FA893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AC818D-3853-CB31-E639-CFC55AF453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18" t="-879" r="391" b="-601"/>
          <a:stretch/>
        </p:blipFill>
        <p:spPr>
          <a:xfrm>
            <a:off x="-5935061" y="-4415314"/>
            <a:ext cx="11420182" cy="8706730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8CE74514-9122-5538-86B1-5BF0980718CD}"/>
              </a:ext>
            </a:extLst>
          </p:cNvPr>
          <p:cNvSpPr/>
          <p:nvPr/>
        </p:nvSpPr>
        <p:spPr>
          <a:xfrm rot="10800000">
            <a:off x="3318933" y="-1"/>
            <a:ext cx="8873067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5F6A59B-79E1-BD09-E2D9-BA3102605071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DE99A4E-E0F1-FDD3-EF14-11B9B6856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614B16B-2393-00B9-BA1B-9EFB68E95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5050" y="6356350"/>
            <a:ext cx="2743200" cy="365125"/>
          </a:xfrm>
        </p:spPr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14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152D64-4FF0-F776-C252-4E2E8BB7E68C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2CD43521-6B8B-FFD4-C8E7-9CD6064FD708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0F257C5E-1C8F-E199-5D04-A415EC8DBF22}"/>
              </a:ext>
            </a:extLst>
          </p:cNvPr>
          <p:cNvSpPr txBox="1">
            <a:spLocks/>
          </p:cNvSpPr>
          <p:nvPr/>
        </p:nvSpPr>
        <p:spPr>
          <a:xfrm>
            <a:off x="85250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14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10C4C0-89D4-F0D0-0A85-9D71351400AC}"/>
              </a:ext>
            </a:extLst>
          </p:cNvPr>
          <p:cNvGrpSpPr/>
          <p:nvPr/>
        </p:nvGrpSpPr>
        <p:grpSpPr>
          <a:xfrm>
            <a:off x="5056081" y="2215362"/>
            <a:ext cx="3191933" cy="2907019"/>
            <a:chOff x="5056081" y="2215362"/>
            <a:chExt cx="3191933" cy="290701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C542BFB-5EAC-2E72-A0FC-08303AC90DE5}"/>
                </a:ext>
              </a:extLst>
            </p:cNvPr>
            <p:cNvSpPr/>
            <p:nvPr/>
          </p:nvSpPr>
          <p:spPr>
            <a:xfrm>
              <a:off x="5056081" y="2215362"/>
              <a:ext cx="3191933" cy="2907019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576B7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3E67C04-5EE8-9ED4-7E35-0455862FA571}"/>
                </a:ext>
              </a:extLst>
            </p:cNvPr>
            <p:cNvSpPr txBox="1"/>
            <p:nvPr/>
          </p:nvSpPr>
          <p:spPr>
            <a:xfrm>
              <a:off x="5347202" y="2951029"/>
              <a:ext cx="2565401" cy="830997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576B7C"/>
                  </a:solidFill>
                  <a:latin typeface="IBM Plex Sans"/>
                </a:rPr>
                <a:t>Weighted Sum</a:t>
              </a:r>
            </a:p>
            <a:p>
              <a:pPr algn="ctr"/>
              <a:r>
                <a:rPr lang="en-US" sz="2400" b="1" noProof="0" dirty="0">
                  <a:solidFill>
                    <a:srgbClr val="576B7C"/>
                  </a:solidFill>
                  <a:latin typeface="IBM Plex Sans"/>
                </a:rPr>
                <a:t>Rewards</a:t>
              </a:r>
            </a:p>
          </p:txBody>
        </p:sp>
        <p:pic>
          <p:nvPicPr>
            <p:cNvPr id="20" name="Graphic 19" descr="Add with solid fill">
              <a:extLst>
                <a:ext uri="{FF2B5EF4-FFF2-40B4-BE49-F238E27FC236}">
                  <a16:creationId xmlns:a16="http://schemas.microsoft.com/office/drawing/2014/main" id="{A27EB12F-DFB9-60AF-BD30-CDCFD54290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373994" y="2335991"/>
              <a:ext cx="511818" cy="51181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128F687-E72D-CB85-A86D-E28F4C8A06EB}"/>
                </a:ext>
              </a:extLst>
            </p:cNvPr>
            <p:cNvSpPr txBox="1"/>
            <p:nvPr/>
          </p:nvSpPr>
          <p:spPr>
            <a:xfrm>
              <a:off x="5106405" y="3992081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/>
                <a:t>Among all the</a:t>
              </a:r>
              <a:r>
                <a:rPr lang="en-US" noProof="0" dirty="0">
                  <a:solidFill>
                    <a:srgbClr val="576B7C"/>
                  </a:solidFill>
                </a:rPr>
                <a:t> </a:t>
              </a:r>
              <a:r>
                <a:rPr lang="en-US" b="1" noProof="0" dirty="0">
                  <a:solidFill>
                    <a:srgbClr val="576B7C"/>
                  </a:solidFill>
                </a:rPr>
                <a:t>Desired Properties</a:t>
              </a:r>
              <a:r>
                <a:rPr lang="en-US" noProof="0" dirty="0"/>
                <a:t>, with fixed weights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1CD8B68-1C03-712A-EE9B-633EB132EA34}"/>
              </a:ext>
            </a:extLst>
          </p:cNvPr>
          <p:cNvGrpSpPr/>
          <p:nvPr/>
        </p:nvGrpSpPr>
        <p:grpSpPr>
          <a:xfrm>
            <a:off x="8525050" y="2215361"/>
            <a:ext cx="3191933" cy="2907020"/>
            <a:chOff x="8525050" y="2215361"/>
            <a:chExt cx="3191933" cy="2907020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CC8C2C42-F459-ED03-AF00-5E1E135B7BC8}"/>
                </a:ext>
              </a:extLst>
            </p:cNvPr>
            <p:cNvSpPr/>
            <p:nvPr/>
          </p:nvSpPr>
          <p:spPr>
            <a:xfrm>
              <a:off x="8525050" y="2215361"/>
              <a:ext cx="3191933" cy="2907020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576B7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87B68C5-B021-48E3-E4C8-994E55FC77A5}"/>
                </a:ext>
              </a:extLst>
            </p:cNvPr>
            <p:cNvSpPr txBox="1"/>
            <p:nvPr/>
          </p:nvSpPr>
          <p:spPr>
            <a:xfrm>
              <a:off x="8838313" y="2946546"/>
              <a:ext cx="2565401" cy="830997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576B7C"/>
                  </a:solidFill>
                  <a:latin typeface="IBM Plex Sans"/>
                </a:rPr>
                <a:t>Alternating Rewards</a:t>
              </a:r>
            </a:p>
          </p:txBody>
        </p:sp>
        <p:pic>
          <p:nvPicPr>
            <p:cNvPr id="26" name="Graphic 20" descr="Repeat with solid fill">
              <a:extLst>
                <a:ext uri="{FF2B5EF4-FFF2-40B4-BE49-F238E27FC236}">
                  <a16:creationId xmlns:a16="http://schemas.microsoft.com/office/drawing/2014/main" id="{ADD5E73E-1812-C723-BF21-7CFDD6F3A8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865107" y="2335991"/>
              <a:ext cx="511818" cy="511818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0EF7A68-D32B-7332-FBBF-A5F349FA8760}"/>
                </a:ext>
              </a:extLst>
            </p:cNvPr>
            <p:cNvSpPr txBox="1"/>
            <p:nvPr/>
          </p:nvSpPr>
          <p:spPr>
            <a:xfrm>
              <a:off x="8561283" y="3908563"/>
              <a:ext cx="311945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/>
                <a:t>All weights are set to </a:t>
              </a:r>
              <a:r>
                <a:rPr lang="en-US" b="1" noProof="0" dirty="0">
                  <a:solidFill>
                    <a:srgbClr val="576B7C"/>
                  </a:solidFill>
                </a:rPr>
                <a:t>0</a:t>
              </a:r>
              <a:r>
                <a:rPr lang="en-US" noProof="0" dirty="0"/>
                <a:t> except for </a:t>
              </a:r>
              <a:r>
                <a:rPr lang="en-US" b="1" noProof="0" dirty="0">
                  <a:solidFill>
                    <a:srgbClr val="576B7C"/>
                  </a:solidFill>
                </a:rPr>
                <a:t>one</a:t>
              </a:r>
              <a:r>
                <a:rPr lang="en-US" noProof="0" dirty="0"/>
                <a:t> specific property, which is cycled at regular intervals</a:t>
              </a: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60640DDF-78E2-4F3D-1669-52CFA6B60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528" y="-227753"/>
            <a:ext cx="8873067" cy="1325563"/>
          </a:xfrm>
        </p:spPr>
        <p:txBody>
          <a:bodyPr/>
          <a:lstStyle/>
          <a:p>
            <a:r>
              <a:rPr lang="en-US" b="1" noProof="0" dirty="0">
                <a:solidFill>
                  <a:schemeClr val="bg1"/>
                </a:solidFill>
              </a:rPr>
              <a:t>MoleGuLAR: </a:t>
            </a:r>
            <a:r>
              <a:rPr lang="en-US" b="1" dirty="0">
                <a:solidFill>
                  <a:schemeClr val="bg1"/>
                </a:solidFill>
              </a:rPr>
              <a:t>🏆Reward Strategies</a:t>
            </a:r>
            <a:endParaRPr lang="en-US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01221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47E98-DA17-BD0F-D2C9-EEAB04C33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867018-4C7C-9032-90E1-A4B84F31F2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18" t="-879" r="391" b="-601"/>
          <a:stretch/>
        </p:blipFill>
        <p:spPr>
          <a:xfrm>
            <a:off x="-7381582" y="-6138859"/>
            <a:ext cx="11420182" cy="8706730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916C9302-C5D4-46D1-0737-A54FA7F1A9B6}"/>
              </a:ext>
            </a:extLst>
          </p:cNvPr>
          <p:cNvSpPr/>
          <p:nvPr/>
        </p:nvSpPr>
        <p:spPr>
          <a:xfrm rot="10800000">
            <a:off x="3318933" y="-1"/>
            <a:ext cx="8873067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0ADC52-F3EF-2FBD-8AC8-970256D7E840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2472F5A-09AB-88C6-EF11-143B5BB15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231E334-9EF1-A855-6F84-4DB0CA62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5050" y="6356350"/>
            <a:ext cx="2743200" cy="365125"/>
          </a:xfrm>
        </p:spPr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15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9ECD85-C19B-7030-BA33-91D01597171C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24732C72-4A43-2E2C-23B8-CBD94A7D716F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91C320F1-4611-9070-AA9A-D764513C2386}"/>
              </a:ext>
            </a:extLst>
          </p:cNvPr>
          <p:cNvSpPr txBox="1">
            <a:spLocks/>
          </p:cNvSpPr>
          <p:nvPr/>
        </p:nvSpPr>
        <p:spPr>
          <a:xfrm>
            <a:off x="85250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15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0C6CD19-3AB7-E6E3-76C2-070A8B22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549" y="-215063"/>
            <a:ext cx="9176171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MoleGuLAR: 🏆Reward Strategies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101AF09-12E5-D546-E1C2-3C156E2E7322}"/>
              </a:ext>
            </a:extLst>
          </p:cNvPr>
          <p:cNvGrpSpPr/>
          <p:nvPr/>
        </p:nvGrpSpPr>
        <p:grpSpPr>
          <a:xfrm>
            <a:off x="76200" y="2723221"/>
            <a:ext cx="3191933" cy="2907019"/>
            <a:chOff x="5056081" y="2215362"/>
            <a:chExt cx="3191933" cy="290701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76079EF-7E28-06C1-A5BE-3BF494252569}"/>
                </a:ext>
              </a:extLst>
            </p:cNvPr>
            <p:cNvSpPr/>
            <p:nvPr/>
          </p:nvSpPr>
          <p:spPr>
            <a:xfrm>
              <a:off x="5056081" y="2215362"/>
              <a:ext cx="3191933" cy="2907019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576B7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31CA230-5AB5-51C2-198B-1FEC0A8A96AC}"/>
                </a:ext>
              </a:extLst>
            </p:cNvPr>
            <p:cNvSpPr txBox="1"/>
            <p:nvPr/>
          </p:nvSpPr>
          <p:spPr>
            <a:xfrm>
              <a:off x="5347202" y="2951029"/>
              <a:ext cx="2565401" cy="830997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576B7C"/>
                  </a:solidFill>
                  <a:latin typeface="IBM Plex Sans"/>
                </a:rPr>
                <a:t>Weighted Sum</a:t>
              </a:r>
            </a:p>
            <a:p>
              <a:pPr algn="ctr"/>
              <a:r>
                <a:rPr lang="en-US" sz="2400" b="1" noProof="0" dirty="0">
                  <a:solidFill>
                    <a:srgbClr val="576B7C"/>
                  </a:solidFill>
                  <a:latin typeface="IBM Plex Sans"/>
                </a:rPr>
                <a:t>Rewards</a:t>
              </a:r>
            </a:p>
          </p:txBody>
        </p:sp>
        <p:pic>
          <p:nvPicPr>
            <p:cNvPr id="21" name="Graphic 20" descr="Add with solid fill">
              <a:extLst>
                <a:ext uri="{FF2B5EF4-FFF2-40B4-BE49-F238E27FC236}">
                  <a16:creationId xmlns:a16="http://schemas.microsoft.com/office/drawing/2014/main" id="{39337401-4A1F-213F-699B-2D2C0B3934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373994" y="2335991"/>
              <a:ext cx="511818" cy="511818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0BC596B-B401-BFD3-32B3-69D674C6017F}"/>
                </a:ext>
              </a:extLst>
            </p:cNvPr>
            <p:cNvSpPr txBox="1"/>
            <p:nvPr/>
          </p:nvSpPr>
          <p:spPr>
            <a:xfrm>
              <a:off x="5106405" y="3992081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/>
                <a:t>Among all the</a:t>
              </a:r>
              <a:r>
                <a:rPr lang="en-US" noProof="0" dirty="0">
                  <a:solidFill>
                    <a:srgbClr val="576B7C"/>
                  </a:solidFill>
                </a:rPr>
                <a:t> </a:t>
              </a:r>
              <a:r>
                <a:rPr lang="en-US" b="1" noProof="0" dirty="0">
                  <a:solidFill>
                    <a:srgbClr val="576B7C"/>
                  </a:solidFill>
                </a:rPr>
                <a:t>Desired Properties</a:t>
              </a:r>
              <a:r>
                <a:rPr lang="en-US" noProof="0" dirty="0"/>
                <a:t>, with fixed weights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FC8E0C0-7E23-CDFF-7736-3D8C66DA8BCB}"/>
              </a:ext>
            </a:extLst>
          </p:cNvPr>
          <p:cNvGrpSpPr/>
          <p:nvPr/>
        </p:nvGrpSpPr>
        <p:grpSpPr>
          <a:xfrm>
            <a:off x="-3451144" y="2723220"/>
            <a:ext cx="3191933" cy="2907020"/>
            <a:chOff x="8525050" y="2215361"/>
            <a:chExt cx="3191933" cy="290702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910AAE9-2B15-75C1-E0EA-0FA58475A0C1}"/>
                </a:ext>
              </a:extLst>
            </p:cNvPr>
            <p:cNvSpPr/>
            <p:nvPr/>
          </p:nvSpPr>
          <p:spPr>
            <a:xfrm>
              <a:off x="8525050" y="2215361"/>
              <a:ext cx="3191933" cy="2907020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576B7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C885FCE-5C3D-0B79-F385-576C660F6552}"/>
                </a:ext>
              </a:extLst>
            </p:cNvPr>
            <p:cNvSpPr txBox="1"/>
            <p:nvPr/>
          </p:nvSpPr>
          <p:spPr>
            <a:xfrm>
              <a:off x="8838313" y="2946546"/>
              <a:ext cx="2565401" cy="830997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576B7C"/>
                  </a:solidFill>
                  <a:latin typeface="IBM Plex Sans"/>
                </a:rPr>
                <a:t>Alternating Rewards</a:t>
              </a:r>
            </a:p>
          </p:txBody>
        </p:sp>
        <p:pic>
          <p:nvPicPr>
            <p:cNvPr id="29" name="Graphic 20" descr="Repeat with solid fill">
              <a:extLst>
                <a:ext uri="{FF2B5EF4-FFF2-40B4-BE49-F238E27FC236}">
                  <a16:creationId xmlns:a16="http://schemas.microsoft.com/office/drawing/2014/main" id="{8E6F90F5-A279-8B91-2D27-8C1ADBABC2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865107" y="2335991"/>
              <a:ext cx="511818" cy="511818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E2F93D2-AA7E-AE6D-DF6B-DC6BA5AD9210}"/>
                </a:ext>
              </a:extLst>
            </p:cNvPr>
            <p:cNvSpPr txBox="1"/>
            <p:nvPr/>
          </p:nvSpPr>
          <p:spPr>
            <a:xfrm>
              <a:off x="8561283" y="3908563"/>
              <a:ext cx="311945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/>
                <a:t>All weights are set to </a:t>
              </a:r>
              <a:r>
                <a:rPr lang="en-US" b="1" noProof="0" dirty="0">
                  <a:solidFill>
                    <a:srgbClr val="576B7C"/>
                  </a:solidFill>
                </a:rPr>
                <a:t>0</a:t>
              </a:r>
              <a:r>
                <a:rPr lang="en-US" noProof="0" dirty="0"/>
                <a:t> except for </a:t>
              </a:r>
              <a:r>
                <a:rPr lang="en-US" b="1" noProof="0" dirty="0">
                  <a:solidFill>
                    <a:srgbClr val="576B7C"/>
                  </a:solidFill>
                </a:rPr>
                <a:t>one</a:t>
              </a:r>
              <a:r>
                <a:rPr lang="en-US" noProof="0" dirty="0"/>
                <a:t> specific property, which is cycled at regular intervals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4B55CA5-9FBC-5527-53D6-366C60A7D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105" y="1134813"/>
            <a:ext cx="8401158" cy="461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249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A6F32-A69B-7702-B5B3-ECAFA755A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2BFACB-688D-EFAA-91DB-396A193B12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18" t="-879" r="391" b="-601"/>
          <a:stretch/>
        </p:blipFill>
        <p:spPr>
          <a:xfrm>
            <a:off x="-7381582" y="-6138859"/>
            <a:ext cx="11420182" cy="8706730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3FA11FF1-3AF3-5EAE-8BBB-82E47184F48B}"/>
              </a:ext>
            </a:extLst>
          </p:cNvPr>
          <p:cNvSpPr/>
          <p:nvPr/>
        </p:nvSpPr>
        <p:spPr>
          <a:xfrm rot="10800000">
            <a:off x="3318933" y="-1"/>
            <a:ext cx="8873067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0B3AFD-FF94-00B3-5BF3-86F396B2831C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882563D6-F987-8660-94B4-996D13E4E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4F109A5-0D2B-B93F-3C32-274A0BAA7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5050" y="6356350"/>
            <a:ext cx="2743200" cy="365125"/>
          </a:xfrm>
        </p:spPr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16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419712-2831-C15C-978F-653FE86451FA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B9BD9202-AF2D-532A-F42B-C0E24F71C785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BF67E8B3-1021-BFF3-8706-3655403BBCA9}"/>
              </a:ext>
            </a:extLst>
          </p:cNvPr>
          <p:cNvSpPr txBox="1">
            <a:spLocks/>
          </p:cNvSpPr>
          <p:nvPr/>
        </p:nvSpPr>
        <p:spPr>
          <a:xfrm>
            <a:off x="85250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16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1722928-F0D4-20B8-58D0-DEEA04761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549" y="-215063"/>
            <a:ext cx="9176171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MoleGuLAR: 🏆Reward Strategies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FDE93D8-BFC1-6F7F-8FB6-B3F057E8D13A}"/>
              </a:ext>
            </a:extLst>
          </p:cNvPr>
          <p:cNvGrpSpPr/>
          <p:nvPr/>
        </p:nvGrpSpPr>
        <p:grpSpPr>
          <a:xfrm>
            <a:off x="-3474335" y="2709732"/>
            <a:ext cx="3191933" cy="2907019"/>
            <a:chOff x="5056081" y="2215362"/>
            <a:chExt cx="3191933" cy="290701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C42C1AD-9F82-6377-23F4-E6638CCBC25E}"/>
                </a:ext>
              </a:extLst>
            </p:cNvPr>
            <p:cNvSpPr/>
            <p:nvPr/>
          </p:nvSpPr>
          <p:spPr>
            <a:xfrm>
              <a:off x="5056081" y="2215362"/>
              <a:ext cx="3191933" cy="2907019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576B7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17E6CD4-499F-F31C-4A60-DF086D72748D}"/>
                </a:ext>
              </a:extLst>
            </p:cNvPr>
            <p:cNvSpPr txBox="1"/>
            <p:nvPr/>
          </p:nvSpPr>
          <p:spPr>
            <a:xfrm>
              <a:off x="5347202" y="2951029"/>
              <a:ext cx="2565401" cy="830997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576B7C"/>
                  </a:solidFill>
                  <a:latin typeface="IBM Plex Sans"/>
                </a:rPr>
                <a:t>Weighted Sum</a:t>
              </a:r>
            </a:p>
            <a:p>
              <a:pPr algn="ctr"/>
              <a:r>
                <a:rPr lang="en-US" sz="2400" b="1" noProof="0" dirty="0">
                  <a:solidFill>
                    <a:srgbClr val="576B7C"/>
                  </a:solidFill>
                  <a:latin typeface="IBM Plex Sans"/>
                </a:rPr>
                <a:t>Rewards</a:t>
              </a:r>
            </a:p>
          </p:txBody>
        </p:sp>
        <p:pic>
          <p:nvPicPr>
            <p:cNvPr id="21" name="Graphic 20" descr="Add with solid fill">
              <a:extLst>
                <a:ext uri="{FF2B5EF4-FFF2-40B4-BE49-F238E27FC236}">
                  <a16:creationId xmlns:a16="http://schemas.microsoft.com/office/drawing/2014/main" id="{7ED36727-4039-669E-4908-F87C155F4A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373994" y="2335991"/>
              <a:ext cx="511818" cy="511818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08EFD-EA04-D486-07F9-6F99E94540C1}"/>
                </a:ext>
              </a:extLst>
            </p:cNvPr>
            <p:cNvSpPr txBox="1"/>
            <p:nvPr/>
          </p:nvSpPr>
          <p:spPr>
            <a:xfrm>
              <a:off x="5106405" y="3992081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/>
                <a:t>Among all the</a:t>
              </a:r>
              <a:r>
                <a:rPr lang="en-US" noProof="0" dirty="0">
                  <a:solidFill>
                    <a:srgbClr val="576B7C"/>
                  </a:solidFill>
                </a:rPr>
                <a:t> </a:t>
              </a:r>
              <a:r>
                <a:rPr lang="en-US" b="1" noProof="0" dirty="0">
                  <a:solidFill>
                    <a:srgbClr val="576B7C"/>
                  </a:solidFill>
                </a:rPr>
                <a:t>Desired Properties</a:t>
              </a:r>
              <a:r>
                <a:rPr lang="en-US" noProof="0" dirty="0"/>
                <a:t>, with fixed weights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13ACDA3-B365-6B88-8F1C-401B8A16371C}"/>
              </a:ext>
            </a:extLst>
          </p:cNvPr>
          <p:cNvGrpSpPr/>
          <p:nvPr/>
        </p:nvGrpSpPr>
        <p:grpSpPr>
          <a:xfrm>
            <a:off x="127000" y="2694341"/>
            <a:ext cx="3191933" cy="2907020"/>
            <a:chOff x="8525050" y="2215361"/>
            <a:chExt cx="3191933" cy="290702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AAC3B3F1-4868-802E-2C78-7956D3A99B59}"/>
                </a:ext>
              </a:extLst>
            </p:cNvPr>
            <p:cNvSpPr/>
            <p:nvPr/>
          </p:nvSpPr>
          <p:spPr>
            <a:xfrm>
              <a:off x="8525050" y="2215361"/>
              <a:ext cx="3191933" cy="2907020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576B7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289F5D9-AA2D-5E34-35AC-3A1C2ED8C305}"/>
                </a:ext>
              </a:extLst>
            </p:cNvPr>
            <p:cNvSpPr txBox="1"/>
            <p:nvPr/>
          </p:nvSpPr>
          <p:spPr>
            <a:xfrm>
              <a:off x="8838313" y="2946546"/>
              <a:ext cx="2565401" cy="830997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576B7C"/>
                  </a:solidFill>
                  <a:latin typeface="IBM Plex Sans"/>
                </a:rPr>
                <a:t>Alternating Rewards</a:t>
              </a:r>
            </a:p>
          </p:txBody>
        </p:sp>
        <p:pic>
          <p:nvPicPr>
            <p:cNvPr id="29" name="Graphic 20" descr="Repeat with solid fill">
              <a:extLst>
                <a:ext uri="{FF2B5EF4-FFF2-40B4-BE49-F238E27FC236}">
                  <a16:creationId xmlns:a16="http://schemas.microsoft.com/office/drawing/2014/main" id="{32EBE9CD-134B-6E1E-6393-A66EEC524E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865107" y="2335991"/>
              <a:ext cx="511818" cy="511818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49A1EA4-C0B5-D44F-492D-28506F8E42E4}"/>
                </a:ext>
              </a:extLst>
            </p:cNvPr>
            <p:cNvSpPr txBox="1"/>
            <p:nvPr/>
          </p:nvSpPr>
          <p:spPr>
            <a:xfrm>
              <a:off x="8561283" y="3908563"/>
              <a:ext cx="311945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/>
                <a:t>All weights are set to </a:t>
              </a:r>
              <a:r>
                <a:rPr lang="en-US" b="1" noProof="0" dirty="0">
                  <a:solidFill>
                    <a:srgbClr val="576B7C"/>
                  </a:solidFill>
                </a:rPr>
                <a:t>0</a:t>
              </a:r>
              <a:r>
                <a:rPr lang="en-US" noProof="0" dirty="0"/>
                <a:t> except for </a:t>
              </a:r>
              <a:r>
                <a:rPr lang="en-US" b="1" noProof="0" dirty="0">
                  <a:solidFill>
                    <a:srgbClr val="576B7C"/>
                  </a:solidFill>
                </a:rPr>
                <a:t>one</a:t>
              </a:r>
              <a:r>
                <a:rPr lang="en-US" noProof="0" dirty="0"/>
                <a:t> specific property, which is cycled at regular intervals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DBCF428-0231-68A1-CF1B-B5C66A093B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7580" y="1132698"/>
            <a:ext cx="8401158" cy="461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872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95FF2-1F3C-DF10-16BD-BF98DC01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49E74B-789A-3A23-E983-47E2ED5A9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4" t="8" r="-159" b="-600"/>
          <a:stretch>
            <a:fillRect/>
          </a:stretch>
        </p:blipFill>
        <p:spPr>
          <a:xfrm>
            <a:off x="6359818" y="-4318000"/>
            <a:ext cx="11750382" cy="8630524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F7E2F80E-21A6-D0E9-DCB2-3624D899837E}"/>
              </a:ext>
            </a:extLst>
          </p:cNvPr>
          <p:cNvSpPr/>
          <p:nvPr/>
        </p:nvSpPr>
        <p:spPr>
          <a:xfrm rot="10800000">
            <a:off x="-4" y="-7"/>
            <a:ext cx="8153403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B359CC6-ACEE-3D19-1850-641D630A6D7E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21648C2-F60A-0E56-4D9C-DD8A04D9C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E33A3F2-340B-35C5-E965-CC45412F7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17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2456E3F-FFEB-B60B-4344-55F80DF22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27759"/>
            <a:ext cx="8153403" cy="1325563"/>
          </a:xfrm>
        </p:spPr>
        <p:txBody>
          <a:bodyPr/>
          <a:lstStyle/>
          <a:p>
            <a:r>
              <a:rPr lang="en-US" b="1" noProof="0" dirty="0">
                <a:solidFill>
                  <a:schemeClr val="bg1"/>
                </a:solidFill>
              </a:rPr>
              <a:t>🧬MoleGuLAR: </a:t>
            </a:r>
            <a:r>
              <a:rPr lang="en-US" noProof="0" dirty="0">
                <a:solidFill>
                  <a:schemeClr val="bg1"/>
                </a:solidFill>
              </a:rPr>
              <a:t>🤖</a:t>
            </a:r>
            <a:r>
              <a:rPr lang="en-US" b="1" noProof="0" dirty="0">
                <a:solidFill>
                  <a:schemeClr val="bg1"/>
                </a:solidFill>
              </a:rPr>
              <a:t>The RL Model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9821B6-7382-19A6-BC34-5C0A1F74529C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884FBC0C-909E-0284-7159-13CDDEE86B82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5DDCC8A1-9D2F-F021-4E02-9A644F0F884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17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589A0A-CB6C-9C00-15DE-13D992C97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990" y="2444818"/>
            <a:ext cx="5391166" cy="3475064"/>
          </a:xfrm>
          <a:prstGeom prst="rect">
            <a:avLst/>
          </a:prstGeom>
        </p:spPr>
      </p:pic>
      <p:pic>
        <p:nvPicPr>
          <p:cNvPr id="2" name="Picture 2" descr="undefined">
            <a:extLst>
              <a:ext uri="{FF2B5EF4-FFF2-40B4-BE49-F238E27FC236}">
                <a16:creationId xmlns:a16="http://schemas.microsoft.com/office/drawing/2014/main" id="{0A8349DA-EFC6-04CA-3620-49A9772F00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699" b="1990"/>
          <a:stretch>
            <a:fillRect/>
          </a:stretch>
        </p:blipFill>
        <p:spPr bwMode="auto">
          <a:xfrm>
            <a:off x="205409" y="1214226"/>
            <a:ext cx="5176530" cy="618067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</a:ln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Curved Right 4">
            <a:extLst>
              <a:ext uri="{FF2B5EF4-FFF2-40B4-BE49-F238E27FC236}">
                <a16:creationId xmlns:a16="http://schemas.microsoft.com/office/drawing/2014/main" id="{298E78A2-B713-822F-9FAD-7A8121EF254E}"/>
              </a:ext>
            </a:extLst>
          </p:cNvPr>
          <p:cNvSpPr/>
          <p:nvPr/>
        </p:nvSpPr>
        <p:spPr>
          <a:xfrm rot="19681607">
            <a:off x="772857" y="2241724"/>
            <a:ext cx="614597" cy="1918741"/>
          </a:xfrm>
          <a:prstGeom prst="curvedRightArrow">
            <a:avLst>
              <a:gd name="adj1" fmla="val 20175"/>
              <a:gd name="adj2" fmla="val 41322"/>
              <a:gd name="adj3" fmla="val 25000"/>
            </a:avLst>
          </a:prstGeom>
          <a:solidFill>
            <a:srgbClr val="96BF0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674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1672A-AE53-F199-4AE5-74F994239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4162252-F1D4-AFE8-1C9F-157631501FC4}"/>
              </a:ext>
            </a:extLst>
          </p:cNvPr>
          <p:cNvCxnSpPr>
            <a:cxnSpLocks/>
          </p:cNvCxnSpPr>
          <p:nvPr/>
        </p:nvCxnSpPr>
        <p:spPr>
          <a:xfrm>
            <a:off x="6000750" y="3748431"/>
            <a:ext cx="0" cy="1079046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540245F-F151-8891-50A8-6C74B4D5F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4" t="8" r="-159" b="-600"/>
          <a:stretch>
            <a:fillRect/>
          </a:stretch>
        </p:blipFill>
        <p:spPr>
          <a:xfrm>
            <a:off x="6359818" y="-4318000"/>
            <a:ext cx="11750382" cy="8630524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CE58FC4D-35A6-16EF-1250-F20404C6B266}"/>
              </a:ext>
            </a:extLst>
          </p:cNvPr>
          <p:cNvSpPr/>
          <p:nvPr/>
        </p:nvSpPr>
        <p:spPr>
          <a:xfrm rot="10800000">
            <a:off x="-6" y="-8"/>
            <a:ext cx="8337977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584EC1-F0D1-EAA6-F9E3-6505FFF1AE3C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CABD7BB-AB83-E8DB-4E46-800B5DE99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3E92D06-7840-6A86-A34A-5E0A7D52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18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D17FBCF-FF00-A81C-8766-97EF11693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1" y="-227754"/>
            <a:ext cx="8260251" cy="1325563"/>
          </a:xfrm>
        </p:spPr>
        <p:txBody>
          <a:bodyPr/>
          <a:lstStyle/>
          <a:p>
            <a:r>
              <a:rPr lang="en-US" noProof="0" dirty="0">
                <a:solidFill>
                  <a:schemeClr val="bg1"/>
                </a:solidFill>
              </a:rPr>
              <a:t>🤖</a:t>
            </a:r>
            <a:r>
              <a:rPr lang="en-US" b="1" noProof="0" dirty="0">
                <a:solidFill>
                  <a:schemeClr val="bg1"/>
                </a:solidFill>
              </a:rPr>
              <a:t>The RL Model : </a:t>
            </a:r>
            <a:r>
              <a:rPr lang="en-US" noProof="0" dirty="0">
                <a:solidFill>
                  <a:schemeClr val="bg1"/>
                </a:solidFill>
              </a:rPr>
              <a:t>💪</a:t>
            </a:r>
            <a:r>
              <a:rPr lang="en-US" b="1" noProof="0" dirty="0">
                <a:solidFill>
                  <a:schemeClr val="bg1"/>
                </a:solidFill>
              </a:rPr>
              <a:t>REINFORCE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B0B18C-4744-FE3D-44D6-9018F7296A37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4B826E4D-0BD4-A686-3789-828D2CACF1A0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E2A0A61A-7239-D4FB-EC56-BC352871897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18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7D06C0C-5932-76D5-573B-587856A05CBC}"/>
              </a:ext>
            </a:extLst>
          </p:cNvPr>
          <p:cNvGrpSpPr/>
          <p:nvPr/>
        </p:nvGrpSpPr>
        <p:grpSpPr>
          <a:xfrm>
            <a:off x="846666" y="1397444"/>
            <a:ext cx="5377686" cy="903985"/>
            <a:chOff x="982132" y="1169690"/>
            <a:chExt cx="5377686" cy="90398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C3DC7DE-6C15-EB4C-5B76-6AE22D9384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86968" y="1226981"/>
              <a:ext cx="5372850" cy="846694"/>
            </a:xfrm>
            <a:prstGeom prst="rect">
              <a:avLst/>
            </a:prstGeom>
          </p:spPr>
        </p:pic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869DADE-32FA-9A9F-959A-B9C804476F32}"/>
                </a:ext>
              </a:extLst>
            </p:cNvPr>
            <p:cNvSpPr/>
            <p:nvPr/>
          </p:nvSpPr>
          <p:spPr>
            <a:xfrm>
              <a:off x="982132" y="1169690"/>
              <a:ext cx="5372849" cy="881983"/>
            </a:xfrm>
            <a:prstGeom prst="roundRect">
              <a:avLst/>
            </a:prstGeom>
            <a:noFill/>
            <a:ln w="38100">
              <a:solidFill>
                <a:srgbClr val="F0A7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E18A34F-872E-B77A-97EF-3700C2FFC3AC}"/>
              </a:ext>
            </a:extLst>
          </p:cNvPr>
          <p:cNvSpPr txBox="1"/>
          <p:nvPr/>
        </p:nvSpPr>
        <p:spPr>
          <a:xfrm>
            <a:off x="2030477" y="1039613"/>
            <a:ext cx="2962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F0A76D"/>
                </a:solidFill>
              </a:rPr>
              <a:t>Expected Reward Function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3420EB-38BC-E85B-1153-E505DC76CDFD}"/>
              </a:ext>
            </a:extLst>
          </p:cNvPr>
          <p:cNvGrpSpPr/>
          <p:nvPr/>
        </p:nvGrpSpPr>
        <p:grpSpPr>
          <a:xfrm>
            <a:off x="455504" y="3040195"/>
            <a:ext cx="6126482" cy="708236"/>
            <a:chOff x="626532" y="2855713"/>
            <a:chExt cx="6126482" cy="70823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1869D4-F4BF-1B6C-2533-5A6BFEDAE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5661" y="2887491"/>
              <a:ext cx="6057353" cy="658549"/>
            </a:xfrm>
            <a:prstGeom prst="rect">
              <a:avLst/>
            </a:prstGeom>
          </p:spPr>
        </p:pic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FF95137-7424-31EA-1372-705A4036B7B2}"/>
                </a:ext>
              </a:extLst>
            </p:cNvPr>
            <p:cNvSpPr/>
            <p:nvPr/>
          </p:nvSpPr>
          <p:spPr>
            <a:xfrm>
              <a:off x="626532" y="2855713"/>
              <a:ext cx="6126482" cy="708236"/>
            </a:xfrm>
            <a:prstGeom prst="roundRect">
              <a:avLst/>
            </a:prstGeom>
            <a:noFill/>
            <a:ln w="38100">
              <a:solidFill>
                <a:srgbClr val="F0A7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FDC59B5-7006-BEF5-545F-CE727808B257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>
          <a:xfrm flipH="1">
            <a:off x="3518745" y="2279427"/>
            <a:ext cx="14346" cy="760768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A05C065-5296-FF1E-B197-F8CE6C176F40}"/>
              </a:ext>
            </a:extLst>
          </p:cNvPr>
          <p:cNvSpPr txBox="1"/>
          <p:nvPr/>
        </p:nvSpPr>
        <p:spPr>
          <a:xfrm>
            <a:off x="2336561" y="2475145"/>
            <a:ext cx="2534986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b="1" i="1" noProof="0" dirty="0"/>
              <a:t>S has exponential size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60FB4DF-9F8D-6B57-0761-1A09FD219466}"/>
              </a:ext>
            </a:extLst>
          </p:cNvPr>
          <p:cNvGrpSpPr/>
          <p:nvPr/>
        </p:nvGrpSpPr>
        <p:grpSpPr>
          <a:xfrm>
            <a:off x="455503" y="4831844"/>
            <a:ext cx="4172532" cy="790191"/>
            <a:chOff x="1471980" y="4885649"/>
            <a:chExt cx="4172532" cy="79019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9886614-EB36-574A-E822-630EFF322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71980" y="4885649"/>
              <a:ext cx="4172532" cy="781159"/>
            </a:xfrm>
            <a:prstGeom prst="rect">
              <a:avLst/>
            </a:prstGeom>
          </p:spPr>
        </p:pic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E1D3F80-C0DA-C081-0C41-B736678EF34A}"/>
                </a:ext>
              </a:extLst>
            </p:cNvPr>
            <p:cNvSpPr/>
            <p:nvPr/>
          </p:nvSpPr>
          <p:spPr>
            <a:xfrm>
              <a:off x="1471980" y="4885649"/>
              <a:ext cx="4172532" cy="790191"/>
            </a:xfrm>
            <a:prstGeom prst="roundRect">
              <a:avLst/>
            </a:prstGeom>
            <a:noFill/>
            <a:ln w="38100">
              <a:solidFill>
                <a:srgbClr val="7CA0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2FAABBE-A3F1-D6B1-8470-78DF60ACA9BF}"/>
              </a:ext>
            </a:extLst>
          </p:cNvPr>
          <p:cNvSpPr txBox="1"/>
          <p:nvPr/>
        </p:nvSpPr>
        <p:spPr>
          <a:xfrm>
            <a:off x="968803" y="4473487"/>
            <a:ext cx="2962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7CA0B5"/>
                </a:solidFill>
              </a:rPr>
              <a:t>Differentiation Rule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8205919-1E2A-9900-72AA-1DA68CF89844}"/>
              </a:ext>
            </a:extLst>
          </p:cNvPr>
          <p:cNvGrpSpPr/>
          <p:nvPr/>
        </p:nvGrpSpPr>
        <p:grpSpPr>
          <a:xfrm>
            <a:off x="5302911" y="4827477"/>
            <a:ext cx="6771911" cy="808100"/>
            <a:chOff x="5312697" y="4571481"/>
            <a:chExt cx="6771911" cy="808100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AB3868C-339F-FA60-E2CA-71C025C61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62515" y="4589390"/>
              <a:ext cx="6672276" cy="790191"/>
            </a:xfrm>
            <a:prstGeom prst="rect">
              <a:avLst/>
            </a:prstGeom>
          </p:spPr>
        </p:pic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EB330A62-FE55-1667-E5F4-95F0FF1B73EF}"/>
                </a:ext>
              </a:extLst>
            </p:cNvPr>
            <p:cNvSpPr/>
            <p:nvPr/>
          </p:nvSpPr>
          <p:spPr>
            <a:xfrm>
              <a:off x="5312697" y="4571481"/>
              <a:ext cx="6771911" cy="797163"/>
            </a:xfrm>
            <a:prstGeom prst="roundRect">
              <a:avLst/>
            </a:prstGeom>
            <a:noFill/>
            <a:ln w="38100">
              <a:solidFill>
                <a:srgbClr val="B6A4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9EB0FEA5-0B84-D295-BACB-1643F45627AF}"/>
              </a:ext>
            </a:extLst>
          </p:cNvPr>
          <p:cNvSpPr txBox="1"/>
          <p:nvPr/>
        </p:nvSpPr>
        <p:spPr>
          <a:xfrm>
            <a:off x="7210290" y="4473487"/>
            <a:ext cx="2962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B6A491"/>
                </a:solidFill>
              </a:rPr>
              <a:t>Gradient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9ADA93C-D198-EDB1-2E83-84CEB7C57777}"/>
              </a:ext>
            </a:extLst>
          </p:cNvPr>
          <p:cNvCxnSpPr>
            <a:cxnSpLocks/>
            <a:stCxn id="27" idx="3"/>
            <a:endCxn id="37" idx="1"/>
          </p:cNvCxnSpPr>
          <p:nvPr/>
        </p:nvCxnSpPr>
        <p:spPr>
          <a:xfrm flipV="1">
            <a:off x="4628035" y="5226059"/>
            <a:ext cx="674876" cy="881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551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5E8D7-ACFC-AE5A-97D4-6E59268D3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58D0FA69-B9D6-0F58-84A7-757190594C74}"/>
              </a:ext>
            </a:extLst>
          </p:cNvPr>
          <p:cNvSpPr/>
          <p:nvPr/>
        </p:nvSpPr>
        <p:spPr>
          <a:xfrm rot="10800000">
            <a:off x="-14" y="-21"/>
            <a:ext cx="7887536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C7F6AD-303A-EE2B-3ACD-FB7A8749741D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C9FA89D-40DE-FB88-97D6-88FCB9A29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119E476-D88A-2710-ADB6-76D8AC7D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19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32C764-F92C-2B45-3F71-CCAF4E4C9D60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C7B55B6B-F77B-7886-9BD9-12F59E535CD2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1A85E682-DC64-7746-5C5E-F6C509FF00B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19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7D4493-1251-141B-DA40-744A11E8F679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84078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noProof="0" dirty="0">
                <a:solidFill>
                  <a:schemeClr val="bg1"/>
                </a:solidFill>
              </a:rPr>
              <a:t>🖥️ SSINet: 🏗️The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261236-BBE5-1868-D63A-118474749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09" y="1682113"/>
            <a:ext cx="11902190" cy="349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338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2ADC0-F47B-898C-846B-7724C9CC9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BF1140A0-F665-F10F-4525-95BC84D5E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09" y="1682113"/>
            <a:ext cx="11902190" cy="34937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3A39F7-DC87-2133-5BE8-F103A4B8341B}"/>
              </a:ext>
            </a:extLst>
          </p:cNvPr>
          <p:cNvSpPr txBox="1"/>
          <p:nvPr/>
        </p:nvSpPr>
        <p:spPr>
          <a:xfrm>
            <a:off x="7626350" y="3238500"/>
            <a:ext cx="368300" cy="5397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93096C-CB4D-0AC0-F24B-B48F3B5818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89209" l="4314" r="93725">
                        <a14:foregroundMark x1="10196" y1="12950" x2="8235" y2="8273"/>
                        <a14:foregroundMark x1="7451" y1="10072" x2="4314" y2="9712"/>
                        <a14:foregroundMark x1="8627" y1="8633" x2="9804" y2="8273"/>
                        <a14:backgroundMark x1="94902" y1="73022" x2="94118" y2="89209"/>
                        <a14:backgroundMark x1="94118" y1="76259" x2="93333" y2="852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626090">
            <a:off x="7717017" y="3178316"/>
            <a:ext cx="417035" cy="45465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AF22195-EE6B-3653-1336-8EF0AC199F18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731B267-C1DE-9E02-DF34-4CA5C177C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C6543FD-0AE1-CA4C-95FA-5D00D1F8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20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7E0F85-3255-D61B-7499-6D739337DBA2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CB413D9E-21EC-79B8-1548-64D5A13B2347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CDCFBB14-D939-6674-1CFF-8F7BF2C7729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20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CADEA51A-7FE2-E133-E1BF-D102BFAEAB11}"/>
              </a:ext>
            </a:extLst>
          </p:cNvPr>
          <p:cNvSpPr/>
          <p:nvPr/>
        </p:nvSpPr>
        <p:spPr>
          <a:xfrm rot="10800000">
            <a:off x="-18" y="-28"/>
            <a:ext cx="11260258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D3128FD3-DECF-E87C-9C34-DD981C55738B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113018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chemeClr val="bg1"/>
                </a:solidFill>
              </a:rPr>
              <a:t>🏋️ </a:t>
            </a:r>
            <a:r>
              <a:rPr lang="en-US" b="1" noProof="0" dirty="0">
                <a:solidFill>
                  <a:schemeClr val="bg1"/>
                </a:solidFill>
              </a:rPr>
              <a:t>The Training: Stage 1🎭 The Actor Network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EFDADB-B7DF-9061-A26D-D729F8166756}"/>
              </a:ext>
            </a:extLst>
          </p:cNvPr>
          <p:cNvCxnSpPr>
            <a:cxnSpLocks/>
          </p:cNvCxnSpPr>
          <p:nvPr/>
        </p:nvCxnSpPr>
        <p:spPr>
          <a:xfrm flipV="1">
            <a:off x="795073" y="1835149"/>
            <a:ext cx="0" cy="655377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8D7477-6BEB-B5B6-5D4B-5E37E6F6365E}"/>
              </a:ext>
            </a:extLst>
          </p:cNvPr>
          <p:cNvCxnSpPr>
            <a:cxnSpLocks/>
          </p:cNvCxnSpPr>
          <p:nvPr/>
        </p:nvCxnSpPr>
        <p:spPr>
          <a:xfrm flipH="1">
            <a:off x="772779" y="1854194"/>
            <a:ext cx="7181248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30D370-906A-DC5F-D3C5-9EB79ED93DF4}"/>
              </a:ext>
            </a:extLst>
          </p:cNvPr>
          <p:cNvCxnSpPr>
            <a:cxnSpLocks/>
          </p:cNvCxnSpPr>
          <p:nvPr/>
        </p:nvCxnSpPr>
        <p:spPr>
          <a:xfrm>
            <a:off x="9345921" y="3610325"/>
            <a:ext cx="719057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ED0BBB8-5611-77F7-0998-198544362E33}"/>
              </a:ext>
            </a:extLst>
          </p:cNvPr>
          <p:cNvCxnSpPr>
            <a:cxnSpLocks/>
          </p:cNvCxnSpPr>
          <p:nvPr/>
        </p:nvCxnSpPr>
        <p:spPr>
          <a:xfrm>
            <a:off x="10418203" y="3603746"/>
            <a:ext cx="712479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036A2E-2BA3-7044-B877-74528A0F9EE7}"/>
              </a:ext>
            </a:extLst>
          </p:cNvPr>
          <p:cNvCxnSpPr>
            <a:cxnSpLocks/>
          </p:cNvCxnSpPr>
          <p:nvPr/>
        </p:nvCxnSpPr>
        <p:spPr>
          <a:xfrm>
            <a:off x="11260240" y="3610325"/>
            <a:ext cx="548019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42C3AEA-F912-4D70-03F4-89BECBF11AEC}"/>
              </a:ext>
            </a:extLst>
          </p:cNvPr>
          <p:cNvCxnSpPr>
            <a:cxnSpLocks/>
          </p:cNvCxnSpPr>
          <p:nvPr/>
        </p:nvCxnSpPr>
        <p:spPr>
          <a:xfrm flipV="1">
            <a:off x="7929333" y="1835148"/>
            <a:ext cx="0" cy="1797227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9DE44C06-66F0-E692-AE1B-D467FA20F2C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874"/>
          <a:stretch>
            <a:fillRect/>
          </a:stretch>
        </p:blipFill>
        <p:spPr>
          <a:xfrm>
            <a:off x="7970838" y="3574817"/>
            <a:ext cx="87314" cy="69702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26DC38E-A5C8-865D-7917-D21DD0BC3CD5}"/>
              </a:ext>
            </a:extLst>
          </p:cNvPr>
          <p:cNvCxnSpPr>
            <a:cxnSpLocks/>
          </p:cNvCxnSpPr>
          <p:nvPr/>
        </p:nvCxnSpPr>
        <p:spPr>
          <a:xfrm>
            <a:off x="7929333" y="3603746"/>
            <a:ext cx="457112" cy="3617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02C9335-4A6B-56BC-7B84-183E43C07C9D}"/>
              </a:ext>
            </a:extLst>
          </p:cNvPr>
          <p:cNvSpPr txBox="1"/>
          <p:nvPr/>
        </p:nvSpPr>
        <p:spPr>
          <a:xfrm>
            <a:off x="8998502" y="5297086"/>
            <a:ext cx="1967396" cy="715089"/>
          </a:xfrm>
          <a:prstGeom prst="roundRect">
            <a:avLst/>
          </a:prstGeom>
          <a:ln w="38100">
            <a:solidFill>
              <a:srgbClr val="8168A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Trained end-to-end with </a:t>
            </a:r>
            <a:r>
              <a:rPr lang="en-US" b="1" noProof="0" dirty="0">
                <a:solidFill>
                  <a:srgbClr val="8168A1"/>
                </a:solidFill>
              </a:rPr>
              <a:t>PPO</a:t>
            </a:r>
          </a:p>
        </p:txBody>
      </p:sp>
    </p:spTree>
    <p:extLst>
      <p:ext uri="{BB962C8B-B14F-4D97-AF65-F5344CB8AC3E}">
        <p14:creationId xmlns:p14="http://schemas.microsoft.com/office/powerpoint/2010/main" val="712421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82315-82FA-FA9A-5FAE-BAA6CB420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66ED48B-DF42-2229-A95C-E52C5372BB46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DB2F63C-033C-D9A6-AA02-0D850112A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54C88DC-4F9C-8B7D-A85C-00E8BA0EC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21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22AEB2-83D9-9AE8-9339-4F196D8E6B89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86AE9617-07A8-6EDE-C0F2-1F0F573A4A28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EAA23B14-2508-4883-4154-FF8B2B4727C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21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5FA706-146C-B99D-BCAC-3A06CB82B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09" y="1224262"/>
            <a:ext cx="11902190" cy="3493774"/>
          </a:xfrm>
          <a:prstGeom prst="rect">
            <a:avLst/>
          </a:prstGeom>
        </p:spPr>
      </p:pic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3A86BA50-D473-B1C8-8496-CA468FE9BFD4}"/>
              </a:ext>
            </a:extLst>
          </p:cNvPr>
          <p:cNvSpPr/>
          <p:nvPr/>
        </p:nvSpPr>
        <p:spPr>
          <a:xfrm rot="10800000">
            <a:off x="-18" y="-26"/>
            <a:ext cx="10868162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6C2FEEA1-5F98-499F-7D4D-8157E0E93451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1096688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noProof="0" dirty="0">
                <a:solidFill>
                  <a:schemeClr val="bg1"/>
                </a:solidFill>
              </a:rPr>
              <a:t>🖥️ SSINet: </a:t>
            </a:r>
            <a:r>
              <a:rPr lang="en-US" noProof="0" dirty="0">
                <a:solidFill>
                  <a:schemeClr val="bg1"/>
                </a:solidFill>
              </a:rPr>
              <a:t>🏋️</a:t>
            </a:r>
            <a:r>
              <a:rPr lang="en-US" b="1" noProof="0" dirty="0">
                <a:solidFill>
                  <a:schemeClr val="bg1"/>
                </a:solidFill>
              </a:rPr>
              <a:t>The Training (Self-Supervised)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D9FC4C-E90D-5794-B3C4-1E00F1A73026}"/>
              </a:ext>
            </a:extLst>
          </p:cNvPr>
          <p:cNvSpPr txBox="1"/>
          <p:nvPr/>
        </p:nvSpPr>
        <p:spPr>
          <a:xfrm>
            <a:off x="8065604" y="4968206"/>
            <a:ext cx="3833191" cy="1021556"/>
          </a:xfrm>
          <a:prstGeom prst="roundRect">
            <a:avLst/>
          </a:prstGeom>
          <a:ln w="38100">
            <a:solidFill>
              <a:srgbClr val="8168A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After convergence becomes the </a:t>
            </a:r>
            <a:r>
              <a:rPr lang="en-US" b="1" noProof="0" dirty="0">
                <a:solidFill>
                  <a:srgbClr val="8168A1"/>
                </a:solidFill>
              </a:rPr>
              <a:t>expert policy </a:t>
            </a:r>
            <a:r>
              <a:rPr lang="en-US" noProof="0" dirty="0"/>
              <a:t>to collect the state-action pairs from the environment</a:t>
            </a:r>
          </a:p>
        </p:txBody>
      </p:sp>
    </p:spTree>
    <p:extLst>
      <p:ext uri="{BB962C8B-B14F-4D97-AF65-F5344CB8AC3E}">
        <p14:creationId xmlns:p14="http://schemas.microsoft.com/office/powerpoint/2010/main" val="3302423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31710-BF5A-0CD6-21E4-604A77F7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59E32E47-B599-DAE4-43F7-AE61B152F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844" y="5046838"/>
            <a:ext cx="6461178" cy="1212252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690CE741-D292-1DAF-CF6E-8B821AFE2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409" y="1394900"/>
            <a:ext cx="11900423" cy="44992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1786BC-7EAE-561E-09BD-3968FC5E3E2C}"/>
              </a:ext>
            </a:extLst>
          </p:cNvPr>
          <p:cNvSpPr txBox="1"/>
          <p:nvPr/>
        </p:nvSpPr>
        <p:spPr>
          <a:xfrm>
            <a:off x="7626350" y="3238500"/>
            <a:ext cx="368300" cy="5397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DB6428-E6EF-9802-E1AC-72132A5B2C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914" b="89209" l="4314" r="93725">
                        <a14:foregroundMark x1="10196" y1="12950" x2="8235" y2="8273"/>
                        <a14:foregroundMark x1="7451" y1="10072" x2="4314" y2="9712"/>
                        <a14:foregroundMark x1="8627" y1="8633" x2="9804" y2="8273"/>
                        <a14:backgroundMark x1="94902" y1="73022" x2="94118" y2="89209"/>
                        <a14:backgroundMark x1="94118" y1="76259" x2="93333" y2="852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835790">
            <a:off x="7553275" y="3382999"/>
            <a:ext cx="417035" cy="45465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58383DE-EB0B-99FC-DB56-2021310C377C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A9F90F73-3672-5C34-3917-6BDE6FDD9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77B03E4-C048-F56B-D6D8-70AA0EC3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22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19D37C-4676-C894-5C1C-6B893D5C367E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E0E54F29-76DD-73C2-7E21-754AD5F09B19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B15E02F6-353F-2BCA-0FDD-AF88C4D1379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22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FC3960-74B9-94B9-FDC5-7DEEE1B79506}"/>
              </a:ext>
            </a:extLst>
          </p:cNvPr>
          <p:cNvCxnSpPr>
            <a:cxnSpLocks/>
          </p:cNvCxnSpPr>
          <p:nvPr/>
        </p:nvCxnSpPr>
        <p:spPr>
          <a:xfrm flipV="1">
            <a:off x="815126" y="4358343"/>
            <a:ext cx="0" cy="749922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CA89B2-796F-43D0-CFD5-F9456FB87BB9}"/>
              </a:ext>
            </a:extLst>
          </p:cNvPr>
          <p:cNvCxnSpPr>
            <a:cxnSpLocks/>
          </p:cNvCxnSpPr>
          <p:nvPr/>
        </p:nvCxnSpPr>
        <p:spPr>
          <a:xfrm flipH="1">
            <a:off x="815126" y="5078657"/>
            <a:ext cx="5145662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07DAAFA-1509-8EB5-1DE7-81F558080600}"/>
              </a:ext>
            </a:extLst>
          </p:cNvPr>
          <p:cNvCxnSpPr>
            <a:cxnSpLocks/>
          </p:cNvCxnSpPr>
          <p:nvPr/>
        </p:nvCxnSpPr>
        <p:spPr>
          <a:xfrm>
            <a:off x="9345921" y="3610325"/>
            <a:ext cx="719057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A7C17C9-3C3D-43C6-E962-1CDD4270CD87}"/>
              </a:ext>
            </a:extLst>
          </p:cNvPr>
          <p:cNvCxnSpPr>
            <a:cxnSpLocks/>
          </p:cNvCxnSpPr>
          <p:nvPr/>
        </p:nvCxnSpPr>
        <p:spPr>
          <a:xfrm>
            <a:off x="10418203" y="3603746"/>
            <a:ext cx="712479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0909C7E-0A7A-1307-8F20-E1604D64C6DE}"/>
              </a:ext>
            </a:extLst>
          </p:cNvPr>
          <p:cNvCxnSpPr>
            <a:cxnSpLocks/>
          </p:cNvCxnSpPr>
          <p:nvPr/>
        </p:nvCxnSpPr>
        <p:spPr>
          <a:xfrm>
            <a:off x="11260240" y="3610325"/>
            <a:ext cx="548019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24A515-4E6C-CB5D-5496-6B4FDB8C926B}"/>
              </a:ext>
            </a:extLst>
          </p:cNvPr>
          <p:cNvCxnSpPr>
            <a:cxnSpLocks/>
          </p:cNvCxnSpPr>
          <p:nvPr/>
        </p:nvCxnSpPr>
        <p:spPr>
          <a:xfrm flipV="1">
            <a:off x="5976780" y="3774017"/>
            <a:ext cx="0" cy="1330015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99A13328-A3A9-D17E-58D3-3A135AB341B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874"/>
          <a:stretch>
            <a:fillRect/>
          </a:stretch>
        </p:blipFill>
        <p:spPr>
          <a:xfrm>
            <a:off x="7970838" y="3574817"/>
            <a:ext cx="87314" cy="69702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B68EBD2-EBE6-ED1D-F0E6-67B704A02DB8}"/>
              </a:ext>
            </a:extLst>
          </p:cNvPr>
          <p:cNvCxnSpPr>
            <a:cxnSpLocks/>
          </p:cNvCxnSpPr>
          <p:nvPr/>
        </p:nvCxnSpPr>
        <p:spPr>
          <a:xfrm>
            <a:off x="6976533" y="3603746"/>
            <a:ext cx="1409912" cy="3617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4CA191FC-FBE2-A3B7-4681-B6CD239FE66A}"/>
              </a:ext>
            </a:extLst>
          </p:cNvPr>
          <p:cNvSpPr/>
          <p:nvPr/>
        </p:nvSpPr>
        <p:spPr>
          <a:xfrm rot="10800000">
            <a:off x="-18" y="-28"/>
            <a:ext cx="11260258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608FFF-EF3D-6F5C-E112-577FFF6056B5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113018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chemeClr val="bg1"/>
                </a:solidFill>
              </a:rPr>
              <a:t>🏋️ </a:t>
            </a:r>
            <a:r>
              <a:rPr lang="en-US" b="1" noProof="0" dirty="0">
                <a:solidFill>
                  <a:schemeClr val="bg1"/>
                </a:solidFill>
              </a:rPr>
              <a:t>The Training: Stage 2 </a:t>
            </a:r>
            <a:r>
              <a:rPr lang="en-US" noProof="0" dirty="0">
                <a:solidFill>
                  <a:schemeClr val="bg1"/>
                </a:solidFill>
              </a:rPr>
              <a:t>🔎</a:t>
            </a:r>
            <a:r>
              <a:rPr lang="en-US" b="1" noProof="0" dirty="0">
                <a:solidFill>
                  <a:schemeClr val="bg1"/>
                </a:solidFill>
              </a:rPr>
              <a:t> The SSINet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44B15F-FA59-1264-CA57-31FB154F9B1B}"/>
              </a:ext>
            </a:extLst>
          </p:cNvPr>
          <p:cNvCxnSpPr>
            <a:cxnSpLocks/>
          </p:cNvCxnSpPr>
          <p:nvPr/>
        </p:nvCxnSpPr>
        <p:spPr>
          <a:xfrm>
            <a:off x="6115898" y="3614177"/>
            <a:ext cx="378035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31DE6B4-77CD-8F12-C52A-E2F81379637F}"/>
              </a:ext>
            </a:extLst>
          </p:cNvPr>
          <p:cNvCxnSpPr>
            <a:cxnSpLocks/>
          </p:cNvCxnSpPr>
          <p:nvPr/>
        </p:nvCxnSpPr>
        <p:spPr>
          <a:xfrm>
            <a:off x="815126" y="3617701"/>
            <a:ext cx="641141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66AAAF6-1CC0-61E5-565F-F72DC318A9CB}"/>
              </a:ext>
            </a:extLst>
          </p:cNvPr>
          <p:cNvCxnSpPr>
            <a:cxnSpLocks/>
          </p:cNvCxnSpPr>
          <p:nvPr/>
        </p:nvCxnSpPr>
        <p:spPr>
          <a:xfrm>
            <a:off x="2398392" y="3610324"/>
            <a:ext cx="429475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76F7B85-75F0-829C-34CF-DC7C1F4010D3}"/>
              </a:ext>
            </a:extLst>
          </p:cNvPr>
          <p:cNvCxnSpPr>
            <a:cxnSpLocks/>
          </p:cNvCxnSpPr>
          <p:nvPr/>
        </p:nvCxnSpPr>
        <p:spPr>
          <a:xfrm flipV="1">
            <a:off x="3727658" y="3603746"/>
            <a:ext cx="615742" cy="11991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3665406-2B30-F151-06D9-8091C7AE1E79}"/>
              </a:ext>
            </a:extLst>
          </p:cNvPr>
          <p:cNvCxnSpPr>
            <a:cxnSpLocks/>
          </p:cNvCxnSpPr>
          <p:nvPr/>
        </p:nvCxnSpPr>
        <p:spPr>
          <a:xfrm>
            <a:off x="4730958" y="3610324"/>
            <a:ext cx="1077175" cy="7377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B53B1824-BFF2-23C4-F0A5-56B9D4D07EAB}"/>
              </a:ext>
            </a:extLst>
          </p:cNvPr>
          <p:cNvSpPr/>
          <p:nvPr/>
        </p:nvSpPr>
        <p:spPr>
          <a:xfrm>
            <a:off x="7799942" y="1421175"/>
            <a:ext cx="3791458" cy="3871127"/>
          </a:xfrm>
          <a:prstGeom prst="roundRect">
            <a:avLst>
              <a:gd name="adj" fmla="val 7950"/>
            </a:avLst>
          </a:prstGeom>
          <a:noFill/>
          <a:ln w="57150">
            <a:solidFill>
              <a:srgbClr val="00C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0044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5A593-2BC8-2082-7B96-2A5CF826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ECED962B-FE54-AACF-BA2C-37D8C3580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09" y="1682113"/>
            <a:ext cx="11902190" cy="34937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6B7F1C-EC13-92CB-929A-60D8C4728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844" y="5046838"/>
            <a:ext cx="6461178" cy="12122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DF0416-F4BF-3BD9-8C43-DA193CC76CF4}"/>
              </a:ext>
            </a:extLst>
          </p:cNvPr>
          <p:cNvSpPr txBox="1"/>
          <p:nvPr/>
        </p:nvSpPr>
        <p:spPr>
          <a:xfrm>
            <a:off x="7626350" y="3238500"/>
            <a:ext cx="368300" cy="5397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7C9FC4-518B-9E29-5FD1-4832F88BE69F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79F143D-AC0C-B2F9-319B-1FF57770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D4E36FA-5F7F-3BE8-EDB2-1BBCEC4D5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23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DCCCA7-ED0F-A7DB-ECBD-01D34F874158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98B1A192-90F1-A732-D908-0A47402C89F7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FA4CB537-8838-977D-E416-EA84299D221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23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C086025-6215-40BC-DD14-87FEFA0E3925}"/>
              </a:ext>
            </a:extLst>
          </p:cNvPr>
          <p:cNvCxnSpPr>
            <a:cxnSpLocks/>
          </p:cNvCxnSpPr>
          <p:nvPr/>
        </p:nvCxnSpPr>
        <p:spPr>
          <a:xfrm flipH="1">
            <a:off x="9328987" y="3610325"/>
            <a:ext cx="719057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8483697-83B9-25DD-06BD-84DBEC78380F}"/>
              </a:ext>
            </a:extLst>
          </p:cNvPr>
          <p:cNvCxnSpPr>
            <a:cxnSpLocks/>
          </p:cNvCxnSpPr>
          <p:nvPr/>
        </p:nvCxnSpPr>
        <p:spPr>
          <a:xfrm flipH="1">
            <a:off x="10418203" y="3603746"/>
            <a:ext cx="712479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DC1A504-0D80-1CA0-7D03-43890A81D2CA}"/>
              </a:ext>
            </a:extLst>
          </p:cNvPr>
          <p:cNvCxnSpPr>
            <a:cxnSpLocks/>
          </p:cNvCxnSpPr>
          <p:nvPr/>
        </p:nvCxnSpPr>
        <p:spPr>
          <a:xfrm flipH="1">
            <a:off x="11260240" y="3610325"/>
            <a:ext cx="548019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92CC70FF-96F9-A232-9A55-EEB992FC35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874"/>
          <a:stretch>
            <a:fillRect/>
          </a:stretch>
        </p:blipFill>
        <p:spPr>
          <a:xfrm>
            <a:off x="7970838" y="3574817"/>
            <a:ext cx="87314" cy="69702"/>
          </a:xfrm>
          <a:prstGeom prst="rect">
            <a:avLst/>
          </a:prstGeom>
        </p:spPr>
      </p:pic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68FA342F-68AF-6C01-C7B4-411BCF744266}"/>
              </a:ext>
            </a:extLst>
          </p:cNvPr>
          <p:cNvSpPr/>
          <p:nvPr/>
        </p:nvSpPr>
        <p:spPr>
          <a:xfrm rot="10800000">
            <a:off x="-18" y="-28"/>
            <a:ext cx="11260258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C6FC74F-16D0-8FCE-A0E6-848095108D29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113018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chemeClr val="bg1"/>
                </a:solidFill>
              </a:rPr>
              <a:t>🏋️ </a:t>
            </a:r>
            <a:r>
              <a:rPr lang="en-US" b="1" noProof="0" dirty="0">
                <a:solidFill>
                  <a:schemeClr val="bg1"/>
                </a:solidFill>
              </a:rPr>
              <a:t>The Training: Stage 2 </a:t>
            </a:r>
            <a:r>
              <a:rPr lang="en-US" noProof="0" dirty="0">
                <a:solidFill>
                  <a:schemeClr val="bg1"/>
                </a:solidFill>
              </a:rPr>
              <a:t>🔎</a:t>
            </a:r>
            <a:r>
              <a:rPr lang="en-US" b="1" noProof="0" dirty="0">
                <a:solidFill>
                  <a:schemeClr val="bg1"/>
                </a:solidFill>
              </a:rPr>
              <a:t> The SSINet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454705-AE67-FBFA-CAFE-B0BDA7432963}"/>
              </a:ext>
            </a:extLst>
          </p:cNvPr>
          <p:cNvCxnSpPr>
            <a:cxnSpLocks/>
          </p:cNvCxnSpPr>
          <p:nvPr/>
        </p:nvCxnSpPr>
        <p:spPr>
          <a:xfrm flipH="1">
            <a:off x="6115898" y="3614177"/>
            <a:ext cx="378035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F0FDAE9-BADB-5410-816C-09BF5475C0E8}"/>
              </a:ext>
            </a:extLst>
          </p:cNvPr>
          <p:cNvCxnSpPr>
            <a:cxnSpLocks/>
          </p:cNvCxnSpPr>
          <p:nvPr/>
        </p:nvCxnSpPr>
        <p:spPr>
          <a:xfrm flipH="1">
            <a:off x="4697090" y="3610324"/>
            <a:ext cx="1077175" cy="7377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CB3C6B2-AA4F-13AF-1C3D-B17872030808}"/>
              </a:ext>
            </a:extLst>
          </p:cNvPr>
          <p:cNvSpPr txBox="1"/>
          <p:nvPr/>
        </p:nvSpPr>
        <p:spPr>
          <a:xfrm>
            <a:off x="8531096" y="5298543"/>
            <a:ext cx="2329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0" dirty="0">
                <a:solidFill>
                  <a:srgbClr val="00CBE8"/>
                </a:solidFill>
              </a:rPr>
              <a:t>Frozen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416605-81D2-F04C-5985-D6CB45C46AA0}"/>
              </a:ext>
            </a:extLst>
          </p:cNvPr>
          <p:cNvSpPr txBox="1"/>
          <p:nvPr/>
        </p:nvSpPr>
        <p:spPr>
          <a:xfrm>
            <a:off x="5630110" y="2079057"/>
            <a:ext cx="92502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00CBE8"/>
                </a:solidFill>
              </a:rPr>
              <a:t>share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E9050D5-F96A-2781-1CF1-AAF10C3BF8EA}"/>
              </a:ext>
            </a:extLst>
          </p:cNvPr>
          <p:cNvCxnSpPr>
            <a:cxnSpLocks/>
          </p:cNvCxnSpPr>
          <p:nvPr/>
        </p:nvCxnSpPr>
        <p:spPr>
          <a:xfrm>
            <a:off x="2408017" y="2079057"/>
            <a:ext cx="5869709" cy="0"/>
          </a:xfrm>
          <a:prstGeom prst="straightConnector1">
            <a:avLst/>
          </a:prstGeom>
          <a:ln w="57150">
            <a:solidFill>
              <a:srgbClr val="00CBE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C7E54BD-889D-87F5-F2AE-47596C914F01}"/>
              </a:ext>
            </a:extLst>
          </p:cNvPr>
          <p:cNvSpPr/>
          <p:nvPr/>
        </p:nvSpPr>
        <p:spPr>
          <a:xfrm>
            <a:off x="7799942" y="1421175"/>
            <a:ext cx="3791458" cy="3871127"/>
          </a:xfrm>
          <a:prstGeom prst="roundRect">
            <a:avLst>
              <a:gd name="adj" fmla="val 7950"/>
            </a:avLst>
          </a:prstGeom>
          <a:noFill/>
          <a:ln w="57150">
            <a:solidFill>
              <a:srgbClr val="00C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BCB954-5D06-909B-2291-F50EB644987B}"/>
              </a:ext>
            </a:extLst>
          </p:cNvPr>
          <p:cNvSpPr/>
          <p:nvPr/>
        </p:nvSpPr>
        <p:spPr>
          <a:xfrm>
            <a:off x="3004399" y="3266019"/>
            <a:ext cx="724994" cy="704782"/>
          </a:xfrm>
          <a:prstGeom prst="rect">
            <a:avLst/>
          </a:prstGeom>
          <a:solidFill>
            <a:srgbClr val="D7E3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600" b="1" noProof="0" dirty="0">
                <a:solidFill>
                  <a:srgbClr val="FF0000"/>
                </a:solidFill>
              </a:rPr>
              <a:t>Weight Update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BA765CB-E86C-A3B6-E499-4EA61CB4C01D}"/>
              </a:ext>
            </a:extLst>
          </p:cNvPr>
          <p:cNvCxnSpPr>
            <a:cxnSpLocks/>
          </p:cNvCxnSpPr>
          <p:nvPr/>
        </p:nvCxnSpPr>
        <p:spPr>
          <a:xfrm flipH="1" flipV="1">
            <a:off x="3727658" y="3603746"/>
            <a:ext cx="615742" cy="11991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50BC161-329D-E72A-4E05-7345C079A0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914" b="89209" l="4314" r="93725">
                        <a14:foregroundMark x1="10196" y1="12950" x2="8235" y2="8273"/>
                        <a14:foregroundMark x1="7451" y1="10072" x2="4314" y2="9712"/>
                        <a14:foregroundMark x1="8627" y1="8633" x2="9804" y2="8273"/>
                        <a14:backgroundMark x1="94902" y1="73022" x2="94118" y2="89209"/>
                        <a14:backgroundMark x1="94118" y1="76259" x2="93333" y2="852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835790">
            <a:off x="7553275" y="3382999"/>
            <a:ext cx="417035" cy="45465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62B458F-60C2-1969-6F78-5A847E0868B8}"/>
              </a:ext>
            </a:extLst>
          </p:cNvPr>
          <p:cNvCxnSpPr>
            <a:cxnSpLocks/>
          </p:cNvCxnSpPr>
          <p:nvPr/>
        </p:nvCxnSpPr>
        <p:spPr>
          <a:xfrm flipH="1">
            <a:off x="6951132" y="3603746"/>
            <a:ext cx="1409912" cy="3617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045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D323CB7-3E93-4A67-84EE-9CC8BE2CCDE5}"/>
              </a:ext>
            </a:extLst>
          </p:cNvPr>
          <p:cNvSpPr/>
          <p:nvPr/>
        </p:nvSpPr>
        <p:spPr>
          <a:xfrm>
            <a:off x="0" y="6235700"/>
            <a:ext cx="12192000" cy="622300"/>
          </a:xfrm>
          <a:prstGeom prst="rect">
            <a:avLst/>
          </a:prstGeom>
          <a:solidFill>
            <a:srgbClr val="0058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noProof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B34AA3-AAB5-4BDC-BF9E-50990B8451DA}"/>
              </a:ext>
            </a:extLst>
          </p:cNvPr>
          <p:cNvSpPr txBox="1"/>
          <p:nvPr/>
        </p:nvSpPr>
        <p:spPr>
          <a:xfrm>
            <a:off x="203200" y="6362700"/>
            <a:ext cx="3810000" cy="3683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noProof="0" dirty="0">
                <a:solidFill>
                  <a:srgbClr val="FFFFFF"/>
                </a:solidFill>
                <a:latin typeface="IBM Plex Sans"/>
              </a:rPr>
              <a:t>Pimpinelli Francesco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EF90CB-298F-4851-84DB-1C7A53BDEA76}"/>
              </a:ext>
            </a:extLst>
          </p:cNvPr>
          <p:cNvSpPr txBox="1"/>
          <p:nvPr/>
        </p:nvSpPr>
        <p:spPr>
          <a:xfrm>
            <a:off x="11557000" y="6362700"/>
            <a:ext cx="508000" cy="3683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noProof="0" dirty="0">
                <a:solidFill>
                  <a:srgbClr val="FFFFFF"/>
                </a:solidFill>
                <a:latin typeface="IBM Plex Sans"/>
              </a:rPr>
              <a:t>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47BDEEF-C36D-2FB5-E7E5-6430DBBBB8FD}"/>
              </a:ext>
            </a:extLst>
          </p:cNvPr>
          <p:cNvGrpSpPr/>
          <p:nvPr/>
        </p:nvGrpSpPr>
        <p:grpSpPr>
          <a:xfrm>
            <a:off x="6430244" y="2966224"/>
            <a:ext cx="3191933" cy="2962818"/>
            <a:chOff x="6430244" y="2966224"/>
            <a:chExt cx="3191933" cy="2962818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1E0EBF0E-F81B-01C5-7DB3-FE4CF284F97C}"/>
                </a:ext>
              </a:extLst>
            </p:cNvPr>
            <p:cNvSpPr/>
            <p:nvPr/>
          </p:nvSpPr>
          <p:spPr>
            <a:xfrm>
              <a:off x="6430244" y="2966224"/>
              <a:ext cx="3191933" cy="2962818"/>
            </a:xfrm>
            <a:prstGeom prst="roundRect">
              <a:avLst>
                <a:gd name="adj" fmla="val 11887"/>
              </a:avLst>
            </a:prstGeom>
            <a:solidFill>
              <a:srgbClr val="FDFDFD"/>
            </a:solidFill>
            <a:ln w="38100" cap="flat" cmpd="sng" algn="ctr">
              <a:solidFill>
                <a:srgbClr val="00B476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9D19893-C4CA-0915-811A-A50230BBD713}"/>
                </a:ext>
              </a:extLst>
            </p:cNvPr>
            <p:cNvSpPr txBox="1"/>
            <p:nvPr/>
          </p:nvSpPr>
          <p:spPr>
            <a:xfrm>
              <a:off x="6684715" y="3683291"/>
              <a:ext cx="2682989" cy="830997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00B476"/>
                  </a:solidFill>
                  <a:latin typeface="IBM Plex Sans"/>
                </a:rPr>
                <a:t>Minimum Region Retaining</a:t>
              </a:r>
            </a:p>
          </p:txBody>
        </p:sp>
        <p:pic>
          <p:nvPicPr>
            <p:cNvPr id="42" name="Graphic 41" descr="Downward trend graph with solid fill">
              <a:extLst>
                <a:ext uri="{FF2B5EF4-FFF2-40B4-BE49-F238E27FC236}">
                  <a16:creationId xmlns:a16="http://schemas.microsoft.com/office/drawing/2014/main" id="{76D07179-B4BC-A813-6764-0F825C2988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770301" y="3129826"/>
              <a:ext cx="511818" cy="511818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9835B10-0F64-7C77-3867-5DCF1B8067E0}"/>
                </a:ext>
              </a:extLst>
            </p:cNvPr>
            <p:cNvSpPr txBox="1"/>
            <p:nvPr/>
          </p:nvSpPr>
          <p:spPr>
            <a:xfrm>
              <a:off x="6430244" y="4843315"/>
              <a:ext cx="319193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The mask should retain </a:t>
              </a:r>
              <a:r>
                <a:rPr lang="en-US" b="1" noProof="0" dirty="0">
                  <a:solidFill>
                    <a:srgbClr val="00B476"/>
                  </a:solidFill>
                  <a:latin typeface="IBM Plex Sans"/>
                </a:rPr>
                <a:t>as little of the image</a:t>
              </a:r>
              <a:r>
                <a:rPr lang="en-US" noProof="0" dirty="0">
                  <a:solidFill>
                    <a:srgbClr val="00B476"/>
                  </a:solidFill>
                  <a:latin typeface="IBM Plex Sans"/>
                </a:rPr>
                <a:t> </a:t>
              </a:r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as possible. 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BDBDAA-9074-D3F8-0B3F-20CD629B7E27}"/>
              </a:ext>
            </a:extLst>
          </p:cNvPr>
          <p:cNvGrpSpPr/>
          <p:nvPr/>
        </p:nvGrpSpPr>
        <p:grpSpPr>
          <a:xfrm>
            <a:off x="2417233" y="2966224"/>
            <a:ext cx="3191933" cy="2988802"/>
            <a:chOff x="2417233" y="2966224"/>
            <a:chExt cx="3191933" cy="2988802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1E20F312-4941-632E-500C-A2D6B8681F0B}"/>
                </a:ext>
              </a:extLst>
            </p:cNvPr>
            <p:cNvSpPr/>
            <p:nvPr/>
          </p:nvSpPr>
          <p:spPr>
            <a:xfrm>
              <a:off x="2417233" y="2966224"/>
              <a:ext cx="3191933" cy="2988802"/>
            </a:xfrm>
            <a:prstGeom prst="roundRect">
              <a:avLst>
                <a:gd name="adj" fmla="val 11888"/>
              </a:avLst>
            </a:prstGeom>
            <a:solidFill>
              <a:srgbClr val="FDFDFD"/>
            </a:solidFill>
            <a:ln w="38100" cap="flat" cmpd="sng" algn="ctr">
              <a:solidFill>
                <a:srgbClr val="468AFF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C74A524-4B4B-18AB-C6B1-CA7BEB424307}"/>
                </a:ext>
              </a:extLst>
            </p:cNvPr>
            <p:cNvSpPr txBox="1"/>
            <p:nvPr/>
          </p:nvSpPr>
          <p:spPr>
            <a:xfrm>
              <a:off x="2489700" y="3683290"/>
              <a:ext cx="3046993" cy="830997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468AFF"/>
                  </a:solidFill>
                  <a:latin typeface="IBM Plex Sans"/>
                </a:rPr>
                <a:t>Maximum Behavior Resemblance</a:t>
              </a:r>
            </a:p>
          </p:txBody>
        </p:sp>
        <p:pic>
          <p:nvPicPr>
            <p:cNvPr id="33" name="Graphic 32" descr="Fork In Road with solid fill">
              <a:extLst>
                <a:ext uri="{FF2B5EF4-FFF2-40B4-BE49-F238E27FC236}">
                  <a16:creationId xmlns:a16="http://schemas.microsoft.com/office/drawing/2014/main" id="{1B5B7374-5352-5862-1F12-6FC6969B4C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757290" y="3146707"/>
              <a:ext cx="511818" cy="511818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2870AEC-ED35-0033-C52D-BBA69418B3B4}"/>
                </a:ext>
              </a:extLst>
            </p:cNvPr>
            <p:cNvSpPr txBox="1"/>
            <p:nvPr/>
          </p:nvSpPr>
          <p:spPr>
            <a:xfrm>
              <a:off x="2489701" y="4843315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The masked state must yield (almost) the </a:t>
              </a:r>
              <a:r>
                <a:rPr lang="en-US" b="1" noProof="0" dirty="0">
                  <a:solidFill>
                    <a:srgbClr val="468AFF"/>
                  </a:solidFill>
                  <a:latin typeface="IBM Plex Sans"/>
                </a:rPr>
                <a:t>same action</a:t>
              </a:r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 as the original state</a:t>
              </a:r>
              <a:endParaRPr lang="en-US" sz="2100" noProof="0" dirty="0">
                <a:solidFill>
                  <a:srgbClr val="161616"/>
                </a:solidFill>
                <a:latin typeface="IBM Plex Sans"/>
              </a:endParaRPr>
            </a:p>
          </p:txBody>
        </p:sp>
      </p:grpSp>
      <p:sp>
        <p:nvSpPr>
          <p:cNvPr id="47" name="Rectangle: Top Corners Rounded 46">
            <a:extLst>
              <a:ext uri="{FF2B5EF4-FFF2-40B4-BE49-F238E27FC236}">
                <a16:creationId xmlns:a16="http://schemas.microsoft.com/office/drawing/2014/main" id="{982662E1-EE06-0DBD-B5D4-24436F880608}"/>
              </a:ext>
            </a:extLst>
          </p:cNvPr>
          <p:cNvSpPr/>
          <p:nvPr/>
        </p:nvSpPr>
        <p:spPr>
          <a:xfrm rot="10800000">
            <a:off x="-14" y="-22"/>
            <a:ext cx="9025602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2E4FA130-25FE-E624-00C1-F54CDB80BF2E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93222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noProof="0" dirty="0">
                <a:solidFill>
                  <a:schemeClr val="bg1"/>
                </a:solidFill>
              </a:rPr>
              <a:t>🖥️ SSINet: </a:t>
            </a:r>
            <a:r>
              <a:rPr lang="en-US" noProof="0" dirty="0">
                <a:solidFill>
                  <a:schemeClr val="bg1"/>
                </a:solidFill>
              </a:rPr>
              <a:t>2️⃣</a:t>
            </a:r>
            <a:r>
              <a:rPr lang="en-US" b="1" noProof="0" dirty="0">
                <a:solidFill>
                  <a:schemeClr val="bg1"/>
                </a:solidFill>
              </a:rPr>
              <a:t>Two Core Properties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EE7E6B-66A0-C18A-0D5C-AFB2C2A5D6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8963" y="997040"/>
            <a:ext cx="8374073" cy="1571151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ACCB62F-2B08-25CB-D4A3-298E49532A60}"/>
              </a:ext>
            </a:extLst>
          </p:cNvPr>
          <p:cNvSpPr/>
          <p:nvPr/>
        </p:nvSpPr>
        <p:spPr>
          <a:xfrm>
            <a:off x="3365546" y="1056032"/>
            <a:ext cx="4328795" cy="1571151"/>
          </a:xfrm>
          <a:prstGeom prst="roundRect">
            <a:avLst>
              <a:gd name="adj" fmla="val 11888"/>
            </a:avLst>
          </a:prstGeom>
          <a:noFill/>
          <a:ln w="38100" cap="flat" cmpd="sng" algn="ctr">
            <a:solidFill>
              <a:srgbClr val="468A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noProof="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D0479E-DFDA-5E19-AEBB-026A80A8FDF6}"/>
              </a:ext>
            </a:extLst>
          </p:cNvPr>
          <p:cNvSpPr/>
          <p:nvPr/>
        </p:nvSpPr>
        <p:spPr>
          <a:xfrm>
            <a:off x="8049800" y="1476004"/>
            <a:ext cx="2233236" cy="713975"/>
          </a:xfrm>
          <a:prstGeom prst="roundRect">
            <a:avLst>
              <a:gd name="adj" fmla="val 11888"/>
            </a:avLst>
          </a:prstGeom>
          <a:noFill/>
          <a:ln w="38100" cap="flat" cmpd="sng" algn="ctr">
            <a:solidFill>
              <a:srgbClr val="00B0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002EF7-F550-5765-0DCE-1B8C4479CE4F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Footer Placeholder 15">
            <a:extLst>
              <a:ext uri="{FF2B5EF4-FFF2-40B4-BE49-F238E27FC236}">
                <a16:creationId xmlns:a16="http://schemas.microsoft.com/office/drawing/2014/main" id="{3D105C71-B42C-5867-8FEF-A88307A95F51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7" name="Slide Number Placeholder 16">
            <a:extLst>
              <a:ext uri="{FF2B5EF4-FFF2-40B4-BE49-F238E27FC236}">
                <a16:creationId xmlns:a16="http://schemas.microsoft.com/office/drawing/2014/main" id="{506C44BC-A12A-B540-8278-FA21C1DF122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24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238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66F1C-E567-EE47-32EC-1AC646BC0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D1A80F0-8494-640E-B3A9-A1213B461C02}"/>
              </a:ext>
            </a:extLst>
          </p:cNvPr>
          <p:cNvSpPr/>
          <p:nvPr/>
        </p:nvSpPr>
        <p:spPr>
          <a:xfrm>
            <a:off x="0" y="6235700"/>
            <a:ext cx="12192000" cy="622300"/>
          </a:xfrm>
          <a:prstGeom prst="rect">
            <a:avLst/>
          </a:prstGeom>
          <a:solidFill>
            <a:srgbClr val="0058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noProof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14409F-7765-435A-1A2D-3CB2ED66022B}"/>
              </a:ext>
            </a:extLst>
          </p:cNvPr>
          <p:cNvSpPr txBox="1"/>
          <p:nvPr/>
        </p:nvSpPr>
        <p:spPr>
          <a:xfrm>
            <a:off x="203200" y="6362700"/>
            <a:ext cx="3810000" cy="3683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noProof="0" dirty="0">
                <a:solidFill>
                  <a:srgbClr val="FFFFFF"/>
                </a:solidFill>
                <a:latin typeface="IBM Plex Sans"/>
              </a:rPr>
              <a:t>Pimpinelli Francesco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2B7468-7578-05F8-4F52-5C39C1F0191E}"/>
              </a:ext>
            </a:extLst>
          </p:cNvPr>
          <p:cNvSpPr txBox="1"/>
          <p:nvPr/>
        </p:nvSpPr>
        <p:spPr>
          <a:xfrm>
            <a:off x="11557000" y="6362700"/>
            <a:ext cx="508000" cy="3683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noProof="0" dirty="0">
                <a:solidFill>
                  <a:srgbClr val="FFFFFF"/>
                </a:solidFill>
                <a:latin typeface="IBM Plex Sans"/>
              </a:rPr>
              <a:t>6</a:t>
            </a:r>
          </a:p>
        </p:txBody>
      </p:sp>
      <p:sp>
        <p:nvSpPr>
          <p:cNvPr id="47" name="Rectangle: Top Corners Rounded 46">
            <a:extLst>
              <a:ext uri="{FF2B5EF4-FFF2-40B4-BE49-F238E27FC236}">
                <a16:creationId xmlns:a16="http://schemas.microsoft.com/office/drawing/2014/main" id="{8C2386F1-A220-1883-4EA2-D7BCFA3D06FB}"/>
              </a:ext>
            </a:extLst>
          </p:cNvPr>
          <p:cNvSpPr/>
          <p:nvPr/>
        </p:nvSpPr>
        <p:spPr>
          <a:xfrm rot="10800000">
            <a:off x="-14" y="-22"/>
            <a:ext cx="9025602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6CD7ED71-A9B4-C7A9-9556-B244601399F8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93222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noProof="0" dirty="0">
                <a:solidFill>
                  <a:schemeClr val="bg1"/>
                </a:solidFill>
              </a:rPr>
              <a:t>🖥️ SSINet: </a:t>
            </a:r>
            <a:r>
              <a:rPr lang="en-US" noProof="0" dirty="0">
                <a:solidFill>
                  <a:schemeClr val="bg1"/>
                </a:solidFill>
              </a:rPr>
              <a:t>2️⃣</a:t>
            </a:r>
            <a:r>
              <a:rPr lang="en-US" b="1" noProof="0" dirty="0">
                <a:solidFill>
                  <a:schemeClr val="bg1"/>
                </a:solidFill>
              </a:rPr>
              <a:t>Two Core Properties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56FA9A-76A9-6BB8-E72B-66342CCEB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83837" y="997040"/>
            <a:ext cx="8374073" cy="157115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D05A36-2EE4-491F-0A04-2EC1E4CC4050}"/>
              </a:ext>
            </a:extLst>
          </p:cNvPr>
          <p:cNvSpPr/>
          <p:nvPr/>
        </p:nvSpPr>
        <p:spPr>
          <a:xfrm>
            <a:off x="2157000" y="1476004"/>
            <a:ext cx="2233236" cy="713975"/>
          </a:xfrm>
          <a:prstGeom prst="roundRect">
            <a:avLst>
              <a:gd name="adj" fmla="val 11888"/>
            </a:avLst>
          </a:prstGeom>
          <a:noFill/>
          <a:ln w="38100" cap="flat" cmpd="sng" algn="ctr">
            <a:solidFill>
              <a:srgbClr val="00B0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8F89A0-623C-F1DC-336D-5EB7E6404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134" y="1003020"/>
            <a:ext cx="4447158" cy="492414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92318B6-9D3E-946B-833C-3D4B05C02BEB}"/>
              </a:ext>
            </a:extLst>
          </p:cNvPr>
          <p:cNvSpPr/>
          <p:nvPr/>
        </p:nvSpPr>
        <p:spPr>
          <a:xfrm>
            <a:off x="2203106" y="1697483"/>
            <a:ext cx="317258" cy="292682"/>
          </a:xfrm>
          <a:prstGeom prst="roundRect">
            <a:avLst>
              <a:gd name="adj" fmla="val 11888"/>
            </a:avLst>
          </a:prstGeom>
          <a:noFill/>
          <a:ln w="38100" cap="flat" cmpd="sng" algn="ctr">
            <a:solidFill>
              <a:srgbClr val="FF9C6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noProof="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A6BFFCA-638D-E41C-9830-73051B43957E}"/>
              </a:ext>
            </a:extLst>
          </p:cNvPr>
          <p:cNvCxnSpPr/>
          <p:nvPr/>
        </p:nvCxnSpPr>
        <p:spPr>
          <a:xfrm>
            <a:off x="6505815" y="1586970"/>
            <a:ext cx="0" cy="4002712"/>
          </a:xfrm>
          <a:prstGeom prst="straightConnector1">
            <a:avLst/>
          </a:prstGeom>
          <a:ln w="76200">
            <a:solidFill>
              <a:srgbClr val="FF9C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892108F-B165-3665-6914-FC6733516C74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Footer Placeholder 15">
            <a:extLst>
              <a:ext uri="{FF2B5EF4-FFF2-40B4-BE49-F238E27FC236}">
                <a16:creationId xmlns:a16="http://schemas.microsoft.com/office/drawing/2014/main" id="{006D468F-969D-6247-4448-DC644D0B4BC9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6" name="Slide Number Placeholder 16">
            <a:extLst>
              <a:ext uri="{FF2B5EF4-FFF2-40B4-BE49-F238E27FC236}">
                <a16:creationId xmlns:a16="http://schemas.microsoft.com/office/drawing/2014/main" id="{E0D9F62E-AC7D-DE6D-80B1-41C552F1940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25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594A194-D778-467C-F3A5-F632B400A1AE}"/>
              </a:ext>
            </a:extLst>
          </p:cNvPr>
          <p:cNvGrpSpPr/>
          <p:nvPr/>
        </p:nvGrpSpPr>
        <p:grpSpPr>
          <a:xfrm>
            <a:off x="1664264" y="2716842"/>
            <a:ext cx="3191933" cy="2962818"/>
            <a:chOff x="6430244" y="2966224"/>
            <a:chExt cx="3191933" cy="296281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00E2DBD-9A96-D053-21B7-1492AD8D24CF}"/>
                </a:ext>
              </a:extLst>
            </p:cNvPr>
            <p:cNvSpPr/>
            <p:nvPr/>
          </p:nvSpPr>
          <p:spPr>
            <a:xfrm>
              <a:off x="6430244" y="2966224"/>
              <a:ext cx="3191933" cy="2962818"/>
            </a:xfrm>
            <a:prstGeom prst="roundRect">
              <a:avLst>
                <a:gd name="adj" fmla="val 11887"/>
              </a:avLst>
            </a:prstGeom>
            <a:solidFill>
              <a:srgbClr val="FDFDFD"/>
            </a:solidFill>
            <a:ln w="38100" cap="flat" cmpd="sng" algn="ctr">
              <a:solidFill>
                <a:srgbClr val="00B476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488818-8491-8275-8557-16910431AE10}"/>
                </a:ext>
              </a:extLst>
            </p:cNvPr>
            <p:cNvSpPr txBox="1"/>
            <p:nvPr/>
          </p:nvSpPr>
          <p:spPr>
            <a:xfrm>
              <a:off x="6684715" y="3683291"/>
              <a:ext cx="2682989" cy="830997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00B476"/>
                  </a:solidFill>
                  <a:latin typeface="IBM Plex Sans"/>
                </a:rPr>
                <a:t>Minimum Region Retaining</a:t>
              </a:r>
            </a:p>
          </p:txBody>
        </p:sp>
        <p:pic>
          <p:nvPicPr>
            <p:cNvPr id="12" name="Graphic 11" descr="Downward trend graph with solid fill">
              <a:extLst>
                <a:ext uri="{FF2B5EF4-FFF2-40B4-BE49-F238E27FC236}">
                  <a16:creationId xmlns:a16="http://schemas.microsoft.com/office/drawing/2014/main" id="{78BDEB03-526D-E72C-E4E2-206AF083DF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7770301" y="3129826"/>
              <a:ext cx="511818" cy="51181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140C866-6BCD-85BE-43EC-D1BF5EBA6D51}"/>
                </a:ext>
              </a:extLst>
            </p:cNvPr>
            <p:cNvSpPr txBox="1"/>
            <p:nvPr/>
          </p:nvSpPr>
          <p:spPr>
            <a:xfrm>
              <a:off x="6430244" y="4843315"/>
              <a:ext cx="319193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The mask should retain </a:t>
              </a:r>
              <a:r>
                <a:rPr lang="en-US" b="1" noProof="0" dirty="0">
                  <a:solidFill>
                    <a:srgbClr val="00B476"/>
                  </a:solidFill>
                  <a:latin typeface="IBM Plex Sans"/>
                </a:rPr>
                <a:t>as little of the image</a:t>
              </a:r>
              <a:r>
                <a:rPr lang="en-US" noProof="0" dirty="0">
                  <a:solidFill>
                    <a:srgbClr val="00B476"/>
                  </a:solidFill>
                  <a:latin typeface="IBM Plex Sans"/>
                </a:rPr>
                <a:t> </a:t>
              </a:r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as possible.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7099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55B0C-7D52-FEE3-A567-D31AD2B78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658A6B-5152-4652-83B8-D12BCF027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250" y="870039"/>
            <a:ext cx="9019293" cy="5385364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13144664-1AC5-E12A-256D-73EF964ADA2C}"/>
              </a:ext>
            </a:extLst>
          </p:cNvPr>
          <p:cNvSpPr/>
          <p:nvPr/>
        </p:nvSpPr>
        <p:spPr>
          <a:xfrm rot="10800000">
            <a:off x="-15" y="-23"/>
            <a:ext cx="6492912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3AAEEC6-315B-FCBB-8A7C-8C2B42553F04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0EE9B01-ACEA-BB1F-0E45-8F96BCD77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3C8B77-FFB3-9A73-E756-E6B3D6763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26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FE0F04-FF3A-8A4F-DF64-A5D1871D6BF4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0705410F-35E9-EBE1-5E86-B0698FF2DE9F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AC1E405C-2977-87BE-0715-296E7F5C357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26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BAC254-054A-7C5B-4D03-F82ABFDC8ACF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84078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noProof="0" dirty="0">
                <a:solidFill>
                  <a:schemeClr val="bg1"/>
                </a:solidFill>
              </a:rPr>
              <a:t>🖥️ SSINet: </a:t>
            </a:r>
            <a:r>
              <a:rPr lang="en-US" noProof="0" dirty="0">
                <a:solidFill>
                  <a:schemeClr val="bg1"/>
                </a:solidFill>
              </a:rPr>
              <a:t>🔚</a:t>
            </a:r>
            <a:r>
              <a:rPr lang="en-US" b="1" noProof="0" dirty="0">
                <a:solidFill>
                  <a:schemeClr val="bg1"/>
                </a:solidFill>
              </a:rPr>
              <a:t>The Output</a:t>
            </a:r>
          </a:p>
        </p:txBody>
      </p:sp>
    </p:spTree>
    <p:extLst>
      <p:ext uri="{BB962C8B-B14F-4D97-AF65-F5344CB8AC3E}">
        <p14:creationId xmlns:p14="http://schemas.microsoft.com/office/powerpoint/2010/main" val="1347420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60E9C-5B95-56C2-83EE-9A4CED59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F91E66-34A3-A013-CCBD-FBEE42A0B3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67" y="691109"/>
            <a:ext cx="10182666" cy="5727749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B0AE38F4-731C-A987-3F2A-DEE5EB6887A2}"/>
              </a:ext>
            </a:extLst>
          </p:cNvPr>
          <p:cNvSpPr/>
          <p:nvPr/>
        </p:nvSpPr>
        <p:spPr>
          <a:xfrm rot="10800000">
            <a:off x="-18" y="-28"/>
            <a:ext cx="8986620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ED1944F-C501-F55C-D609-EDF726ACAFBC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A63AB6D-9144-EDB2-CB35-72B46EB32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227EB69-FABB-469A-BC6C-87F31BD6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27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AFC2BE-1EC7-D0C4-C6F4-2B8A176957AA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206B0E52-DA5D-8158-827F-8B2E442BEDA0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62417E1D-97AD-F7B3-3D49-94C51CEB0F4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27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F04C2-606D-746E-5872-5CE2FF2C4F3F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923443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chemeClr val="bg1"/>
                </a:solidFill>
              </a:rPr>
              <a:t>🆕</a:t>
            </a:r>
            <a:r>
              <a:rPr lang="en-US" b="1" noProof="0" dirty="0">
                <a:solidFill>
                  <a:schemeClr val="bg1"/>
                </a:solidFill>
              </a:rPr>
              <a:t>The novelty: 🧬Molecular SSINet</a:t>
            </a:r>
          </a:p>
        </p:txBody>
      </p:sp>
    </p:spTree>
    <p:extLst>
      <p:ext uri="{BB962C8B-B14F-4D97-AF65-F5344CB8AC3E}">
        <p14:creationId xmlns:p14="http://schemas.microsoft.com/office/powerpoint/2010/main" val="3504587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7F588-8929-511B-820A-05F967527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EFDC43-E47F-AE5D-1658-ABB0C769DA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97" t="60546" r="8769" b="5507"/>
          <a:stretch>
            <a:fillRect/>
          </a:stretch>
        </p:blipFill>
        <p:spPr>
          <a:xfrm>
            <a:off x="-436093" y="986451"/>
            <a:ext cx="13238761" cy="4830277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C57779BA-3199-6787-42C0-31DB56B4CAA8}"/>
              </a:ext>
            </a:extLst>
          </p:cNvPr>
          <p:cNvSpPr/>
          <p:nvPr/>
        </p:nvSpPr>
        <p:spPr>
          <a:xfrm rot="10800000">
            <a:off x="-18" y="-28"/>
            <a:ext cx="8986620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561360-A269-4685-7AC4-A2F192D5AFD1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A9B7510-C8EF-838F-DB2B-99A88E83E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0DB7921-698E-3E66-A4B5-6B50B2E3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28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35664D-1919-AB6C-1E00-D05ACF76F19A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C55D3DD9-3BB3-2A90-3097-3C0DB680F4D3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E951F322-9681-BF5A-A4A1-E3E1D776658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28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1B68C5-C89C-F3B0-748B-DEB1BE9327D6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923443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chemeClr val="bg1"/>
                </a:solidFill>
              </a:rPr>
              <a:t>🆕</a:t>
            </a:r>
            <a:r>
              <a:rPr lang="en-US" b="1" noProof="0" dirty="0">
                <a:solidFill>
                  <a:schemeClr val="bg1"/>
                </a:solidFill>
              </a:rPr>
              <a:t>The novelty: 🧬Molecular SSINet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E454B8-EF1C-BF33-B6A3-727B15D4591D}"/>
                  </a:ext>
                </a:extLst>
              </p:cNvPr>
              <p:cNvSpPr txBox="1"/>
              <p:nvPr/>
            </p:nvSpPr>
            <p:spPr>
              <a:xfrm>
                <a:off x="2497598" y="1097776"/>
                <a:ext cx="7371377" cy="13847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it-IT" sz="3200" b="0" i="0" smtClean="0">
                          <a:latin typeface="Cambria Math" panose="02040503050406030204" pitchFamily="18" charset="0"/>
                        </a:rPr>
                        <m:t>CrossEntropy</m:t>
                      </m:r>
                      <m:d>
                        <m:dPr>
                          <m:ctrlPr>
                            <a:rPr lang="it-IT" sz="3200" b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it-IT" sz="32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3200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d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it-IT" sz="3200" b="0" i="0" smtClean="0">
                          <a:latin typeface="Cambria Math" panose="02040503050406030204" pitchFamily="18" charset="0"/>
                        </a:rPr>
                        <m:t>α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it-IT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it-IT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E454B8-EF1C-BF33-B6A3-727B15D45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598" y="1097776"/>
                <a:ext cx="7371377" cy="13847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31CB063F-0FA6-DBF7-21CE-F7B9E4BB9F1F}"/>
              </a:ext>
            </a:extLst>
          </p:cNvPr>
          <p:cNvGrpSpPr/>
          <p:nvPr/>
        </p:nvGrpSpPr>
        <p:grpSpPr>
          <a:xfrm>
            <a:off x="6430244" y="2966224"/>
            <a:ext cx="3191933" cy="2962818"/>
            <a:chOff x="6430244" y="2966224"/>
            <a:chExt cx="3191933" cy="296281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18D6E17-BA36-2EB8-1BE2-960C04521BB6}"/>
                </a:ext>
              </a:extLst>
            </p:cNvPr>
            <p:cNvSpPr/>
            <p:nvPr/>
          </p:nvSpPr>
          <p:spPr>
            <a:xfrm>
              <a:off x="6430244" y="2966224"/>
              <a:ext cx="3191933" cy="2962818"/>
            </a:xfrm>
            <a:prstGeom prst="roundRect">
              <a:avLst>
                <a:gd name="adj" fmla="val 11887"/>
              </a:avLst>
            </a:prstGeom>
            <a:solidFill>
              <a:srgbClr val="FDFDFD"/>
            </a:solidFill>
            <a:ln w="38100" cap="flat" cmpd="sng" algn="ctr">
              <a:solidFill>
                <a:srgbClr val="00B476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18D7AAA-DED1-BCBA-F029-E96C58A1BD90}"/>
                </a:ext>
              </a:extLst>
            </p:cNvPr>
            <p:cNvSpPr txBox="1"/>
            <p:nvPr/>
          </p:nvSpPr>
          <p:spPr>
            <a:xfrm>
              <a:off x="6684715" y="3683291"/>
              <a:ext cx="2682989" cy="830997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00B476"/>
                  </a:solidFill>
                  <a:latin typeface="IBM Plex Sans"/>
                </a:rPr>
                <a:t>Minimum Region Retaining</a:t>
              </a:r>
            </a:p>
          </p:txBody>
        </p:sp>
        <p:pic>
          <p:nvPicPr>
            <p:cNvPr id="9" name="Graphic 8" descr="Downward trend graph with solid fill">
              <a:extLst>
                <a:ext uri="{FF2B5EF4-FFF2-40B4-BE49-F238E27FC236}">
                  <a16:creationId xmlns:a16="http://schemas.microsoft.com/office/drawing/2014/main" id="{B59148FE-B629-5C04-38DD-FA8A26CCE9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7770301" y="3129826"/>
              <a:ext cx="511818" cy="51181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6B59CCE-118C-545E-4DD9-21645A93574D}"/>
                </a:ext>
              </a:extLst>
            </p:cNvPr>
            <p:cNvSpPr txBox="1"/>
            <p:nvPr/>
          </p:nvSpPr>
          <p:spPr>
            <a:xfrm>
              <a:off x="6430244" y="4843315"/>
              <a:ext cx="319193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The mask should retain </a:t>
              </a:r>
              <a:r>
                <a:rPr lang="en-US" b="1" noProof="0" dirty="0">
                  <a:solidFill>
                    <a:srgbClr val="00B476"/>
                  </a:solidFill>
                  <a:latin typeface="IBM Plex Sans"/>
                </a:rPr>
                <a:t>as little of the image</a:t>
              </a:r>
              <a:r>
                <a:rPr lang="en-US" noProof="0" dirty="0">
                  <a:solidFill>
                    <a:srgbClr val="00B476"/>
                  </a:solidFill>
                  <a:latin typeface="IBM Plex Sans"/>
                </a:rPr>
                <a:t> </a:t>
              </a:r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as possible. 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B43437C-E88B-DDEC-8120-1414DD6AFDB2}"/>
              </a:ext>
            </a:extLst>
          </p:cNvPr>
          <p:cNvGrpSpPr/>
          <p:nvPr/>
        </p:nvGrpSpPr>
        <p:grpSpPr>
          <a:xfrm>
            <a:off x="2417233" y="2966224"/>
            <a:ext cx="3191933" cy="2988802"/>
            <a:chOff x="2417233" y="2966224"/>
            <a:chExt cx="3191933" cy="298880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9554F84-A922-A449-6D93-78B57708805D}"/>
                </a:ext>
              </a:extLst>
            </p:cNvPr>
            <p:cNvSpPr/>
            <p:nvPr/>
          </p:nvSpPr>
          <p:spPr>
            <a:xfrm>
              <a:off x="2417233" y="2966224"/>
              <a:ext cx="3191933" cy="2988802"/>
            </a:xfrm>
            <a:prstGeom prst="roundRect">
              <a:avLst>
                <a:gd name="adj" fmla="val 11888"/>
              </a:avLst>
            </a:prstGeom>
            <a:solidFill>
              <a:srgbClr val="FDFDFD"/>
            </a:solidFill>
            <a:ln w="38100" cap="flat" cmpd="sng" algn="ctr">
              <a:solidFill>
                <a:srgbClr val="468AFF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487E13A-A2BA-275E-9094-7CBAC8A43F57}"/>
                </a:ext>
              </a:extLst>
            </p:cNvPr>
            <p:cNvSpPr txBox="1"/>
            <p:nvPr/>
          </p:nvSpPr>
          <p:spPr>
            <a:xfrm>
              <a:off x="2489700" y="3683290"/>
              <a:ext cx="3046993" cy="830997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468AFF"/>
                  </a:solidFill>
                  <a:latin typeface="IBM Plex Sans"/>
                </a:rPr>
                <a:t>Maximum Behavior Resemblance</a:t>
              </a:r>
            </a:p>
          </p:txBody>
        </p:sp>
        <p:pic>
          <p:nvPicPr>
            <p:cNvPr id="20" name="Graphic 19" descr="Fork In Road with solid fill">
              <a:extLst>
                <a:ext uri="{FF2B5EF4-FFF2-40B4-BE49-F238E27FC236}">
                  <a16:creationId xmlns:a16="http://schemas.microsoft.com/office/drawing/2014/main" id="{4603379C-4070-4F69-4EC3-4CB405413B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3757290" y="3146707"/>
              <a:ext cx="511818" cy="51181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48AC6B0-D5CB-AEDD-AD5C-9321315E39B2}"/>
                </a:ext>
              </a:extLst>
            </p:cNvPr>
            <p:cNvSpPr txBox="1"/>
            <p:nvPr/>
          </p:nvSpPr>
          <p:spPr>
            <a:xfrm>
              <a:off x="2489701" y="4843315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The masked state must yield (almost) the </a:t>
              </a:r>
              <a:r>
                <a:rPr lang="en-US" b="1" noProof="0" dirty="0">
                  <a:solidFill>
                    <a:srgbClr val="468AFF"/>
                  </a:solidFill>
                  <a:latin typeface="IBM Plex Sans"/>
                </a:rPr>
                <a:t>same action</a:t>
              </a:r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 as the original state</a:t>
              </a:r>
              <a:endParaRPr lang="en-US" sz="2100" noProof="0" dirty="0">
                <a:solidFill>
                  <a:srgbClr val="161616"/>
                </a:solidFill>
                <a:latin typeface="IBM Plex Sans"/>
              </a:endParaRPr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134768F-EBE7-0BCC-98C7-04609652A305}"/>
              </a:ext>
            </a:extLst>
          </p:cNvPr>
          <p:cNvSpPr/>
          <p:nvPr/>
        </p:nvSpPr>
        <p:spPr>
          <a:xfrm>
            <a:off x="4038600" y="1426818"/>
            <a:ext cx="3350341" cy="805393"/>
          </a:xfrm>
          <a:prstGeom prst="roundRect">
            <a:avLst>
              <a:gd name="adj" fmla="val 11888"/>
            </a:avLst>
          </a:prstGeom>
          <a:noFill/>
          <a:ln w="38100" cap="flat" cmpd="sng" algn="ctr">
            <a:solidFill>
              <a:srgbClr val="468A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noProof="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18CD87E-14D3-F186-2E59-C07AA1E44622}"/>
              </a:ext>
            </a:extLst>
          </p:cNvPr>
          <p:cNvSpPr/>
          <p:nvPr/>
        </p:nvSpPr>
        <p:spPr>
          <a:xfrm>
            <a:off x="7770300" y="1041273"/>
            <a:ext cx="2098675" cy="1528810"/>
          </a:xfrm>
          <a:prstGeom prst="roundRect">
            <a:avLst>
              <a:gd name="adj" fmla="val 11888"/>
            </a:avLst>
          </a:prstGeom>
          <a:noFill/>
          <a:ln w="38100" cap="flat" cmpd="sng" algn="ctr">
            <a:solidFill>
              <a:srgbClr val="00B0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87025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B6A0-2370-E312-31F4-CC53BCC90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603DFB-A341-6F1A-1810-C9C7FCF6CF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67" y="691109"/>
            <a:ext cx="10182666" cy="5727749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278B7097-BC3D-E896-1EE6-E8C8B3B57253}"/>
              </a:ext>
            </a:extLst>
          </p:cNvPr>
          <p:cNvSpPr/>
          <p:nvPr/>
        </p:nvSpPr>
        <p:spPr>
          <a:xfrm rot="10800000">
            <a:off x="-18" y="-28"/>
            <a:ext cx="8986620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9FE447C-E580-DB61-C0DE-CB75EB0B3E6F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36CF90E-123F-7621-6FB1-D300A7DC8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22A9AC4-2D6D-59D0-D782-F4644F28E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29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EE38D3-2FFC-5326-8D3F-9B788E6B84C2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104639E0-9917-8CE9-D8DC-1D9B83810083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B3F4DA5C-5C40-21D9-565A-83686FCDF69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29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7BCDFC-40E4-115A-19DC-E24094489D64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923443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chemeClr val="bg1"/>
                </a:solidFill>
              </a:rPr>
              <a:t>🆕</a:t>
            </a:r>
            <a:r>
              <a:rPr lang="en-US" b="1" noProof="0" dirty="0">
                <a:solidFill>
                  <a:schemeClr val="bg1"/>
                </a:solidFill>
              </a:rPr>
              <a:t>The novelty: 🧬Molecular SSINet</a:t>
            </a:r>
          </a:p>
        </p:txBody>
      </p:sp>
    </p:spTree>
    <p:extLst>
      <p:ext uri="{BB962C8B-B14F-4D97-AF65-F5344CB8AC3E}">
        <p14:creationId xmlns:p14="http://schemas.microsoft.com/office/powerpoint/2010/main" val="22651915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Word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D6895-8278-65DB-836F-8AD445BE5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FDEE28-749F-3529-5D32-FD871FE1AC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0"/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70" t="11076" r="10955" b="57130"/>
          <a:stretch>
            <a:fillRect/>
          </a:stretch>
        </p:blipFill>
        <p:spPr>
          <a:xfrm>
            <a:off x="388244" y="46163"/>
            <a:ext cx="11415512" cy="6765673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80C8CE9D-72BF-0650-4C57-A670862A4E6F}"/>
              </a:ext>
            </a:extLst>
          </p:cNvPr>
          <p:cNvSpPr/>
          <p:nvPr/>
        </p:nvSpPr>
        <p:spPr>
          <a:xfrm rot="10800000">
            <a:off x="-21" y="-31"/>
            <a:ext cx="10695979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4A12822-8881-F6EC-0090-3B2E57186434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AE9D5D-8254-08C9-4E25-B9460F43C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6036D5E-F7A6-B3FB-CE1D-4E9EDD6F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30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62471F-6C82-72E3-C3DB-D46EE7076264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3968595A-DACF-6BD7-B2A5-10DDEA420F05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F3FB459A-DA31-E062-951F-AC64ACBC0C7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30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12522-5192-C987-3420-A5C79DD1AC27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106959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noProof="0" dirty="0">
                <a:solidFill>
                  <a:schemeClr val="bg1"/>
                </a:solidFill>
              </a:rPr>
              <a:t>🧬Molecular SSINet : </a:t>
            </a:r>
            <a:r>
              <a:rPr lang="en-US" noProof="0" dirty="0">
                <a:solidFill>
                  <a:schemeClr val="bg1"/>
                </a:solidFill>
              </a:rPr>
              <a:t>🏋️</a:t>
            </a:r>
            <a:r>
              <a:rPr lang="en-US" b="1" noProof="0" dirty="0">
                <a:solidFill>
                  <a:schemeClr val="bg1"/>
                </a:solidFill>
              </a:rPr>
              <a:t>Training The Mask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003AEE7F-367E-CF46-E651-D7498F000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035" y="1097770"/>
            <a:ext cx="10558368" cy="478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195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E761-4E77-33D4-EFAB-847B46B0A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D409BCE-910B-D763-28C2-3B16BC2DB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3748" r="49515" b="-126"/>
          <a:stretch>
            <a:fillRect/>
          </a:stretch>
        </p:blipFill>
        <p:spPr>
          <a:xfrm>
            <a:off x="5074408" y="3376434"/>
            <a:ext cx="6846934" cy="2689573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CF2C4AB9-D9E6-78F2-3C2A-479F0C9C905C}"/>
              </a:ext>
            </a:extLst>
          </p:cNvPr>
          <p:cNvSpPr/>
          <p:nvPr/>
        </p:nvSpPr>
        <p:spPr>
          <a:xfrm rot="10800000">
            <a:off x="-21" y="-31"/>
            <a:ext cx="10695979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A5DAF9-BDE9-DA91-5EB9-9F0D2C38D115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2BA2064-331B-214E-66F4-6B268CB9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3B823EE-3898-1072-9C60-634FF808E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31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850E62-102D-5CE4-1D66-2320083DD7BA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4FE87DFE-BD58-086B-380A-D3ECF3D4DD36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74FD2197-4607-B35F-6BAD-CC135312DF1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31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27301-939A-0451-E799-A25EA4498854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106959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noProof="0" dirty="0">
                <a:solidFill>
                  <a:schemeClr val="bg1"/>
                </a:solidFill>
              </a:rPr>
              <a:t>🧬Molecular SSINet : </a:t>
            </a:r>
            <a:r>
              <a:rPr lang="en-US" noProof="0" dirty="0">
                <a:solidFill>
                  <a:schemeClr val="bg1"/>
                </a:solidFill>
              </a:rPr>
              <a:t>🏋️</a:t>
            </a:r>
            <a:r>
              <a:rPr lang="en-US" b="1" noProof="0" dirty="0">
                <a:solidFill>
                  <a:schemeClr val="bg1"/>
                </a:solidFill>
              </a:rPr>
              <a:t>Training The Mask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DEF0352-AE72-0180-BFE9-78378A8E361B}"/>
              </a:ext>
            </a:extLst>
          </p:cNvPr>
          <p:cNvGrpSpPr/>
          <p:nvPr/>
        </p:nvGrpSpPr>
        <p:grpSpPr>
          <a:xfrm>
            <a:off x="7000140" y="1092718"/>
            <a:ext cx="4744470" cy="1793350"/>
            <a:chOff x="1351530" y="4213093"/>
            <a:chExt cx="4744470" cy="179335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29FCC0C-6AC1-9BA6-768C-D41B499AF66E}"/>
                </a:ext>
              </a:extLst>
            </p:cNvPr>
            <p:cNvSpPr/>
            <p:nvPr/>
          </p:nvSpPr>
          <p:spPr>
            <a:xfrm>
              <a:off x="1351530" y="4213093"/>
              <a:ext cx="4744470" cy="1793350"/>
            </a:xfrm>
            <a:prstGeom prst="roundRect">
              <a:avLst>
                <a:gd name="adj" fmla="val 14824"/>
              </a:avLst>
            </a:prstGeom>
            <a:solidFill>
              <a:srgbClr val="FDFDFD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667033A-59A9-2E28-6D24-F251110C09D2}"/>
                </a:ext>
              </a:extLst>
            </p:cNvPr>
            <p:cNvSpPr txBox="1"/>
            <p:nvPr/>
          </p:nvSpPr>
          <p:spPr>
            <a:xfrm>
              <a:off x="2061286" y="4884943"/>
              <a:ext cx="3320176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0070C0"/>
                  </a:solidFill>
                  <a:latin typeface="IBM Plex Sans"/>
                </a:rPr>
                <a:t>Warm-Start</a:t>
              </a:r>
            </a:p>
          </p:txBody>
        </p:sp>
        <p:pic>
          <p:nvPicPr>
            <p:cNvPr id="7" name="Graphic 6" descr="Downward trend graph with solid fill">
              <a:extLst>
                <a:ext uri="{FF2B5EF4-FFF2-40B4-BE49-F238E27FC236}">
                  <a16:creationId xmlns:a16="http://schemas.microsoft.com/office/drawing/2014/main" id="{4F57298F-2EFC-640E-7471-B70AAA9EAB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480534" y="4367204"/>
              <a:ext cx="481680" cy="48168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43466FC-05EF-83EF-9BED-95286A83AA3E}"/>
                </a:ext>
              </a:extLst>
            </p:cNvPr>
            <p:cNvSpPr txBox="1"/>
            <p:nvPr/>
          </p:nvSpPr>
          <p:spPr>
            <a:xfrm>
              <a:off x="1506131" y="5310155"/>
              <a:ext cx="44304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First training on pretraining molecules to ensure </a:t>
              </a:r>
              <a:r>
                <a:rPr lang="en-US" b="1" noProof="0" dirty="0">
                  <a:solidFill>
                    <a:srgbClr val="161616"/>
                  </a:solidFill>
                  <a:latin typeface="IBM Plex Sans"/>
                </a:rPr>
                <a:t>convergence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AF794408-4848-590C-FF69-E01A8F640E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86" y="979264"/>
            <a:ext cx="6346517" cy="287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554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96B08-A835-3380-C2FC-A067EDA57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825E58CD-BDFA-7244-996D-75646FF94D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40" t="12834" r="-1424" b="788"/>
          <a:stretch>
            <a:fillRect/>
          </a:stretch>
        </p:blipFill>
        <p:spPr>
          <a:xfrm>
            <a:off x="5020620" y="3345698"/>
            <a:ext cx="6846934" cy="2689573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F63E7175-C74F-7CF8-FACE-08503F484523}"/>
              </a:ext>
            </a:extLst>
          </p:cNvPr>
          <p:cNvSpPr/>
          <p:nvPr/>
        </p:nvSpPr>
        <p:spPr>
          <a:xfrm rot="10800000">
            <a:off x="-21" y="-31"/>
            <a:ext cx="10695979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rgbClr val="116277"/>
                </a:solidFill>
              </a:rPr>
              <a:t>Update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A4CBD4-FC03-E516-9629-05A7550E6AE5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7FEB26ED-A9D6-A79B-720B-EFAF6BE6F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FF85683-6C15-48F6-956D-95D783782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32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441EAE-3B27-5AD1-580A-32E3DF8AE43E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9DE76855-A233-D2DF-4C05-E887589A63C7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9DC9E7F3-7199-2267-9D46-C78D7B3AC09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32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D0D7D2-F17F-91A2-FAB8-A719647C7C53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106959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noProof="0" dirty="0">
                <a:solidFill>
                  <a:schemeClr val="bg1"/>
                </a:solidFill>
              </a:rPr>
              <a:t>🧬Molecular SSINet : </a:t>
            </a:r>
            <a:r>
              <a:rPr lang="en-US" noProof="0" dirty="0">
                <a:solidFill>
                  <a:schemeClr val="bg1"/>
                </a:solidFill>
              </a:rPr>
              <a:t>🏋️</a:t>
            </a:r>
            <a:r>
              <a:rPr lang="en-US" b="1" noProof="0" dirty="0">
                <a:solidFill>
                  <a:schemeClr val="bg1"/>
                </a:solidFill>
              </a:rPr>
              <a:t>Training The Mask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FE5D63-7BCE-A5D2-93D2-F6971543D7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50" t="50839"/>
          <a:stretch>
            <a:fillRect/>
          </a:stretch>
        </p:blipFill>
        <p:spPr>
          <a:xfrm>
            <a:off x="36820" y="870031"/>
            <a:ext cx="4767467" cy="3816315"/>
          </a:xfrm>
          <a:prstGeom prst="rect">
            <a:avLst/>
          </a:prstGeom>
        </p:spPr>
      </p:pic>
      <p:sp>
        <p:nvSpPr>
          <p:cNvPr id="36" name="Arrow: Right 35">
            <a:extLst>
              <a:ext uri="{FF2B5EF4-FFF2-40B4-BE49-F238E27FC236}">
                <a16:creationId xmlns:a16="http://schemas.microsoft.com/office/drawing/2014/main" id="{BFE90F24-D20E-234F-CDCA-79C2F3894A1B}"/>
              </a:ext>
            </a:extLst>
          </p:cNvPr>
          <p:cNvSpPr/>
          <p:nvPr/>
        </p:nvSpPr>
        <p:spPr>
          <a:xfrm rot="3759015">
            <a:off x="1596187" y="2612796"/>
            <a:ext cx="479685" cy="404378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32741F69-DEE5-CD5E-3E47-2318D14D420F}"/>
              </a:ext>
            </a:extLst>
          </p:cNvPr>
          <p:cNvSpPr/>
          <p:nvPr/>
        </p:nvSpPr>
        <p:spPr>
          <a:xfrm rot="3665419">
            <a:off x="2670081" y="1654635"/>
            <a:ext cx="479685" cy="404378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C852C531-D3D5-44DA-90BD-49019FD2B599}"/>
              </a:ext>
            </a:extLst>
          </p:cNvPr>
          <p:cNvSpPr/>
          <p:nvPr/>
        </p:nvSpPr>
        <p:spPr>
          <a:xfrm rot="2224183">
            <a:off x="3534126" y="936470"/>
            <a:ext cx="479685" cy="404378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BD64CB3A-0336-BE76-3444-527C880733DB}"/>
              </a:ext>
            </a:extLst>
          </p:cNvPr>
          <p:cNvSpPr/>
          <p:nvPr/>
        </p:nvSpPr>
        <p:spPr>
          <a:xfrm rot="3759015">
            <a:off x="7335353" y="4233508"/>
            <a:ext cx="479685" cy="40437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BEFC8CB2-74CB-BB64-15BC-9B8064882F79}"/>
              </a:ext>
            </a:extLst>
          </p:cNvPr>
          <p:cNvSpPr/>
          <p:nvPr/>
        </p:nvSpPr>
        <p:spPr>
          <a:xfrm rot="5400000">
            <a:off x="9030324" y="3687743"/>
            <a:ext cx="479685" cy="40437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6ECD6B48-1263-6221-1383-15A483A1B0AE}"/>
              </a:ext>
            </a:extLst>
          </p:cNvPr>
          <p:cNvSpPr/>
          <p:nvPr/>
        </p:nvSpPr>
        <p:spPr>
          <a:xfrm rot="6512092">
            <a:off x="10399777" y="3273706"/>
            <a:ext cx="479685" cy="40437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C56FBF0-82C2-DD8C-6F1B-C5D6EB001B46}"/>
              </a:ext>
            </a:extLst>
          </p:cNvPr>
          <p:cNvGrpSpPr/>
          <p:nvPr/>
        </p:nvGrpSpPr>
        <p:grpSpPr>
          <a:xfrm>
            <a:off x="180969" y="4735593"/>
            <a:ext cx="4365631" cy="622984"/>
            <a:chOff x="6096000" y="1439279"/>
            <a:chExt cx="4365631" cy="62298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B8FA8F0-EF29-823D-80D3-DAD1037B6741}"/>
                </a:ext>
              </a:extLst>
            </p:cNvPr>
            <p:cNvGrpSpPr/>
            <p:nvPr/>
          </p:nvGrpSpPr>
          <p:grpSpPr>
            <a:xfrm>
              <a:off x="6096000" y="1439279"/>
              <a:ext cx="4365631" cy="622984"/>
              <a:chOff x="3821038" y="4982572"/>
              <a:chExt cx="4365631" cy="622984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129B4C91-06BE-3461-479F-A31EC39A28D5}"/>
                  </a:ext>
                </a:extLst>
              </p:cNvPr>
              <p:cNvSpPr/>
              <p:nvPr/>
            </p:nvSpPr>
            <p:spPr>
              <a:xfrm>
                <a:off x="3821038" y="4982572"/>
                <a:ext cx="4365631" cy="618067"/>
              </a:xfrm>
              <a:prstGeom prst="roundRect">
                <a:avLst>
                  <a:gd name="adj" fmla="val 49272"/>
                </a:avLst>
              </a:prstGeom>
              <a:solidFill>
                <a:srgbClr val="FDFDFD">
                  <a:alpha val="99000"/>
                </a:srgbClr>
              </a:solidFill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lIns="468000" tIns="0" rIns="0" bIns="504000" rtlCol="0" anchor="t"/>
              <a:lstStyle/>
              <a:p>
                <a:r>
                  <a:rPr lang="en-US" sz="2800" noProof="0" dirty="0">
                    <a:solidFill>
                      <a:schemeClr val="tx1"/>
                    </a:solidFill>
                  </a:rPr>
                  <a:t>  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Same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Trend: </a:t>
                </a:r>
                <a:r>
                  <a:rPr lang="en-US" sz="2000" b="1" noProof="0" dirty="0">
                    <a:solidFill>
                      <a:srgbClr val="00B050"/>
                    </a:solidFill>
                  </a:rPr>
                  <a:t>Good Adaptation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C949D44-720B-D94C-F6EF-1DCB676A4B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1038" y="4982589"/>
                <a:ext cx="623379" cy="622967"/>
              </a:xfrm>
              <a:prstGeom prst="ellipse">
                <a:avLst/>
              </a:prstGeom>
              <a:solidFill>
                <a:srgbClr val="00B050"/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144000" rtlCol="0" anchor="ctr"/>
              <a:lstStyle/>
              <a:p>
                <a:pPr algn="ctr"/>
                <a:endParaRPr lang="en-US" noProof="0" dirty="0"/>
              </a:p>
            </p:txBody>
          </p:sp>
        </p:grpSp>
        <p:pic>
          <p:nvPicPr>
            <p:cNvPr id="8" name="Elemento grafico 110" descr="Thumbs Up Sign">
              <a:extLst>
                <a:ext uri="{FF2B5EF4-FFF2-40B4-BE49-F238E27FC236}">
                  <a16:creationId xmlns:a16="http://schemas.microsoft.com/office/drawing/2014/main" id="{BC4B3613-4512-86ED-16CC-D7B1B85535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1209317">
              <a:off x="6182004" y="1463209"/>
              <a:ext cx="451369" cy="515695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0E1D4D2-F1CE-D5CE-6961-D8A097927897}"/>
              </a:ext>
            </a:extLst>
          </p:cNvPr>
          <p:cNvGrpSpPr/>
          <p:nvPr/>
        </p:nvGrpSpPr>
        <p:grpSpPr>
          <a:xfrm>
            <a:off x="180969" y="5458063"/>
            <a:ext cx="4365631" cy="628360"/>
            <a:chOff x="180969" y="5458063"/>
            <a:chExt cx="4365631" cy="62836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4CED3CAF-6438-9B69-E3E8-11DB89C3DDF3}"/>
                </a:ext>
              </a:extLst>
            </p:cNvPr>
            <p:cNvSpPr/>
            <p:nvPr/>
          </p:nvSpPr>
          <p:spPr>
            <a:xfrm>
              <a:off x="180969" y="5458063"/>
              <a:ext cx="4316704" cy="618067"/>
            </a:xfrm>
            <a:prstGeom prst="roundRect">
              <a:avLst>
                <a:gd name="adj" fmla="val 49272"/>
              </a:avLst>
            </a:prstGeom>
            <a:solidFill>
              <a:srgbClr val="FDFDFD">
                <a:alpha val="99000"/>
              </a:srgbClr>
            </a:solidFill>
            <a:ln w="28575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lIns="144000" tIns="72000" rIns="144000" bIns="0" rtlCol="0" anchor="t"/>
            <a:lstStyle/>
            <a:p>
              <a:r>
                <a:rPr lang="en-US" sz="2000" b="1" dirty="0">
                  <a:solidFill>
                    <a:schemeClr val="tx1"/>
                  </a:solidFill>
                </a:rPr>
                <a:t>Quality is </a:t>
              </a:r>
              <a:r>
                <a:rPr lang="en-US" sz="2000" b="1" dirty="0">
                  <a:solidFill>
                    <a:srgbClr val="FF0000"/>
                  </a:solidFill>
                </a:rPr>
                <a:t>training dependent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B4387A8-8BF8-63F1-C04C-54645FB1A7CE}"/>
                </a:ext>
              </a:extLst>
            </p:cNvPr>
            <p:cNvGrpSpPr/>
            <p:nvPr/>
          </p:nvGrpSpPr>
          <p:grpSpPr>
            <a:xfrm>
              <a:off x="3919331" y="5459569"/>
              <a:ext cx="627269" cy="626854"/>
              <a:chOff x="10897051" y="2169375"/>
              <a:chExt cx="627269" cy="62685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BE7E6EA-BC54-7FC9-1961-7353641B11A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97051" y="2169375"/>
                <a:ext cx="627269" cy="626854"/>
              </a:xfrm>
              <a:prstGeom prst="ellipse">
                <a:avLst/>
              </a:prstGeom>
              <a:solidFill>
                <a:srgbClr val="FF0000"/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08000" rIns="144000"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4" name="Elemento grafico 110" descr="Thumbs Up Sign">
                <a:extLst>
                  <a:ext uri="{FF2B5EF4-FFF2-40B4-BE49-F238E27FC236}">
                    <a16:creationId xmlns:a16="http://schemas.microsoft.com/office/drawing/2014/main" id="{ABB8F844-C2F3-DA40-3ABC-194A7A1399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313443" flipH="1" flipV="1">
                <a:off x="10965160" y="2217154"/>
                <a:ext cx="491053" cy="561034"/>
              </a:xfrm>
              <a:prstGeom prst="rect">
                <a:avLst/>
              </a:prstGeom>
            </p:spPr>
          </p:pic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2F8502E-6E72-57EC-9F13-FB04311B7338}"/>
              </a:ext>
            </a:extLst>
          </p:cNvPr>
          <p:cNvGrpSpPr/>
          <p:nvPr/>
        </p:nvGrpSpPr>
        <p:grpSpPr>
          <a:xfrm>
            <a:off x="6214366" y="1101798"/>
            <a:ext cx="4744470" cy="1793350"/>
            <a:chOff x="1351530" y="4213093"/>
            <a:chExt cx="4744470" cy="1793350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CD28C645-0337-3BF5-214D-23A7F80F7F8A}"/>
                </a:ext>
              </a:extLst>
            </p:cNvPr>
            <p:cNvSpPr/>
            <p:nvPr/>
          </p:nvSpPr>
          <p:spPr>
            <a:xfrm>
              <a:off x="1351530" y="4213093"/>
              <a:ext cx="4744470" cy="1793350"/>
            </a:xfrm>
            <a:prstGeom prst="roundRect">
              <a:avLst>
                <a:gd name="adj" fmla="val 14824"/>
              </a:avLst>
            </a:prstGeom>
            <a:solidFill>
              <a:srgbClr val="FDFDFD"/>
            </a:solidFill>
            <a:ln w="38100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4BA3AA4-859D-2A96-9C6E-2761E4E5A720}"/>
                </a:ext>
              </a:extLst>
            </p:cNvPr>
            <p:cNvSpPr txBox="1"/>
            <p:nvPr/>
          </p:nvSpPr>
          <p:spPr>
            <a:xfrm>
              <a:off x="2061286" y="4884943"/>
              <a:ext cx="3320176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chemeClr val="accent2"/>
                  </a:solidFill>
                  <a:latin typeface="IBM Plex Sans"/>
                </a:rPr>
                <a:t>Concurrent Update</a:t>
              </a:r>
            </a:p>
          </p:txBody>
        </p:sp>
        <p:pic>
          <p:nvPicPr>
            <p:cNvPr id="32" name="Graphic 31" descr="Downward trend graph with solid fill">
              <a:extLst>
                <a:ext uri="{FF2B5EF4-FFF2-40B4-BE49-F238E27FC236}">
                  <a16:creationId xmlns:a16="http://schemas.microsoft.com/office/drawing/2014/main" id="{02DA77CE-22DD-FB4C-3D14-1E0415C512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3480534" y="4367204"/>
              <a:ext cx="481680" cy="48168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51B92C9-75F8-7414-0B38-500FAD1F4FFB}"/>
                </a:ext>
              </a:extLst>
            </p:cNvPr>
            <p:cNvSpPr txBox="1"/>
            <p:nvPr/>
          </p:nvSpPr>
          <p:spPr>
            <a:xfrm>
              <a:off x="1506131" y="5310155"/>
              <a:ext cx="44304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161616"/>
                  </a:solidFill>
                  <a:latin typeface="IBM Plex Sans"/>
                </a:rPr>
                <a:t>Three-steps-alignment </a:t>
              </a:r>
              <a:r>
                <a:rPr lang="en-US" dirty="0">
                  <a:solidFill>
                    <a:srgbClr val="161616"/>
                  </a:solidFill>
                  <a:latin typeface="IBM Plex Sans"/>
                </a:rPr>
                <a:t>after each generator iteration</a:t>
              </a:r>
              <a:endParaRPr lang="en-US" noProof="0" dirty="0">
                <a:solidFill>
                  <a:srgbClr val="161616"/>
                </a:solidFill>
                <a:latin typeface="IBM Plex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2127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39076-E2EA-3D1B-EDE4-3C659CA80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F06B651-A655-AE81-F1F4-E1BFD58FCB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64" t="29104" r="11102" b="18909"/>
          <a:stretch>
            <a:fillRect/>
          </a:stretch>
        </p:blipFill>
        <p:spPr>
          <a:xfrm>
            <a:off x="5154507" y="0"/>
            <a:ext cx="7037493" cy="46767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3125728-928F-488C-A57B-2C1EE82E87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"/>
          <a:stretch/>
        </p:blipFill>
        <p:spPr>
          <a:xfrm>
            <a:off x="-15" y="3264747"/>
            <a:ext cx="7030196" cy="2911950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7EE3DCE3-612B-4B7D-8094-0F82FC67329E}"/>
              </a:ext>
            </a:extLst>
          </p:cNvPr>
          <p:cNvSpPr/>
          <p:nvPr/>
        </p:nvSpPr>
        <p:spPr>
          <a:xfrm rot="10800000">
            <a:off x="-16" y="-25"/>
            <a:ext cx="7433628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F1E523-FAC5-B69B-3F6B-455350DC6E50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A598601-7C36-B295-97D9-FE607BA0F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127E78E-919C-B057-C02D-29612903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33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0DCAE3-3C07-450E-8221-76F804976677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811920DF-3812-0A4C-9342-74FA39EFA16C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87776C4E-561A-8EA4-D9F9-F7302321809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33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49284-9F58-33B2-66AE-8979FCA49058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84078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chemeClr val="bg1"/>
                </a:solidFill>
              </a:rPr>
              <a:t>🧩</a:t>
            </a:r>
            <a:r>
              <a:rPr lang="en-US" b="1" noProof="0" dirty="0">
                <a:solidFill>
                  <a:schemeClr val="bg1"/>
                </a:solidFill>
              </a:rPr>
              <a:t>The Adaptation: </a:t>
            </a:r>
            <a:r>
              <a:rPr lang="en-US" noProof="0" dirty="0">
                <a:solidFill>
                  <a:schemeClr val="bg1"/>
                </a:solidFill>
              </a:rPr>
              <a:t>📂</a:t>
            </a:r>
            <a:r>
              <a:rPr lang="en-US" b="1" noProof="0" dirty="0">
                <a:solidFill>
                  <a:schemeClr val="bg1"/>
                </a:solidFill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438380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779F1-5562-3B59-5C49-F7C57C6F7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39A291-76ED-8740-CF15-51716B09D2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64" t="24805" r="11102"/>
          <a:stretch>
            <a:fillRect/>
          </a:stretch>
        </p:blipFill>
        <p:spPr>
          <a:xfrm>
            <a:off x="1309568" y="525350"/>
            <a:ext cx="4479221" cy="4305391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96BB0991-F440-C582-12E0-85623259FAB9}"/>
              </a:ext>
            </a:extLst>
          </p:cNvPr>
          <p:cNvSpPr/>
          <p:nvPr/>
        </p:nvSpPr>
        <p:spPr>
          <a:xfrm rot="10800000">
            <a:off x="-16" y="-27"/>
            <a:ext cx="9247047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8012A9C-697A-4A76-3BA7-2371C2E832EB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E5D4EE5-DE03-A7FF-2D80-209438317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FE212BE-6A30-B5AB-7811-89465262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34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F9D9D2-E0B0-5B61-0971-7B642D2D6BA6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429CB0D6-4214-4112-DFE8-BC11601C8476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54FDA492-311E-FB50-F1B3-DC910E0FA48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34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66552-832E-46A1-795F-B16CC52EE196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98390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chemeClr val="bg1"/>
                </a:solidFill>
              </a:rPr>
              <a:t>🧩</a:t>
            </a:r>
            <a:r>
              <a:rPr lang="en-US" b="1" noProof="0" dirty="0">
                <a:solidFill>
                  <a:schemeClr val="bg1"/>
                </a:solidFill>
              </a:rPr>
              <a:t>The Adaptation: </a:t>
            </a:r>
            <a:r>
              <a:rPr lang="en-US" noProof="0" dirty="0">
                <a:solidFill>
                  <a:schemeClr val="bg1"/>
                </a:solidFill>
              </a:rPr>
              <a:t>➕</a:t>
            </a:r>
            <a:r>
              <a:rPr lang="en-US" b="1" noProof="0" dirty="0">
                <a:solidFill>
                  <a:schemeClr val="bg1"/>
                </a:solidFill>
              </a:rPr>
              <a:t>Weighted Sum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61CE0A6-8E75-97A8-056C-CE22777C8A07}"/>
              </a:ext>
            </a:extLst>
          </p:cNvPr>
          <p:cNvSpPr/>
          <p:nvPr/>
        </p:nvSpPr>
        <p:spPr>
          <a:xfrm>
            <a:off x="4677764" y="1416126"/>
            <a:ext cx="619200" cy="617281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 noProof="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909E40E-A10B-BBB0-30A4-A4FADB50FC46}"/>
              </a:ext>
            </a:extLst>
          </p:cNvPr>
          <p:cNvGrpSpPr/>
          <p:nvPr/>
        </p:nvGrpSpPr>
        <p:grpSpPr>
          <a:xfrm>
            <a:off x="7549286" y="981545"/>
            <a:ext cx="4430486" cy="2808539"/>
            <a:chOff x="7549286" y="1097778"/>
            <a:chExt cx="4430486" cy="2962818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EEA6D5B-1F1E-EC26-60B4-F348CE89B7BE}"/>
                </a:ext>
              </a:extLst>
            </p:cNvPr>
            <p:cNvSpPr/>
            <p:nvPr/>
          </p:nvSpPr>
          <p:spPr>
            <a:xfrm>
              <a:off x="7549286" y="1097778"/>
              <a:ext cx="4430486" cy="2962818"/>
            </a:xfrm>
            <a:prstGeom prst="roundRect">
              <a:avLst>
                <a:gd name="adj" fmla="val 11198"/>
              </a:avLst>
            </a:prstGeom>
            <a:solidFill>
              <a:srgbClr val="FDFDFD"/>
            </a:solidFill>
            <a:ln w="38100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809C3A8-972D-5DE1-8A02-67144E0EB94B}"/>
                </a:ext>
              </a:extLst>
            </p:cNvPr>
            <p:cNvSpPr txBox="1"/>
            <p:nvPr/>
          </p:nvSpPr>
          <p:spPr>
            <a:xfrm>
              <a:off x="8407871" y="1773198"/>
              <a:ext cx="2682989" cy="487025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chemeClr val="accent2"/>
                  </a:solidFill>
                  <a:latin typeface="IBM Plex Sans"/>
                </a:rPr>
                <a:t>Reward Hacking</a:t>
              </a:r>
            </a:p>
          </p:txBody>
        </p:sp>
        <p:pic>
          <p:nvPicPr>
            <p:cNvPr id="25" name="Graphic 24" descr="Trophy with solid fill">
              <a:extLst>
                <a:ext uri="{FF2B5EF4-FFF2-40B4-BE49-F238E27FC236}">
                  <a16:creationId xmlns:a16="http://schemas.microsoft.com/office/drawing/2014/main" id="{79F372CF-BF29-E1CB-EFC8-26CAF8E508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493457" y="1220411"/>
              <a:ext cx="511818" cy="55278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AE4EC40-1009-2B1B-6C42-F6CCCC475DBF}"/>
                </a:ext>
              </a:extLst>
            </p:cNvPr>
            <p:cNvSpPr txBox="1"/>
            <p:nvPr/>
          </p:nvSpPr>
          <p:spPr>
            <a:xfrm>
              <a:off x="7959274" y="2377349"/>
              <a:ext cx="3580181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Greater </a:t>
              </a:r>
              <a:r>
                <a:rPr lang="en-US" b="1" noProof="0" dirty="0">
                  <a:solidFill>
                    <a:srgbClr val="161616"/>
                  </a:solidFill>
                  <a:latin typeface="IBM Plex Sans"/>
                </a:rPr>
                <a:t>aromatic</a:t>
              </a:r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 </a:t>
              </a:r>
              <a:r>
                <a:rPr lang="en-US" b="1" noProof="0" dirty="0">
                  <a:solidFill>
                    <a:srgbClr val="161616"/>
                  </a:solidFill>
                  <a:latin typeface="IBM Plex Sans"/>
                </a:rPr>
                <a:t>surface</a:t>
              </a:r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 area</a:t>
              </a:r>
            </a:p>
            <a:p>
              <a:pPr algn="ctr"/>
              <a:endParaRPr lang="en-US" noProof="0" dirty="0">
                <a:solidFill>
                  <a:srgbClr val="161616"/>
                </a:solidFill>
                <a:latin typeface="IBM Plex Sans"/>
              </a:endParaRPr>
            </a:p>
            <a:p>
              <a:pPr algn="ctr"/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More </a:t>
              </a:r>
              <a:r>
                <a:rPr lang="en-US" b="1" noProof="0" dirty="0">
                  <a:solidFill>
                    <a:srgbClr val="161616"/>
                  </a:solidFill>
                  <a:latin typeface="IBM Plex Sans"/>
                </a:rPr>
                <a:t>hydrophobic</a:t>
              </a:r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 interactions</a:t>
              </a:r>
            </a:p>
            <a:p>
              <a:pPr algn="ctr"/>
              <a:endParaRPr lang="en-US" noProof="0" dirty="0">
                <a:solidFill>
                  <a:srgbClr val="161616"/>
                </a:solidFill>
                <a:latin typeface="IBM Plex Sans"/>
              </a:endParaRPr>
            </a:p>
            <a:p>
              <a:pPr algn="ctr"/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Higher </a:t>
              </a:r>
              <a:r>
                <a:rPr lang="en-US" b="1" noProof="0" dirty="0">
                  <a:solidFill>
                    <a:srgbClr val="161616"/>
                  </a:solidFill>
                  <a:latin typeface="IBM Plex Sans"/>
                </a:rPr>
                <a:t>Binding Affinity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351B430-1FC9-C783-4061-D9E79B5FD2FA}"/>
                </a:ext>
              </a:extLst>
            </p:cNvPr>
            <p:cNvCxnSpPr>
              <a:cxnSpLocks/>
            </p:cNvCxnSpPr>
            <p:nvPr/>
          </p:nvCxnSpPr>
          <p:spPr>
            <a:xfrm>
              <a:off x="9732937" y="2713846"/>
              <a:ext cx="0" cy="256123"/>
            </a:xfrm>
            <a:prstGeom prst="straightConnector1">
              <a:avLst/>
            </a:prstGeom>
            <a:solidFill>
              <a:srgbClr val="FDFDFD"/>
            </a:solidFill>
            <a:ln w="38100" cap="flat" cmpd="sng" algn="ctr">
              <a:solidFill>
                <a:schemeClr val="accent2"/>
              </a:solidFill>
              <a:prstDash val="solid"/>
              <a:miter lim="800000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CED447E-9D6D-D544-8AF2-2A719A66C41D}"/>
                </a:ext>
              </a:extLst>
            </p:cNvPr>
            <p:cNvCxnSpPr>
              <a:cxnSpLocks/>
            </p:cNvCxnSpPr>
            <p:nvPr/>
          </p:nvCxnSpPr>
          <p:spPr>
            <a:xfrm>
              <a:off x="9738455" y="3308057"/>
              <a:ext cx="0" cy="256123"/>
            </a:xfrm>
            <a:prstGeom prst="straightConnector1">
              <a:avLst/>
            </a:prstGeom>
            <a:solidFill>
              <a:srgbClr val="FDFDFD"/>
            </a:solidFill>
            <a:ln w="38100" cap="flat" cmpd="sng" algn="ctr">
              <a:solidFill>
                <a:schemeClr val="accent2"/>
              </a:solidFill>
              <a:prstDash val="solid"/>
              <a:miter lim="800000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EB8FE9-F241-EE38-E095-FA682D987AF3}"/>
              </a:ext>
            </a:extLst>
          </p:cNvPr>
          <p:cNvCxnSpPr>
            <a:cxnSpLocks/>
            <a:endCxn id="32" idx="6"/>
          </p:cNvCxnSpPr>
          <p:nvPr/>
        </p:nvCxnSpPr>
        <p:spPr>
          <a:xfrm flipH="1" flipV="1">
            <a:off x="5296964" y="1724767"/>
            <a:ext cx="2736209" cy="652673"/>
          </a:xfrm>
          <a:prstGeom prst="straightConnector1">
            <a:avLst/>
          </a:prstGeom>
          <a:solidFill>
            <a:srgbClr val="FDFDFD"/>
          </a:solidFill>
          <a:ln w="38100" cap="flat" cmpd="sng" algn="ctr">
            <a:solidFill>
              <a:schemeClr val="accent2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05B4702-9AF8-49C7-AFBA-6CC3A3E55868}"/>
              </a:ext>
            </a:extLst>
          </p:cNvPr>
          <p:cNvGrpSpPr/>
          <p:nvPr/>
        </p:nvGrpSpPr>
        <p:grpSpPr>
          <a:xfrm>
            <a:off x="7549286" y="3946582"/>
            <a:ext cx="4430486" cy="2156826"/>
            <a:chOff x="7549286" y="3946582"/>
            <a:chExt cx="4430486" cy="2156826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4E319A19-FBA2-66F7-8205-8103F8BE86A8}"/>
                </a:ext>
              </a:extLst>
            </p:cNvPr>
            <p:cNvSpPr/>
            <p:nvPr/>
          </p:nvSpPr>
          <p:spPr>
            <a:xfrm>
              <a:off x="7549286" y="3946582"/>
              <a:ext cx="4430486" cy="2156826"/>
            </a:xfrm>
            <a:prstGeom prst="roundRect">
              <a:avLst>
                <a:gd name="adj" fmla="val 14599"/>
              </a:avLst>
            </a:prstGeom>
            <a:solidFill>
              <a:srgbClr val="FDFDFD"/>
            </a:solidFill>
            <a:ln w="38100" cap="flat" cmpd="sng" algn="ctr">
              <a:solidFill>
                <a:srgbClr val="C0000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2E3ECFA-A405-7833-9731-002BB7E306A8}"/>
                </a:ext>
              </a:extLst>
            </p:cNvPr>
            <p:cNvSpPr txBox="1"/>
            <p:nvPr/>
          </p:nvSpPr>
          <p:spPr>
            <a:xfrm>
              <a:off x="8243313" y="4482633"/>
              <a:ext cx="3042431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C00000"/>
                  </a:solidFill>
                  <a:latin typeface="IBM Plex Sans"/>
                </a:rPr>
                <a:t>Useless as a Drug</a:t>
              </a:r>
            </a:p>
          </p:txBody>
        </p:sp>
        <p:pic>
          <p:nvPicPr>
            <p:cNvPr id="51" name="Graphic 50" descr="Warning with solid fill">
              <a:extLst>
                <a:ext uri="{FF2B5EF4-FFF2-40B4-BE49-F238E27FC236}">
                  <a16:creationId xmlns:a16="http://schemas.microsoft.com/office/drawing/2014/main" id="{F8E4BFD8-DC76-BF07-9D95-C05069C6F1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493455" y="4007814"/>
              <a:ext cx="511818" cy="481680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7F07C34-9735-F35C-AD0B-A397298BFB39}"/>
                </a:ext>
              </a:extLst>
            </p:cNvPr>
            <p:cNvSpPr txBox="1"/>
            <p:nvPr/>
          </p:nvSpPr>
          <p:spPr>
            <a:xfrm>
              <a:off x="7612411" y="5060715"/>
              <a:ext cx="4241051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Does not have an</a:t>
              </a:r>
              <a:r>
                <a:rPr lang="en-US" b="1" noProof="0" dirty="0">
                  <a:solidFill>
                    <a:srgbClr val="161616"/>
                  </a:solidFill>
                  <a:latin typeface="IBM Plex Sans"/>
                </a:rPr>
                <a:t> H-bond donor </a:t>
              </a:r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to make </a:t>
              </a:r>
              <a:r>
                <a:rPr lang="en-US" b="1" noProof="0" dirty="0">
                  <a:solidFill>
                    <a:srgbClr val="161616"/>
                  </a:solidFill>
                  <a:latin typeface="IBM Plex Sans"/>
                </a:rPr>
                <a:t>Hinge Contact </a:t>
              </a:r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with the target protein, </a:t>
              </a:r>
              <a:r>
                <a:rPr lang="en-US" b="1" noProof="0" dirty="0">
                  <a:solidFill>
                    <a:srgbClr val="C00000"/>
                  </a:solidFill>
                  <a:latin typeface="IBM Plex Sans"/>
                </a:rPr>
                <a:t>still are detected important atoms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AD59ED7-971B-2009-930F-117D7ADC69CE}"/>
              </a:ext>
            </a:extLst>
          </p:cNvPr>
          <p:cNvGrpSpPr/>
          <p:nvPr/>
        </p:nvGrpSpPr>
        <p:grpSpPr>
          <a:xfrm>
            <a:off x="1427303" y="4181569"/>
            <a:ext cx="4744470" cy="1793350"/>
            <a:chOff x="1351530" y="4213093"/>
            <a:chExt cx="4744470" cy="179335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00F1F61-AFEA-E0EF-8143-2ED735C4499A}"/>
                </a:ext>
              </a:extLst>
            </p:cNvPr>
            <p:cNvSpPr/>
            <p:nvPr/>
          </p:nvSpPr>
          <p:spPr>
            <a:xfrm>
              <a:off x="1351530" y="4213093"/>
              <a:ext cx="4744470" cy="1793350"/>
            </a:xfrm>
            <a:prstGeom prst="roundRect">
              <a:avLst>
                <a:gd name="adj" fmla="val 14824"/>
              </a:avLst>
            </a:prstGeom>
            <a:solidFill>
              <a:srgbClr val="FDFDFD"/>
            </a:solidFill>
            <a:ln w="38100" cap="flat" cmpd="sng" algn="ctr">
              <a:solidFill>
                <a:srgbClr val="F2C40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7BF99E1-A3B5-E337-5BEB-2F0E1685ECB1}"/>
                </a:ext>
              </a:extLst>
            </p:cNvPr>
            <p:cNvSpPr txBox="1"/>
            <p:nvPr/>
          </p:nvSpPr>
          <p:spPr>
            <a:xfrm>
              <a:off x="2061286" y="4884943"/>
              <a:ext cx="3320176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F2C400"/>
                  </a:solidFill>
                  <a:latin typeface="IBM Plex Sans"/>
                </a:rPr>
                <a:t>The Mask is Confused</a:t>
              </a:r>
            </a:p>
          </p:txBody>
        </p:sp>
        <p:pic>
          <p:nvPicPr>
            <p:cNvPr id="11" name="Graphic 10" descr="Dizzy face with solid fill with solid fill">
              <a:extLst>
                <a:ext uri="{FF2B5EF4-FFF2-40B4-BE49-F238E27FC236}">
                  <a16:creationId xmlns:a16="http://schemas.microsoft.com/office/drawing/2014/main" id="{B41BD342-3E41-73F1-9EB8-28A1EA4480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3480534" y="4367204"/>
              <a:ext cx="481680" cy="48168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091A4C2-0E41-4868-E449-BC97CF168186}"/>
                </a:ext>
              </a:extLst>
            </p:cNvPr>
            <p:cNvSpPr txBox="1"/>
            <p:nvPr/>
          </p:nvSpPr>
          <p:spPr>
            <a:xfrm>
              <a:off x="1506131" y="5310155"/>
              <a:ext cx="44304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Having a lot of aromatic rings, it detect as </a:t>
              </a:r>
              <a:r>
                <a:rPr lang="en-US" b="1" noProof="0" dirty="0">
                  <a:solidFill>
                    <a:srgbClr val="161616"/>
                  </a:solidFill>
                  <a:latin typeface="IBM Plex Sans"/>
                </a:rPr>
                <a:t>important anything that is different 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67A7C61-B4F7-4649-E15B-01ED441239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"/>
          <a:stretch/>
        </p:blipFill>
        <p:spPr>
          <a:xfrm>
            <a:off x="2443196" y="7025699"/>
            <a:ext cx="7060774" cy="29246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0B20B2-69D0-1028-3CC5-30FBF22983D8}"/>
              </a:ext>
            </a:extLst>
          </p:cNvPr>
          <p:cNvSpPr txBox="1"/>
          <p:nvPr/>
        </p:nvSpPr>
        <p:spPr>
          <a:xfrm>
            <a:off x="425273" y="3663771"/>
            <a:ext cx="6748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Cc1ccc(C(=O)c2ccc(C(=O)c3ccc(C(=O)c4ccc(C(=O)c5ccc(C(=O)c6ccc(C(=O)c7c…)) </a:t>
            </a:r>
          </a:p>
        </p:txBody>
      </p:sp>
    </p:spTree>
    <p:extLst>
      <p:ext uri="{BB962C8B-B14F-4D97-AF65-F5344CB8AC3E}">
        <p14:creationId xmlns:p14="http://schemas.microsoft.com/office/powerpoint/2010/main" val="1944085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25BA3-B666-602F-87A2-97DC070E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CFC8A3-9847-CD67-5DFF-AA53126E89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"/>
          <a:stretch/>
        </p:blipFill>
        <p:spPr>
          <a:xfrm>
            <a:off x="175963" y="1007114"/>
            <a:ext cx="7060774" cy="2924615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3192CFA-58B7-5CAB-810C-53A064AF5D8D}"/>
              </a:ext>
            </a:extLst>
          </p:cNvPr>
          <p:cNvSpPr/>
          <p:nvPr/>
        </p:nvSpPr>
        <p:spPr>
          <a:xfrm>
            <a:off x="7946493" y="1216987"/>
            <a:ext cx="3747947" cy="4673105"/>
          </a:xfrm>
          <a:prstGeom prst="roundRect">
            <a:avLst>
              <a:gd name="adj" fmla="val 12429"/>
            </a:avLst>
          </a:prstGeom>
          <a:solidFill>
            <a:srgbClr val="FDFDFD"/>
          </a:solidFill>
          <a:ln w="38100" cap="flat" cmpd="sng" algn="ctr">
            <a:solidFill>
              <a:srgbClr val="00B47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noProof="0" dirty="0"/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0BB58C70-CA32-C305-7D62-8EE7FAC7E51D}"/>
              </a:ext>
            </a:extLst>
          </p:cNvPr>
          <p:cNvSpPr/>
          <p:nvPr/>
        </p:nvSpPr>
        <p:spPr>
          <a:xfrm rot="10800000">
            <a:off x="-20" y="-32"/>
            <a:ext cx="11594911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935F7C-C5C2-ABE9-AE20-C0D2F26B1460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D3C7388-3936-6073-33E9-F127218D7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1776E1B-E13F-143F-2C8C-800B7921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35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2B29E1-B329-6F12-9CAD-19BC533B8F30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5898AC7D-7622-3178-4C48-BE8C19B18D86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475AD4C4-F54D-EB7C-1922-CF05E322589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35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6FB6E-6941-5AD8-03AD-72AE5520B4FA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119278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chemeClr val="bg1"/>
                </a:solidFill>
              </a:rPr>
              <a:t>🧩</a:t>
            </a:r>
            <a:r>
              <a:rPr lang="en-US" b="1" noProof="0" dirty="0">
                <a:solidFill>
                  <a:schemeClr val="bg1"/>
                </a:solidFill>
              </a:rPr>
              <a:t>The Adaptation: </a:t>
            </a:r>
            <a:r>
              <a:rPr lang="en-US" noProof="0" dirty="0">
                <a:solidFill>
                  <a:schemeClr val="bg1"/>
                </a:solidFill>
              </a:rPr>
              <a:t>🔄️</a:t>
            </a:r>
            <a:r>
              <a:rPr lang="en-US" b="1" noProof="0" dirty="0">
                <a:solidFill>
                  <a:schemeClr val="bg1"/>
                </a:solidFill>
              </a:rPr>
              <a:t>Alternating Rewards (35)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DCAC4A-F4E3-DB64-11A4-D21CAB3BC6EE}"/>
              </a:ext>
            </a:extLst>
          </p:cNvPr>
          <p:cNvSpPr txBox="1"/>
          <p:nvPr/>
        </p:nvSpPr>
        <p:spPr>
          <a:xfrm>
            <a:off x="7794640" y="2032789"/>
            <a:ext cx="4051651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400" b="1" noProof="0" dirty="0">
                <a:solidFill>
                  <a:srgbClr val="00B476"/>
                </a:solidFill>
                <a:latin typeface="IBM Plex Sans"/>
              </a:rPr>
              <a:t>Linear oligomer of </a:t>
            </a:r>
          </a:p>
          <a:p>
            <a:pPr algn="ctr"/>
            <a:r>
              <a:rPr lang="en-US" sz="2400" b="1" noProof="0" dirty="0">
                <a:solidFill>
                  <a:srgbClr val="00B476"/>
                </a:solidFill>
                <a:latin typeface="IBM Plex Sans"/>
              </a:rPr>
              <a:t>para-phenylene sulfone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D7D93C-6A22-BD8C-C449-E6CE17F18B4F}"/>
              </a:ext>
            </a:extLst>
          </p:cNvPr>
          <p:cNvSpPr txBox="1"/>
          <p:nvPr/>
        </p:nvSpPr>
        <p:spPr>
          <a:xfrm>
            <a:off x="7974348" y="3167491"/>
            <a:ext cx="36922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noProof="0" dirty="0">
                <a:solidFill>
                  <a:srgbClr val="161616"/>
                </a:solidFill>
                <a:latin typeface="IBM Plex Sans"/>
              </a:rPr>
              <a:t>The alternating reward allowed the compound to incorporate a </a:t>
            </a:r>
            <a:r>
              <a:rPr lang="en-US" b="1" noProof="0" dirty="0">
                <a:solidFill>
                  <a:srgbClr val="161616"/>
                </a:solidFill>
                <a:latin typeface="IBM Plex Sans"/>
              </a:rPr>
              <a:t>primary sulfonamide group at the end.</a:t>
            </a:r>
          </a:p>
          <a:p>
            <a:pPr algn="just"/>
            <a:endParaRPr lang="en-US" b="1" noProof="0" dirty="0">
              <a:solidFill>
                <a:srgbClr val="161616"/>
              </a:solidFill>
              <a:latin typeface="IBM Plex Sans"/>
            </a:endParaRPr>
          </a:p>
          <a:p>
            <a:pPr algn="just"/>
            <a:r>
              <a:rPr lang="en-US" noProof="0" dirty="0">
                <a:solidFill>
                  <a:srgbClr val="161616"/>
                </a:solidFill>
                <a:latin typeface="IBM Plex Sans"/>
              </a:rPr>
              <a:t>It is the responsible of the </a:t>
            </a:r>
            <a:r>
              <a:rPr lang="en-US" b="1" noProof="0" dirty="0">
                <a:solidFill>
                  <a:srgbClr val="161616"/>
                </a:solidFill>
                <a:latin typeface="IBM Plex Sans"/>
              </a:rPr>
              <a:t>hinge</a:t>
            </a:r>
            <a:r>
              <a:rPr lang="en-US" noProof="0" dirty="0">
                <a:solidFill>
                  <a:srgbClr val="161616"/>
                </a:solidFill>
                <a:latin typeface="IBM Plex Sans"/>
              </a:rPr>
              <a:t> </a:t>
            </a:r>
            <a:r>
              <a:rPr lang="en-US" b="1" noProof="0" dirty="0">
                <a:solidFill>
                  <a:srgbClr val="161616"/>
                </a:solidFill>
                <a:latin typeface="IBM Plex Sans"/>
              </a:rPr>
              <a:t>bond</a:t>
            </a:r>
            <a:r>
              <a:rPr lang="en-US" noProof="0" dirty="0">
                <a:solidFill>
                  <a:srgbClr val="161616"/>
                </a:solidFill>
                <a:latin typeface="IBM Plex Sans"/>
              </a:rPr>
              <a:t> that </a:t>
            </a:r>
            <a:r>
              <a:rPr lang="en-US" noProof="0" dirty="0"/>
              <a:t>that </a:t>
            </a:r>
            <a:r>
              <a:rPr lang="en-US" b="1" noProof="0" dirty="0"/>
              <a:t>inhibits</a:t>
            </a:r>
            <a:r>
              <a:rPr lang="en-US" noProof="0" dirty="0"/>
              <a:t> the effects of the </a:t>
            </a:r>
            <a:r>
              <a:rPr lang="en-US" b="1" noProof="0" dirty="0"/>
              <a:t>target</a:t>
            </a:r>
            <a:r>
              <a:rPr lang="en-US" noProof="0" dirty="0"/>
              <a:t> </a:t>
            </a:r>
            <a:r>
              <a:rPr lang="en-US" b="1" noProof="0" dirty="0"/>
              <a:t>protein.</a:t>
            </a:r>
          </a:p>
          <a:p>
            <a:pPr algn="just"/>
            <a:endParaRPr lang="en-US" b="1" noProof="0" dirty="0"/>
          </a:p>
          <a:p>
            <a:pPr algn="just"/>
            <a:endParaRPr lang="en-US" b="1" noProof="0" dirty="0"/>
          </a:p>
          <a:p>
            <a:pPr algn="just"/>
            <a:endParaRPr lang="en-US" noProof="0" dirty="0">
              <a:solidFill>
                <a:srgbClr val="161616"/>
              </a:solidFill>
              <a:latin typeface="IBM Plex San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CC971E1-35C2-9D12-FEEE-C59892F1A1A3}"/>
              </a:ext>
            </a:extLst>
          </p:cNvPr>
          <p:cNvGrpSpPr/>
          <p:nvPr/>
        </p:nvGrpSpPr>
        <p:grpSpPr>
          <a:xfrm>
            <a:off x="1363561" y="4170305"/>
            <a:ext cx="4744470" cy="1933103"/>
            <a:chOff x="1351530" y="4470259"/>
            <a:chExt cx="4744470" cy="169197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ABFE7ED-B591-9E2D-621E-2B9A8A61E1CD}"/>
                </a:ext>
              </a:extLst>
            </p:cNvPr>
            <p:cNvSpPr/>
            <p:nvPr/>
          </p:nvSpPr>
          <p:spPr>
            <a:xfrm>
              <a:off x="1351530" y="4470259"/>
              <a:ext cx="4744470" cy="1691975"/>
            </a:xfrm>
            <a:prstGeom prst="roundRect">
              <a:avLst>
                <a:gd name="adj" fmla="val 14887"/>
              </a:avLst>
            </a:prstGeom>
            <a:solidFill>
              <a:srgbClr val="FDFDFD"/>
            </a:solidFill>
            <a:ln w="38100" cap="flat" cmpd="sng" algn="ctr">
              <a:solidFill>
                <a:srgbClr val="00B0F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noProof="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430FBFB-BBAC-481A-6ADA-1907DAA5767D}"/>
                </a:ext>
              </a:extLst>
            </p:cNvPr>
            <p:cNvSpPr txBox="1"/>
            <p:nvPr/>
          </p:nvSpPr>
          <p:spPr>
            <a:xfrm>
              <a:off x="2061286" y="5021709"/>
              <a:ext cx="3320176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00B0F0"/>
                  </a:solidFill>
                  <a:latin typeface="IBM Plex Sans"/>
                </a:rPr>
                <a:t>The Mask is Right!</a:t>
              </a:r>
            </a:p>
          </p:txBody>
        </p:sp>
        <p:pic>
          <p:nvPicPr>
            <p:cNvPr id="11" name="Elemento grafico 110" descr="Thumbs Up Sign">
              <a:extLst>
                <a:ext uri="{FF2B5EF4-FFF2-40B4-BE49-F238E27FC236}">
                  <a16:creationId xmlns:a16="http://schemas.microsoft.com/office/drawing/2014/main" id="{00B3CD0F-22ED-D905-F604-5BE2E5E3FF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80534" y="4563672"/>
              <a:ext cx="481680" cy="48168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8539FC-F249-456D-F786-A3D7F00376E8}"/>
                </a:ext>
              </a:extLst>
            </p:cNvPr>
            <p:cNvSpPr txBox="1"/>
            <p:nvPr/>
          </p:nvSpPr>
          <p:spPr>
            <a:xfrm>
              <a:off x="1506131" y="5492945"/>
              <a:ext cx="4430486" cy="565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Correctly detects the </a:t>
              </a:r>
              <a:r>
                <a:rPr lang="en-US" b="1" noProof="0" dirty="0">
                  <a:solidFill>
                    <a:srgbClr val="161616"/>
                  </a:solidFill>
                  <a:latin typeface="IBM Plex Sans"/>
                </a:rPr>
                <a:t>N-H molecule </a:t>
              </a:r>
              <a:r>
                <a:rPr lang="en-US" noProof="0" dirty="0">
                  <a:solidFill>
                    <a:srgbClr val="161616"/>
                  </a:solidFill>
                  <a:latin typeface="IBM Plex Sans"/>
                </a:rPr>
                <a:t>th</a:t>
              </a:r>
              <a:r>
                <a:rPr lang="en-US" noProof="0" dirty="0"/>
                <a:t>at broke the previous malicious pattern.</a:t>
              </a:r>
              <a:r>
                <a:rPr lang="en-US" b="1" noProof="0" dirty="0"/>
                <a:t> </a:t>
              </a:r>
              <a:endParaRPr lang="en-US" b="1" noProof="0" dirty="0">
                <a:solidFill>
                  <a:srgbClr val="161616"/>
                </a:solidFill>
                <a:latin typeface="IBM Plex San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1477990-88FC-5D9F-264F-F9FDB6ED6F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764" t="24805" r="11102"/>
          <a:stretch>
            <a:fillRect/>
          </a:stretch>
        </p:blipFill>
        <p:spPr>
          <a:xfrm>
            <a:off x="1954455" y="-4326522"/>
            <a:ext cx="4121284" cy="3961345"/>
          </a:xfrm>
          <a:prstGeom prst="rect">
            <a:avLst/>
          </a:prstGeom>
        </p:spPr>
      </p:pic>
      <p:pic>
        <p:nvPicPr>
          <p:cNvPr id="3" name="Graphic 2" descr="Germ with solid fill">
            <a:extLst>
              <a:ext uri="{FF2B5EF4-FFF2-40B4-BE49-F238E27FC236}">
                <a16:creationId xmlns:a16="http://schemas.microsoft.com/office/drawing/2014/main" id="{D1FBCD3B-DD6B-03CD-FD82-9BBDBFBBA7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592414" y="1404554"/>
            <a:ext cx="511818" cy="5118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07A429-FF29-3907-65CA-437869711684}"/>
              </a:ext>
            </a:extLst>
          </p:cNvPr>
          <p:cNvSpPr txBox="1"/>
          <p:nvPr/>
        </p:nvSpPr>
        <p:spPr>
          <a:xfrm>
            <a:off x="182533" y="3591547"/>
            <a:ext cx="7178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/>
              <a:t>Cc1ccc(S(=O)(=O)c2ccc(S(=O)(=O)c3ccc(Nc4ccc(S(N)(=O)=O)cc4)cc3)cc2)cc1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1CEF22-B2AB-AB1D-C26B-191036D5E4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110872" y="6994525"/>
            <a:ext cx="5190955" cy="336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07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86959-AD07-BF56-9781-8E2B04E7A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2A6DF4D8-CBC2-E3F4-5820-037156110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4503" y="580734"/>
            <a:ext cx="5666891" cy="3675332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821602DD-7D37-BE46-E866-16C42F7DC0D6}"/>
              </a:ext>
            </a:extLst>
          </p:cNvPr>
          <p:cNvSpPr/>
          <p:nvPr/>
        </p:nvSpPr>
        <p:spPr>
          <a:xfrm rot="10800000">
            <a:off x="-19" y="-31"/>
            <a:ext cx="11572425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F03D29-A04B-E1FF-9230-386D122D3366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E1A0671-53FB-31A0-820E-E59B8AE90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9FA700B-6FAF-AD34-03EB-3046D47D5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36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21E3A2-19C9-1372-A0F8-EEFDE3C92D1E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8764086F-8A12-C085-15A4-12E3EC4FA3E0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9265F420-6408-2D2C-65C7-6E52D04BBB4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36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309468-6310-42F9-4C94-BFC2AC67A3C4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119278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chemeClr val="bg1"/>
                </a:solidFill>
              </a:rPr>
              <a:t>🧩</a:t>
            </a:r>
            <a:r>
              <a:rPr lang="en-US" b="1" noProof="0" dirty="0">
                <a:solidFill>
                  <a:schemeClr val="bg1"/>
                </a:solidFill>
              </a:rPr>
              <a:t>The Adaptation: </a:t>
            </a:r>
            <a:r>
              <a:rPr lang="en-US" noProof="0" dirty="0">
                <a:solidFill>
                  <a:schemeClr val="bg1"/>
                </a:solidFill>
              </a:rPr>
              <a:t>🔄️</a:t>
            </a:r>
            <a:r>
              <a:rPr lang="en-US" b="1" noProof="0" dirty="0">
                <a:solidFill>
                  <a:schemeClr val="bg1"/>
                </a:solidFill>
              </a:rPr>
              <a:t>Alternating Rewards (15)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97BF7B5-0841-A22B-732D-4BF27B0424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"/>
          <a:stretch/>
        </p:blipFill>
        <p:spPr>
          <a:xfrm>
            <a:off x="175963" y="-3116176"/>
            <a:ext cx="7060774" cy="2924615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AEDCBEBA-F8D6-3793-8DD6-9E67B3C16127}"/>
              </a:ext>
            </a:extLst>
          </p:cNvPr>
          <p:cNvGrpSpPr/>
          <p:nvPr/>
        </p:nvGrpSpPr>
        <p:grpSpPr>
          <a:xfrm>
            <a:off x="6289438" y="1061564"/>
            <a:ext cx="5608059" cy="1796652"/>
            <a:chOff x="5808939" y="4154443"/>
            <a:chExt cx="5608059" cy="1796652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5458DAD7-EC99-249B-B817-D5D406C2A4B3}"/>
                </a:ext>
              </a:extLst>
            </p:cNvPr>
            <p:cNvSpPr/>
            <p:nvPr/>
          </p:nvSpPr>
          <p:spPr>
            <a:xfrm>
              <a:off x="6149039" y="4463565"/>
              <a:ext cx="5267959" cy="1487530"/>
            </a:xfrm>
            <a:prstGeom prst="roundRect">
              <a:avLst>
                <a:gd name="adj" fmla="val 20154"/>
              </a:avLst>
            </a:prstGeom>
            <a:solidFill>
              <a:srgbClr val="FDFDFD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lIns="756000" tIns="72000" rIns="0" bIns="0" rtlCol="0" anchor="t"/>
            <a:lstStyle/>
            <a:p>
              <a:r>
                <a:rPr lang="en-US" noProof="0" dirty="0">
                  <a:solidFill>
                    <a:schemeClr val="tx1"/>
                  </a:solidFill>
                </a:rPr>
                <a:t>The </a:t>
              </a:r>
              <a:r>
                <a:rPr lang="en-US" b="1" noProof="0" dirty="0">
                  <a:solidFill>
                    <a:srgbClr val="C00000"/>
                  </a:solidFill>
                </a:rPr>
                <a:t>phthalazinone</a:t>
              </a:r>
              <a:r>
                <a:rPr lang="en-US" noProof="0" dirty="0">
                  <a:solidFill>
                    <a:schemeClr val="tx1"/>
                  </a:solidFill>
                </a:rPr>
                <a:t> </a:t>
              </a:r>
              <a:r>
                <a:rPr lang="en-US" b="1" noProof="0" dirty="0">
                  <a:solidFill>
                    <a:srgbClr val="C00000"/>
                  </a:solidFill>
                </a:rPr>
                <a:t>fused-ring</a:t>
              </a:r>
              <a:r>
                <a:rPr lang="en-US" noProof="0" dirty="0">
                  <a:solidFill>
                    <a:srgbClr val="C00000"/>
                  </a:solidFill>
                </a:rPr>
                <a:t> </a:t>
              </a:r>
              <a:r>
                <a:rPr lang="en-US" b="1" noProof="0" dirty="0">
                  <a:solidFill>
                    <a:srgbClr val="C00000"/>
                  </a:solidFill>
                </a:rPr>
                <a:t>system</a:t>
              </a:r>
              <a:r>
                <a:rPr lang="en-US" noProof="0" dirty="0">
                  <a:solidFill>
                    <a:schemeClr val="tx1"/>
                  </a:solidFill>
                </a:rPr>
                <a:t>, </a:t>
              </a:r>
            </a:p>
            <a:p>
              <a:r>
                <a:rPr lang="en-US" noProof="0" dirty="0">
                  <a:solidFill>
                    <a:schemeClr val="tx1"/>
                  </a:solidFill>
                </a:rPr>
                <a:t>acts as the core pharmacophore </a:t>
              </a:r>
              <a:r>
                <a:rPr lang="en-US" b="1" noProof="0" dirty="0">
                  <a:solidFill>
                    <a:srgbClr val="C00000"/>
                  </a:solidFill>
                </a:rPr>
                <a:t>providing</a:t>
              </a:r>
              <a:r>
                <a:rPr lang="en-US" b="1" noProof="0" dirty="0">
                  <a:solidFill>
                    <a:schemeClr val="tx1"/>
                  </a:solidFill>
                </a:rPr>
                <a:t> </a:t>
              </a:r>
              <a:r>
                <a:rPr lang="en-US" b="1" noProof="0" dirty="0">
                  <a:solidFill>
                    <a:srgbClr val="C00000"/>
                  </a:solidFill>
                </a:rPr>
                <a:t>the necessary H-bond </a:t>
              </a:r>
              <a:r>
                <a:rPr lang="en-US" noProof="0" dirty="0">
                  <a:solidFill>
                    <a:schemeClr val="tx1"/>
                  </a:solidFill>
                </a:rPr>
                <a:t>contacts to establish the </a:t>
              </a:r>
              <a:r>
                <a:rPr lang="en-US" b="1" noProof="0" dirty="0">
                  <a:solidFill>
                    <a:srgbClr val="C00000"/>
                  </a:solidFill>
                </a:rPr>
                <a:t>hinge</a:t>
              </a:r>
              <a:r>
                <a:rPr lang="en-US" noProof="0" dirty="0">
                  <a:solidFill>
                    <a:srgbClr val="C00000"/>
                  </a:solidFill>
                </a:rPr>
                <a:t> </a:t>
              </a:r>
              <a:r>
                <a:rPr lang="en-US" b="1" noProof="0" dirty="0">
                  <a:solidFill>
                    <a:srgbClr val="C00000"/>
                  </a:solidFill>
                </a:rPr>
                <a:t>binding</a:t>
              </a:r>
              <a:r>
                <a:rPr lang="en-US" noProof="0" dirty="0">
                  <a:solidFill>
                    <a:schemeClr val="tx1"/>
                  </a:solidFill>
                </a:rPr>
                <a:t> with TTBK1.</a:t>
              </a:r>
            </a:p>
            <a:p>
              <a:endParaRPr lang="en-US" noProof="0" dirty="0">
                <a:solidFill>
                  <a:schemeClr val="tx1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86BD86A-3F3C-5947-73BF-FB9BDC3071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8939" y="4154443"/>
              <a:ext cx="1066519" cy="1065813"/>
            </a:xfrm>
            <a:prstGeom prst="ellipse">
              <a:avLst/>
            </a:prstGeom>
            <a:solidFill>
              <a:srgbClr val="C0000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29" name="Graphic 28" descr="Chemicals with solid fill">
              <a:extLst>
                <a:ext uri="{FF2B5EF4-FFF2-40B4-BE49-F238E27FC236}">
                  <a16:creationId xmlns:a16="http://schemas.microsoft.com/office/drawing/2014/main" id="{163D0C85-AAE2-E260-97F5-3159E1716A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5984144" y="4329295"/>
              <a:ext cx="716107" cy="716107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710A8D7-CD3A-FAEC-2BE2-55D70AB6B2CB}"/>
              </a:ext>
            </a:extLst>
          </p:cNvPr>
          <p:cNvGrpSpPr/>
          <p:nvPr/>
        </p:nvGrpSpPr>
        <p:grpSpPr>
          <a:xfrm>
            <a:off x="6629538" y="3048151"/>
            <a:ext cx="5463310" cy="1619077"/>
            <a:chOff x="6149039" y="4189548"/>
            <a:chExt cx="5463310" cy="1619077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E85096C-9B2D-2357-87D4-DEBF4DCDAB18}"/>
                </a:ext>
              </a:extLst>
            </p:cNvPr>
            <p:cNvSpPr/>
            <p:nvPr/>
          </p:nvSpPr>
          <p:spPr>
            <a:xfrm>
              <a:off x="6149039" y="4463564"/>
              <a:ext cx="5267959" cy="1345061"/>
            </a:xfrm>
            <a:prstGeom prst="roundRect">
              <a:avLst>
                <a:gd name="adj" fmla="val 20154"/>
              </a:avLst>
            </a:prstGeom>
            <a:solidFill>
              <a:srgbClr val="FDFDFD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lIns="216000" tIns="0" rIns="1008000" bIns="0" rtlCol="0" anchor="t"/>
            <a:lstStyle/>
            <a:p>
              <a:pPr algn="r"/>
              <a:r>
                <a:rPr lang="en-US" sz="1900" b="1" noProof="0" dirty="0">
                  <a:solidFill>
                    <a:srgbClr val="156082"/>
                  </a:solidFill>
                </a:rPr>
                <a:t>More structurally suitable</a:t>
              </a:r>
              <a:r>
                <a:rPr lang="en-US" sz="1900" noProof="0" dirty="0">
                  <a:solidFill>
                    <a:srgbClr val="156082"/>
                  </a:solidFill>
                </a:rPr>
                <a:t> </a:t>
              </a:r>
              <a:r>
                <a:rPr lang="en-US" sz="1900" noProof="0" dirty="0">
                  <a:solidFill>
                    <a:schemeClr val="tx1"/>
                  </a:solidFill>
                </a:rPr>
                <a:t>and resistant than the </a:t>
              </a:r>
              <a:r>
                <a:rPr lang="en-US" sz="1900" b="1" noProof="0" dirty="0">
                  <a:solidFill>
                    <a:srgbClr val="156082"/>
                  </a:solidFill>
                </a:rPr>
                <a:t>sulfonyle</a:t>
              </a:r>
              <a:r>
                <a:rPr lang="en-US" sz="1900" noProof="0" dirty="0">
                  <a:solidFill>
                    <a:srgbClr val="156082"/>
                  </a:solidFill>
                </a:rPr>
                <a:t> </a:t>
              </a:r>
              <a:r>
                <a:rPr lang="en-US" sz="1900" b="1" noProof="0" dirty="0">
                  <a:solidFill>
                    <a:srgbClr val="156082"/>
                  </a:solidFill>
                </a:rPr>
                <a:t>warhead</a:t>
              </a:r>
              <a:r>
                <a:rPr lang="en-US" sz="1900" noProof="0" dirty="0">
                  <a:solidFill>
                    <a:srgbClr val="156082"/>
                  </a:solidFill>
                </a:rPr>
                <a:t> </a:t>
              </a:r>
              <a:r>
                <a:rPr lang="en-US" sz="1900" noProof="0" dirty="0">
                  <a:solidFill>
                    <a:schemeClr val="tx1"/>
                  </a:solidFill>
                </a:rPr>
                <a:t>seen before, thanks to the presence of </a:t>
              </a:r>
              <a:r>
                <a:rPr lang="en-US" sz="1900" b="1" noProof="0" dirty="0">
                  <a:solidFill>
                    <a:srgbClr val="156082"/>
                  </a:solidFill>
                </a:rPr>
                <a:t>Carbon</a:t>
              </a:r>
              <a:r>
                <a:rPr lang="en-US" sz="1900" noProof="0" dirty="0">
                  <a:solidFill>
                    <a:schemeClr val="tx1"/>
                  </a:solidFill>
                </a:rPr>
                <a:t> and </a:t>
              </a:r>
              <a:r>
                <a:rPr lang="en-US" sz="1900" b="1" noProof="0" dirty="0">
                  <a:solidFill>
                    <a:srgbClr val="156082"/>
                  </a:solidFill>
                </a:rPr>
                <a:t>Nitrogen</a:t>
              </a:r>
              <a:r>
                <a:rPr lang="en-US" sz="1900" noProof="0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245A4CA-D430-AC39-57C7-D9E9C7CDA7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45830" y="4189548"/>
              <a:ext cx="1066519" cy="1065813"/>
            </a:xfrm>
            <a:prstGeom prst="ellipse">
              <a:avLst/>
            </a:prstGeom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0"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35" name="Graphic 34" descr="Cube with solid fill">
              <a:extLst>
                <a:ext uri="{FF2B5EF4-FFF2-40B4-BE49-F238E27FC236}">
                  <a16:creationId xmlns:a16="http://schemas.microsoft.com/office/drawing/2014/main" id="{6257276C-66DA-F4A6-6AFF-4489432B35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0721035" y="4370934"/>
              <a:ext cx="716107" cy="716107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3EE48B0-9872-08A4-F443-2193B927030A}"/>
              </a:ext>
            </a:extLst>
          </p:cNvPr>
          <p:cNvGrpSpPr/>
          <p:nvPr/>
        </p:nvGrpSpPr>
        <p:grpSpPr>
          <a:xfrm>
            <a:off x="3994022" y="5035494"/>
            <a:ext cx="3934744" cy="1029585"/>
            <a:chOff x="4078809" y="4982589"/>
            <a:chExt cx="3934744" cy="1029585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767ECE5C-10C7-5B42-F9A3-38BE4544699C}"/>
                </a:ext>
              </a:extLst>
            </p:cNvPr>
            <p:cNvSpPr/>
            <p:nvPr/>
          </p:nvSpPr>
          <p:spPr>
            <a:xfrm>
              <a:off x="4078809" y="4982589"/>
              <a:ext cx="3934744" cy="1029585"/>
            </a:xfrm>
            <a:prstGeom prst="roundRect">
              <a:avLst>
                <a:gd name="adj" fmla="val 50000"/>
              </a:avLst>
            </a:prstGeom>
            <a:solidFill>
              <a:srgbClr val="FDFDFD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lIns="468000" tIns="180000" rIns="0" bIns="0" rtlCol="0" anchor="t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        Good </a:t>
              </a:r>
              <a:r>
                <a:rPr lang="en-US" sz="2400" b="1" noProof="0" dirty="0">
                  <a:solidFill>
                    <a:srgbClr val="00B050"/>
                  </a:solidFill>
                </a:rPr>
                <a:t>Adaptation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EF356EB-3647-9B92-DD90-CAB1FD15EBA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164943" y="5074410"/>
              <a:ext cx="835588" cy="835035"/>
              <a:chOff x="8695855" y="5497381"/>
              <a:chExt cx="716581" cy="716107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674DD337-2A9B-5B49-EE45-27B82906BA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95855" y="5497381"/>
                <a:ext cx="716581" cy="716107"/>
              </a:xfrm>
              <a:prstGeom prst="ellipse">
                <a:avLst/>
              </a:prstGeom>
              <a:solidFill>
                <a:srgbClr val="00B050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0"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36" name="Elemento grafico 110" descr="Thumbs Up Sign">
                <a:extLst>
                  <a:ext uri="{FF2B5EF4-FFF2-40B4-BE49-F238E27FC236}">
                    <a16:creationId xmlns:a16="http://schemas.microsoft.com/office/drawing/2014/main" id="{76DE4FE6-5AC9-A76C-9248-E3BE4FB49C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13305" y="5562505"/>
                <a:ext cx="481680" cy="550326"/>
              </a:xfrm>
              <a:prstGeom prst="rect">
                <a:avLst/>
              </a:prstGeom>
            </p:spPr>
          </p:pic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BC26CF61-DB68-8B03-E100-9C9D185713CF}"/>
              </a:ext>
            </a:extLst>
          </p:cNvPr>
          <p:cNvSpPr txBox="1"/>
          <p:nvPr/>
        </p:nvSpPr>
        <p:spPr>
          <a:xfrm>
            <a:off x="449500" y="4092366"/>
            <a:ext cx="7178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/>
              <a:t>Cc1ccc(C2=NNC(=O)c3ccccc32)cc1S(=O)(=O)c1ccccc1</a:t>
            </a:r>
          </a:p>
        </p:txBody>
      </p:sp>
    </p:spTree>
    <p:extLst>
      <p:ext uri="{BB962C8B-B14F-4D97-AF65-F5344CB8AC3E}">
        <p14:creationId xmlns:p14="http://schemas.microsoft.com/office/powerpoint/2010/main" val="825061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62918-0E1A-4875-D7DF-5A948A52F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D19CFA22-92E2-0E69-882E-940C51242ED4}"/>
              </a:ext>
            </a:extLst>
          </p:cNvPr>
          <p:cNvSpPr/>
          <p:nvPr/>
        </p:nvSpPr>
        <p:spPr>
          <a:xfrm rot="10800000">
            <a:off x="-21" y="-34"/>
            <a:ext cx="8969849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9D3CF6-C26D-52E9-45AE-14305CEB7924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AE9DBE6E-C2F1-F8C6-B3AB-C1EEDECE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B387139-1C09-496A-579B-405E86D49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37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ECB86C-F183-575D-01EF-2CEF8EBEEF7C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0AA91ADD-1DB7-605E-6ED4-D26D36845A51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64C8B2B0-F0BF-994C-FE2A-7C10222A14F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37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65B60F-DF94-AEF8-EF6E-E2CBAF460F55}"/>
              </a:ext>
            </a:extLst>
          </p:cNvPr>
          <p:cNvSpPr txBox="1">
            <a:spLocks/>
          </p:cNvSpPr>
          <p:nvPr/>
        </p:nvSpPr>
        <p:spPr>
          <a:xfrm>
            <a:off x="-20" y="-191561"/>
            <a:ext cx="1219201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chemeClr val="bg1"/>
                </a:solidFill>
              </a:rPr>
              <a:t>💯 </a:t>
            </a:r>
            <a:r>
              <a:rPr lang="en-US" b="1" noProof="0" dirty="0">
                <a:solidFill>
                  <a:schemeClr val="bg1"/>
                </a:solidFill>
              </a:rPr>
              <a:t>Final Evaluation: </a:t>
            </a:r>
            <a:r>
              <a:rPr lang="it-IT" b="1" noProof="0" dirty="0">
                <a:solidFill>
                  <a:schemeClr val="bg1"/>
                </a:solidFill>
              </a:rPr>
              <a:t>⚖️</a:t>
            </a:r>
            <a:r>
              <a:rPr lang="en-US" b="1" noProof="0" dirty="0">
                <a:solidFill>
                  <a:schemeClr val="bg1"/>
                </a:solidFill>
              </a:rPr>
              <a:t>Pros vs Cons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A7A9195-340F-2885-CF53-C70300000ED0}"/>
              </a:ext>
            </a:extLst>
          </p:cNvPr>
          <p:cNvSpPr/>
          <p:nvPr/>
        </p:nvSpPr>
        <p:spPr>
          <a:xfrm>
            <a:off x="1049156" y="1240355"/>
            <a:ext cx="4365631" cy="4812102"/>
          </a:xfrm>
          <a:prstGeom prst="roundRect">
            <a:avLst>
              <a:gd name="adj" fmla="val 7221"/>
            </a:avLst>
          </a:prstGeom>
          <a:solidFill>
            <a:schemeClr val="accent6">
              <a:lumMod val="20000"/>
              <a:lumOff val="80000"/>
              <a:alpha val="99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468000" tIns="0" rIns="0" bIns="504000" rtlCol="0" anchor="t"/>
          <a:lstStyle/>
          <a:p>
            <a:endParaRPr lang="en-US" sz="2000" b="1" noProof="0" dirty="0">
              <a:solidFill>
                <a:srgbClr val="00B050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C9DA7CE-8F03-F683-1A0D-2F62C1A476C2}"/>
              </a:ext>
            </a:extLst>
          </p:cNvPr>
          <p:cNvGrpSpPr/>
          <p:nvPr/>
        </p:nvGrpSpPr>
        <p:grpSpPr>
          <a:xfrm>
            <a:off x="2920281" y="928871"/>
            <a:ext cx="623379" cy="622967"/>
            <a:chOff x="3073401" y="976383"/>
            <a:chExt cx="623379" cy="622967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51A4922-EEC4-1188-EF6E-7AFC8342DF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73401" y="976383"/>
              <a:ext cx="623379" cy="622967"/>
            </a:xfrm>
            <a:prstGeom prst="ellipse">
              <a:avLst/>
            </a:prstGeom>
            <a:solidFill>
              <a:srgbClr val="00B05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144000"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11" name="Elemento grafico 110" descr="Thumbs Up Sign">
              <a:extLst>
                <a:ext uri="{FF2B5EF4-FFF2-40B4-BE49-F238E27FC236}">
                  <a16:creationId xmlns:a16="http://schemas.microsoft.com/office/drawing/2014/main" id="{93DE2355-7341-CE8A-E6A5-40A0C56E57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209317">
              <a:off x="3159405" y="1000296"/>
              <a:ext cx="451369" cy="515695"/>
            </a:xfrm>
            <a:prstGeom prst="rect">
              <a:avLst/>
            </a:prstGeom>
          </p:spPr>
        </p:pic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A746B-DF87-6CEB-FDC0-452A0C65F92A}"/>
              </a:ext>
            </a:extLst>
          </p:cNvPr>
          <p:cNvSpPr/>
          <p:nvPr/>
        </p:nvSpPr>
        <p:spPr>
          <a:xfrm>
            <a:off x="6777214" y="1219054"/>
            <a:ext cx="4379590" cy="4833403"/>
          </a:xfrm>
          <a:prstGeom prst="roundRect">
            <a:avLst>
              <a:gd name="adj" fmla="val 7208"/>
            </a:avLst>
          </a:prstGeom>
          <a:solidFill>
            <a:srgbClr val="FFA3A3">
              <a:alpha val="98824"/>
            </a:srgb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44000" tIns="72000" rIns="144000" bIns="0" rtlCol="0" anchor="t"/>
          <a:lstStyle/>
          <a:p>
            <a:endParaRPr lang="en-US" sz="2000" b="1" dirty="0">
              <a:solidFill>
                <a:srgbClr val="FF0000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ECBCA7A-64F5-21E8-4324-935C2A6298AE}"/>
              </a:ext>
            </a:extLst>
          </p:cNvPr>
          <p:cNvGrpSpPr/>
          <p:nvPr/>
        </p:nvGrpSpPr>
        <p:grpSpPr>
          <a:xfrm>
            <a:off x="8653374" y="923297"/>
            <a:ext cx="627269" cy="626854"/>
            <a:chOff x="10529535" y="1219054"/>
            <a:chExt cx="627269" cy="62685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836396B-1C46-C797-1132-4AD1B11720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29535" y="1219054"/>
              <a:ext cx="627269" cy="626854"/>
            </a:xfrm>
            <a:prstGeom prst="ellipse">
              <a:avLst/>
            </a:prstGeom>
            <a:solidFill>
              <a:srgbClr val="FF00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08000" rIns="144000"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24" name="Elemento grafico 110" descr="Thumbs Up Sign">
              <a:extLst>
                <a:ext uri="{FF2B5EF4-FFF2-40B4-BE49-F238E27FC236}">
                  <a16:creationId xmlns:a16="http://schemas.microsoft.com/office/drawing/2014/main" id="{FCC7F735-9BB8-4D2F-4ED1-2855D2B189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13443" flipH="1" flipV="1">
              <a:off x="10568017" y="1280386"/>
              <a:ext cx="491053" cy="561034"/>
            </a:xfrm>
            <a:prstGeom prst="rect">
              <a:avLst/>
            </a:prstGeom>
          </p:spPr>
        </p:pic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5C59364-2ED9-0D58-83D1-ACFA5E4B1464}"/>
              </a:ext>
            </a:extLst>
          </p:cNvPr>
          <p:cNvSpPr/>
          <p:nvPr/>
        </p:nvSpPr>
        <p:spPr>
          <a:xfrm>
            <a:off x="1275424" y="1815809"/>
            <a:ext cx="3978936" cy="733315"/>
          </a:xfrm>
          <a:prstGeom prst="roundRect">
            <a:avLst>
              <a:gd name="adj" fmla="val 30202"/>
            </a:avLst>
          </a:prstGeom>
          <a:solidFill>
            <a:srgbClr val="FDFDFD">
              <a:alpha val="99000"/>
            </a:srgb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468000" tIns="36000" rIns="0" bIns="0" rtlCol="0" anchor="t"/>
          <a:lstStyle/>
          <a:p>
            <a:r>
              <a:rPr lang="en-US" b="1" noProof="0" dirty="0">
                <a:solidFill>
                  <a:schemeClr val="tx1"/>
                </a:solidFill>
              </a:rPr>
              <a:t>The mask demonstrated a good level of generalization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D798906-9EE4-62D8-9317-1E5A42815E5E}"/>
              </a:ext>
            </a:extLst>
          </p:cNvPr>
          <p:cNvSpPr>
            <a:spLocks noChangeAspect="1"/>
          </p:cNvSpPr>
          <p:nvPr/>
        </p:nvSpPr>
        <p:spPr>
          <a:xfrm>
            <a:off x="1124145" y="1870581"/>
            <a:ext cx="623379" cy="622967"/>
          </a:xfrm>
          <a:prstGeom prst="ellipse">
            <a:avLst/>
          </a:prstGeom>
          <a:solidFill>
            <a:srgbClr val="EB7B3D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144000" rtlCol="0" anchor="ctr"/>
          <a:lstStyle/>
          <a:p>
            <a:pPr algn="ctr"/>
            <a:endParaRPr lang="en-US" noProof="0" dirty="0"/>
          </a:p>
        </p:txBody>
      </p:sp>
      <p:pic>
        <p:nvPicPr>
          <p:cNvPr id="30" name="Elemento grafico 110" descr="Microscope with solid fill">
            <a:extLst>
              <a:ext uri="{FF2B5EF4-FFF2-40B4-BE49-F238E27FC236}">
                <a16:creationId xmlns:a16="http://schemas.microsoft.com/office/drawing/2014/main" id="{7036D8F5-4D3E-5CCC-893F-4B85848191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10149" y="1956379"/>
            <a:ext cx="451369" cy="451369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FCDA252-7D9F-6994-F458-ED830606CB04}"/>
              </a:ext>
            </a:extLst>
          </p:cNvPr>
          <p:cNvSpPr/>
          <p:nvPr/>
        </p:nvSpPr>
        <p:spPr>
          <a:xfrm>
            <a:off x="1325977" y="2813093"/>
            <a:ext cx="3978936" cy="733315"/>
          </a:xfrm>
          <a:prstGeom prst="roundRect">
            <a:avLst>
              <a:gd name="adj" fmla="val 30202"/>
            </a:avLst>
          </a:prstGeom>
          <a:solidFill>
            <a:srgbClr val="FDFDFD">
              <a:alpha val="99000"/>
            </a:srgb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468000" tIns="36000" rIns="0" bIns="0" rtlCol="0" anchor="t"/>
          <a:lstStyle/>
          <a:p>
            <a:r>
              <a:rPr lang="en-US" b="1" noProof="0" dirty="0">
                <a:solidFill>
                  <a:schemeClr val="tx1"/>
                </a:solidFill>
              </a:rPr>
              <a:t>Around 3h of training with the chosen configuration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0BD0A2D-444F-2F1E-AE24-E95EDEBE07AE}"/>
              </a:ext>
            </a:extLst>
          </p:cNvPr>
          <p:cNvSpPr>
            <a:spLocks noChangeAspect="1"/>
          </p:cNvSpPr>
          <p:nvPr/>
        </p:nvSpPr>
        <p:spPr>
          <a:xfrm>
            <a:off x="1124145" y="2868266"/>
            <a:ext cx="623379" cy="622967"/>
          </a:xfrm>
          <a:prstGeom prst="ellipse">
            <a:avLst/>
          </a:prstGeom>
          <a:solidFill>
            <a:srgbClr val="7030A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144000" rtlCol="0" anchor="ctr"/>
          <a:lstStyle/>
          <a:p>
            <a:pPr algn="ctr"/>
            <a:endParaRPr lang="en-US" noProof="0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F5E935E-7018-C761-D4F8-577E94D7B4A9}"/>
              </a:ext>
            </a:extLst>
          </p:cNvPr>
          <p:cNvSpPr/>
          <p:nvPr/>
        </p:nvSpPr>
        <p:spPr>
          <a:xfrm>
            <a:off x="1416971" y="3810375"/>
            <a:ext cx="3887942" cy="1045608"/>
          </a:xfrm>
          <a:prstGeom prst="roundRect">
            <a:avLst>
              <a:gd name="adj" fmla="val 19360"/>
            </a:avLst>
          </a:prstGeom>
          <a:solidFill>
            <a:srgbClr val="FDFDFD">
              <a:alpha val="99000"/>
            </a:srgb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60000" tIns="36000" rIns="0" bIns="0"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G</a:t>
            </a:r>
            <a:r>
              <a:rPr lang="en-US" b="1" noProof="0" dirty="0" err="1">
                <a:solidFill>
                  <a:schemeClr val="tx1"/>
                </a:solidFill>
              </a:rPr>
              <a:t>ood</a:t>
            </a:r>
            <a:r>
              <a:rPr lang="en-US" b="1" noProof="0" dirty="0">
                <a:solidFill>
                  <a:schemeClr val="tx1"/>
                </a:solidFill>
              </a:rPr>
              <a:t> level of visual interpretability achieved for</a:t>
            </a:r>
          </a:p>
          <a:p>
            <a:r>
              <a:rPr lang="en-US" b="1" noProof="0" dirty="0">
                <a:solidFill>
                  <a:schemeClr val="tx1"/>
                </a:solidFill>
              </a:rPr>
              <a:t> non-experts in the field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D27F243-8EA9-5B7B-4585-A4DA40D3EAF6}"/>
              </a:ext>
            </a:extLst>
          </p:cNvPr>
          <p:cNvSpPr>
            <a:spLocks noChangeAspect="1"/>
          </p:cNvSpPr>
          <p:nvPr/>
        </p:nvSpPr>
        <p:spPr>
          <a:xfrm>
            <a:off x="1124145" y="4035657"/>
            <a:ext cx="623379" cy="622967"/>
          </a:xfrm>
          <a:prstGeom prst="ellipse">
            <a:avLst/>
          </a:prstGeom>
          <a:solidFill>
            <a:srgbClr val="00B0F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144000" rtlCol="0" anchor="ctr"/>
          <a:lstStyle/>
          <a:p>
            <a:pPr algn="ctr"/>
            <a:endParaRPr lang="en-US" noProof="0" dirty="0"/>
          </a:p>
        </p:txBody>
      </p:sp>
      <p:pic>
        <p:nvPicPr>
          <p:cNvPr id="45" name="Elemento grafico 110" descr="Research with solid fill">
            <a:extLst>
              <a:ext uri="{FF2B5EF4-FFF2-40B4-BE49-F238E27FC236}">
                <a16:creationId xmlns:a16="http://schemas.microsoft.com/office/drawing/2014/main" id="{6CC1E4A9-1A86-CFD5-B04E-FC37C8165F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10149" y="4121455"/>
            <a:ext cx="451369" cy="451369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27F6F2C-A53C-6A21-C677-AB05E59FD12E}"/>
              </a:ext>
            </a:extLst>
          </p:cNvPr>
          <p:cNvSpPr/>
          <p:nvPr/>
        </p:nvSpPr>
        <p:spPr>
          <a:xfrm>
            <a:off x="1325977" y="5119144"/>
            <a:ext cx="3978936" cy="733315"/>
          </a:xfrm>
          <a:prstGeom prst="roundRect">
            <a:avLst>
              <a:gd name="adj" fmla="val 30202"/>
            </a:avLst>
          </a:prstGeom>
          <a:solidFill>
            <a:srgbClr val="FDFDFD">
              <a:alpha val="99000"/>
            </a:srgb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468000" tIns="36000" rIns="0" bIns="0" rtlCol="0" anchor="t"/>
          <a:lstStyle/>
          <a:p>
            <a:r>
              <a:rPr lang="en-US" b="1" noProof="0" dirty="0">
                <a:solidFill>
                  <a:schemeClr val="tx1"/>
                </a:solidFill>
              </a:rPr>
              <a:t>The properties of SSINet have been faithfully replicated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6E0D995-DF5F-D517-2932-06FC0DDA2D5D}"/>
              </a:ext>
            </a:extLst>
          </p:cNvPr>
          <p:cNvSpPr>
            <a:spLocks noChangeAspect="1"/>
          </p:cNvSpPr>
          <p:nvPr/>
        </p:nvSpPr>
        <p:spPr>
          <a:xfrm>
            <a:off x="1124145" y="5174317"/>
            <a:ext cx="623379" cy="62296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144000" rtlCol="0" anchor="ctr"/>
          <a:lstStyle/>
          <a:p>
            <a:pPr algn="ctr"/>
            <a:endParaRPr lang="en-US" noProof="0" dirty="0"/>
          </a:p>
        </p:txBody>
      </p:sp>
      <p:pic>
        <p:nvPicPr>
          <p:cNvPr id="49" name="Elemento grafico 110" descr="Fork In Road with solid fill">
            <a:extLst>
              <a:ext uri="{FF2B5EF4-FFF2-40B4-BE49-F238E27FC236}">
                <a16:creationId xmlns:a16="http://schemas.microsoft.com/office/drawing/2014/main" id="{653AC95E-22EF-BEAF-CBD9-FDA9A496A5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210149" y="5260115"/>
            <a:ext cx="451369" cy="451369"/>
          </a:xfrm>
          <a:prstGeom prst="rect">
            <a:avLst/>
          </a:prstGeom>
        </p:spPr>
      </p:pic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9195C77-55D9-E3F5-427D-2CD54FE49228}"/>
              </a:ext>
            </a:extLst>
          </p:cNvPr>
          <p:cNvSpPr/>
          <p:nvPr/>
        </p:nvSpPr>
        <p:spPr>
          <a:xfrm>
            <a:off x="7083624" y="1814186"/>
            <a:ext cx="3744033" cy="733315"/>
          </a:xfrm>
          <a:prstGeom prst="roundRect">
            <a:avLst>
              <a:gd name="adj" fmla="val 30202"/>
            </a:avLst>
          </a:prstGeom>
          <a:solidFill>
            <a:srgbClr val="FDFDFD">
              <a:alpha val="99000"/>
            </a:srgb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44000" tIns="36000" rIns="324000" bIns="0" rtlCol="0" anchor="t"/>
          <a:lstStyle/>
          <a:p>
            <a:r>
              <a:rPr lang="en-US" b="1" noProof="0" dirty="0">
                <a:solidFill>
                  <a:schemeClr val="tx1"/>
                </a:solidFill>
              </a:rPr>
              <a:t>The quality of the</a:t>
            </a:r>
            <a:r>
              <a:rPr lang="en-US" b="1" dirty="0">
                <a:solidFill>
                  <a:schemeClr val="tx1"/>
                </a:solidFill>
              </a:rPr>
              <a:t> mask is training dependent</a:t>
            </a:r>
            <a:endParaRPr lang="en-US" b="1" noProof="0" dirty="0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F91D299-A512-F9DD-E312-BF3F29C152E9}"/>
              </a:ext>
            </a:extLst>
          </p:cNvPr>
          <p:cNvGrpSpPr/>
          <p:nvPr/>
        </p:nvGrpSpPr>
        <p:grpSpPr>
          <a:xfrm>
            <a:off x="10388628" y="1864212"/>
            <a:ext cx="623379" cy="622967"/>
            <a:chOff x="3073401" y="976383"/>
            <a:chExt cx="623379" cy="622967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FC4E301-BF61-8382-1AA7-63288BC2D5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73401" y="976383"/>
              <a:ext cx="623379" cy="622967"/>
            </a:xfrm>
            <a:prstGeom prst="ellipse">
              <a:avLst/>
            </a:prstGeom>
            <a:solidFill>
              <a:srgbClr val="CC00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144000"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3" name="Elemento grafico 110" descr="Periodic Graph with solid fill">
              <a:extLst>
                <a:ext uri="{FF2B5EF4-FFF2-40B4-BE49-F238E27FC236}">
                  <a16:creationId xmlns:a16="http://schemas.microsoft.com/office/drawing/2014/main" id="{E9B74E95-A43C-F7A1-0E0C-25EC8B4030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3159405" y="1062181"/>
              <a:ext cx="451369" cy="451369"/>
            </a:xfrm>
            <a:prstGeom prst="rect">
              <a:avLst/>
            </a:prstGeom>
          </p:spPr>
        </p:pic>
      </p:grp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AC2DB4B-7831-BA91-C16B-F6194CA63E72}"/>
              </a:ext>
            </a:extLst>
          </p:cNvPr>
          <p:cNvSpPr/>
          <p:nvPr/>
        </p:nvSpPr>
        <p:spPr>
          <a:xfrm>
            <a:off x="7083624" y="2733664"/>
            <a:ext cx="3627919" cy="1363539"/>
          </a:xfrm>
          <a:prstGeom prst="roundRect">
            <a:avLst>
              <a:gd name="adj" fmla="val 23816"/>
            </a:avLst>
          </a:prstGeom>
          <a:solidFill>
            <a:srgbClr val="FDFDFD">
              <a:alpha val="99000"/>
            </a:srgb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44000" tIns="36000" rIns="540000" bIns="0" rtlCol="0" anchor="t"/>
          <a:lstStyle/>
          <a:p>
            <a:r>
              <a:rPr lang="en-US" b="1" noProof="0" dirty="0">
                <a:solidFill>
                  <a:schemeClr val="tx1"/>
                </a:solidFill>
              </a:rPr>
              <a:t>The importance is a per-molecule min-max norm, forcing every molecule to have important atoms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53998063-0965-05DB-AF86-146A75814130}"/>
              </a:ext>
            </a:extLst>
          </p:cNvPr>
          <p:cNvSpPr/>
          <p:nvPr/>
        </p:nvSpPr>
        <p:spPr>
          <a:xfrm>
            <a:off x="7083624" y="4279775"/>
            <a:ext cx="3627919" cy="1614787"/>
          </a:xfrm>
          <a:prstGeom prst="roundRect">
            <a:avLst>
              <a:gd name="adj" fmla="val 19025"/>
            </a:avLst>
          </a:prstGeom>
          <a:solidFill>
            <a:srgbClr val="FDFDFD">
              <a:alpha val="99000"/>
            </a:srgb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44000" tIns="36000" rIns="252000" bIns="0"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All the chemical evaluations were carried out using Claude Opus, instructed to act as a “Chemist in the Loop”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31524DE-6326-248A-850E-C398777E1180}"/>
              </a:ext>
            </a:extLst>
          </p:cNvPr>
          <p:cNvGrpSpPr/>
          <p:nvPr/>
        </p:nvGrpSpPr>
        <p:grpSpPr>
          <a:xfrm>
            <a:off x="10388628" y="3117516"/>
            <a:ext cx="623379" cy="622967"/>
            <a:chOff x="3073401" y="976383"/>
            <a:chExt cx="623379" cy="622967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3AE5B46E-773D-FA3F-DCB0-A7959DEFCC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73401" y="976383"/>
              <a:ext cx="623379" cy="622967"/>
            </a:xfrm>
            <a:prstGeom prst="ellipse">
              <a:avLst/>
            </a:prstGeom>
            <a:solidFill>
              <a:srgbClr val="FF00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144000"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68" name="Elemento grafico 110" descr="Rope Knot with solid fill">
              <a:extLst>
                <a:ext uri="{FF2B5EF4-FFF2-40B4-BE49-F238E27FC236}">
                  <a16:creationId xmlns:a16="http://schemas.microsoft.com/office/drawing/2014/main" id="{FBAC96E0-5B69-9040-20F7-2F1E9705B3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3159405" y="1062181"/>
              <a:ext cx="451369" cy="451369"/>
            </a:xfrm>
            <a:prstGeom prst="rect">
              <a:avLst/>
            </a:prstGeom>
          </p:spPr>
        </p:pic>
      </p:grpSp>
      <p:sp>
        <p:nvSpPr>
          <p:cNvPr id="70" name="Oval 69">
            <a:extLst>
              <a:ext uri="{FF2B5EF4-FFF2-40B4-BE49-F238E27FC236}">
                <a16:creationId xmlns:a16="http://schemas.microsoft.com/office/drawing/2014/main" id="{14183BB6-EAFA-9226-C257-111735EE6521}"/>
              </a:ext>
            </a:extLst>
          </p:cNvPr>
          <p:cNvSpPr>
            <a:spLocks noChangeAspect="1"/>
          </p:cNvSpPr>
          <p:nvPr/>
        </p:nvSpPr>
        <p:spPr>
          <a:xfrm>
            <a:off x="10388626" y="4775684"/>
            <a:ext cx="623379" cy="622967"/>
          </a:xfrm>
          <a:prstGeom prst="ellipse">
            <a:avLst/>
          </a:prstGeom>
          <a:solidFill>
            <a:srgbClr val="F4F5E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144000" rtlCol="0" anchor="ctr"/>
          <a:lstStyle/>
          <a:p>
            <a:pPr algn="ctr"/>
            <a:endParaRPr lang="en-US" noProof="0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EDC6569C-28A9-7B2E-26CD-EDA45616AF6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77196"/>
          <a:stretch>
            <a:fillRect/>
          </a:stretch>
        </p:blipFill>
        <p:spPr>
          <a:xfrm>
            <a:off x="10480799" y="4880695"/>
            <a:ext cx="439031" cy="412944"/>
          </a:xfrm>
          <a:prstGeom prst="rect">
            <a:avLst/>
          </a:prstGeom>
        </p:spPr>
      </p:pic>
      <p:pic>
        <p:nvPicPr>
          <p:cNvPr id="82" name="Elemento grafico 110" descr="Clock with solid fill">
            <a:extLst>
              <a:ext uri="{FF2B5EF4-FFF2-40B4-BE49-F238E27FC236}">
                <a16:creationId xmlns:a16="http://schemas.microsoft.com/office/drawing/2014/main" id="{A959148D-6B67-E670-D430-EFA2A50574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210149" y="2954064"/>
            <a:ext cx="451369" cy="45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9001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55F06-F304-9341-E1BB-C4CFA5565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val 23">
            <a:extLst>
              <a:ext uri="{FF2B5EF4-FFF2-40B4-BE49-F238E27FC236}">
                <a16:creationId xmlns:a16="http://schemas.microsoft.com/office/drawing/2014/main" id="{DE64B496-03D4-C23D-A6E2-4CA765D81CA9}"/>
              </a:ext>
            </a:extLst>
          </p:cNvPr>
          <p:cNvSpPr>
            <a:spLocks noChangeAspect="1"/>
          </p:cNvSpPr>
          <p:nvPr/>
        </p:nvSpPr>
        <p:spPr>
          <a:xfrm>
            <a:off x="4622136" y="1369452"/>
            <a:ext cx="3183586" cy="3183586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D7FB16A-7870-D534-DB86-0AB85EC78967}"/>
              </a:ext>
            </a:extLst>
          </p:cNvPr>
          <p:cNvSpPr/>
          <p:nvPr/>
        </p:nvSpPr>
        <p:spPr>
          <a:xfrm>
            <a:off x="1882557" y="4724801"/>
            <a:ext cx="4417373" cy="697860"/>
          </a:xfrm>
          <a:prstGeom prst="roundRect">
            <a:avLst>
              <a:gd name="adj" fmla="val 17972"/>
            </a:avLst>
          </a:prstGeom>
          <a:solidFill>
            <a:srgbClr val="FDFDFD">
              <a:alpha val="99000"/>
            </a:srgb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08000" tIns="36000" rIns="72000" bIns="0"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Validate against a baseline computed on </a:t>
            </a:r>
            <a:r>
              <a:rPr lang="en-US" b="1" dirty="0" err="1">
                <a:solidFill>
                  <a:schemeClr val="tx1"/>
                </a:solidFill>
              </a:rPr>
              <a:t>AudoDock</a:t>
            </a:r>
            <a:r>
              <a:rPr lang="en-US" b="1" dirty="0">
                <a:solidFill>
                  <a:schemeClr val="tx1"/>
                </a:solidFill>
              </a:rPr>
              <a:t>-GPU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600BCFF-CB84-13F9-121B-DF16990454F1}"/>
              </a:ext>
            </a:extLst>
          </p:cNvPr>
          <p:cNvSpPr/>
          <p:nvPr/>
        </p:nvSpPr>
        <p:spPr>
          <a:xfrm>
            <a:off x="7888516" y="2315837"/>
            <a:ext cx="3955811" cy="1045608"/>
          </a:xfrm>
          <a:prstGeom prst="roundRect">
            <a:avLst>
              <a:gd name="adj" fmla="val 17972"/>
            </a:avLst>
          </a:prstGeom>
          <a:solidFill>
            <a:srgbClr val="FDFDFD">
              <a:alpha val="99000"/>
            </a:srgb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96000" tIns="36000" rIns="72000" bIns="0" rtlCol="0" anchor="t"/>
          <a:lstStyle/>
          <a:p>
            <a:r>
              <a:rPr lang="en-US" b="1" noProof="0" dirty="0">
                <a:solidFill>
                  <a:schemeClr val="tx1"/>
                </a:solidFill>
              </a:rPr>
              <a:t>Improve the pipeline embedding the same visualization also for 3D molecules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2816F5F-4E63-E11E-EC41-3F09E915C291}"/>
              </a:ext>
            </a:extLst>
          </p:cNvPr>
          <p:cNvSpPr/>
          <p:nvPr/>
        </p:nvSpPr>
        <p:spPr>
          <a:xfrm>
            <a:off x="350138" y="2315837"/>
            <a:ext cx="4189205" cy="1045608"/>
          </a:xfrm>
          <a:prstGeom prst="roundRect">
            <a:avLst>
              <a:gd name="adj" fmla="val 20485"/>
            </a:avLst>
          </a:prstGeom>
          <a:solidFill>
            <a:srgbClr val="FDFDFD">
              <a:alpha val="99000"/>
            </a:srgb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08000" tIns="36000" rIns="252000" bIns="0"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Improve the reliability of the mask, relaxing appropriately the </a:t>
            </a:r>
            <a:r>
              <a:rPr lang="en-US" b="1">
                <a:solidFill>
                  <a:schemeClr val="tx1"/>
                </a:solidFill>
              </a:rPr>
              <a:t>loss constraints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DBD116-1F53-6A1B-77FC-49BE4CD28028}"/>
              </a:ext>
            </a:extLst>
          </p:cNvPr>
          <p:cNvSpPr/>
          <p:nvPr/>
        </p:nvSpPr>
        <p:spPr>
          <a:xfrm>
            <a:off x="6205991" y="518134"/>
            <a:ext cx="4417373" cy="697860"/>
          </a:xfrm>
          <a:prstGeom prst="roundRect">
            <a:avLst>
              <a:gd name="adj" fmla="val 17972"/>
            </a:avLst>
          </a:prstGeom>
          <a:solidFill>
            <a:srgbClr val="FDFDFD">
              <a:alpha val="99000"/>
            </a:srgb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08000" tIns="36000" rIns="72000" bIns="0"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Move the interpretation module during the per-token SMILES generation</a:t>
            </a: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1DD500FA-135C-5459-AC64-73C1D1E85E49}"/>
              </a:ext>
            </a:extLst>
          </p:cNvPr>
          <p:cNvSpPr/>
          <p:nvPr/>
        </p:nvSpPr>
        <p:spPr>
          <a:xfrm rot="10800000">
            <a:off x="-21" y="-36"/>
            <a:ext cx="4303507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172DD2-828F-BA53-D518-FA884B75B1F3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ADE1F8CF-907B-3DAC-F14D-3CC32DC58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2A2874C-CE92-D5D6-DE49-2CAAD7EC6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38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40E163-B30B-DD4E-7083-F0D7DCCF473B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7B0E3802-7A60-25AE-09EC-536225F41AE2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19E573D0-1C83-2814-7914-7E144B8F9B5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pPr/>
              <a:t>38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45CB8-BD3A-2CCB-9435-C4323BA08F26}"/>
              </a:ext>
            </a:extLst>
          </p:cNvPr>
          <p:cNvSpPr txBox="1">
            <a:spLocks/>
          </p:cNvSpPr>
          <p:nvPr/>
        </p:nvSpPr>
        <p:spPr>
          <a:xfrm>
            <a:off x="-20" y="-191561"/>
            <a:ext cx="1219201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noProof="0" dirty="0">
                <a:solidFill>
                  <a:schemeClr val="bg1"/>
                </a:solidFill>
              </a:rPr>
              <a:t>🔜</a:t>
            </a:r>
            <a:r>
              <a:rPr lang="en-US" noProof="0" dirty="0">
                <a:solidFill>
                  <a:schemeClr val="bg1"/>
                </a:solidFill>
              </a:rPr>
              <a:t> </a:t>
            </a:r>
            <a:r>
              <a:rPr lang="en-US" b="1" noProof="0" dirty="0">
                <a:solidFill>
                  <a:schemeClr val="bg1"/>
                </a:solidFill>
              </a:rPr>
              <a:t>Future Works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793263A-92C0-C41F-1403-1BA58B17FF29}"/>
              </a:ext>
            </a:extLst>
          </p:cNvPr>
          <p:cNvSpPr>
            <a:spLocks noChangeAspect="1"/>
          </p:cNvSpPr>
          <p:nvPr/>
        </p:nvSpPr>
        <p:spPr>
          <a:xfrm>
            <a:off x="4292968" y="2529686"/>
            <a:ext cx="623379" cy="622967"/>
          </a:xfrm>
          <a:prstGeom prst="ellipse">
            <a:avLst/>
          </a:prstGeom>
          <a:solidFill>
            <a:srgbClr val="EB7B3D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144000" rtlCol="0" anchor="ctr"/>
          <a:lstStyle/>
          <a:p>
            <a:pPr algn="ctr"/>
            <a:endParaRPr lang="en-US" noProof="0" dirty="0"/>
          </a:p>
        </p:txBody>
      </p:sp>
      <p:pic>
        <p:nvPicPr>
          <p:cNvPr id="30" name="Elemento grafico 110" descr="Building Brick Wall with solid fill">
            <a:extLst>
              <a:ext uri="{FF2B5EF4-FFF2-40B4-BE49-F238E27FC236}">
                <a16:creationId xmlns:a16="http://schemas.microsoft.com/office/drawing/2014/main" id="{B50F75F4-E200-2E8C-5A0E-20E042B3E8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78972" y="2615484"/>
            <a:ext cx="451369" cy="451369"/>
          </a:xfrm>
          <a:prstGeom prst="rect">
            <a:avLst/>
          </a:prstGeo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CB8F91D8-C5EA-FB88-A875-DAC7FFFB67D9}"/>
              </a:ext>
            </a:extLst>
          </p:cNvPr>
          <p:cNvSpPr>
            <a:spLocks noChangeAspect="1"/>
          </p:cNvSpPr>
          <p:nvPr/>
        </p:nvSpPr>
        <p:spPr>
          <a:xfrm>
            <a:off x="7511511" y="2529688"/>
            <a:ext cx="623379" cy="622967"/>
          </a:xfrm>
          <a:prstGeom prst="ellipse">
            <a:avLst/>
          </a:prstGeom>
          <a:solidFill>
            <a:srgbClr val="00B05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144000" rtlCol="0" anchor="ctr"/>
          <a:lstStyle/>
          <a:p>
            <a:pPr algn="ctr"/>
            <a:endParaRPr lang="en-US" noProof="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9997FA7-A0C7-6D44-DD2E-0D47F1369BE8}"/>
              </a:ext>
            </a:extLst>
          </p:cNvPr>
          <p:cNvSpPr>
            <a:spLocks noChangeAspect="1"/>
          </p:cNvSpPr>
          <p:nvPr/>
        </p:nvSpPr>
        <p:spPr>
          <a:xfrm>
            <a:off x="5902240" y="1075854"/>
            <a:ext cx="623379" cy="622967"/>
          </a:xfrm>
          <a:prstGeom prst="ellipse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144000" rtlCol="0" anchor="ctr"/>
          <a:lstStyle/>
          <a:p>
            <a:pPr algn="ctr"/>
            <a:endParaRPr lang="en-US" noProof="0" dirty="0"/>
          </a:p>
        </p:txBody>
      </p:sp>
      <p:pic>
        <p:nvPicPr>
          <p:cNvPr id="49" name="Elemento grafico 110">
            <a:extLst>
              <a:ext uri="{FF2B5EF4-FFF2-40B4-BE49-F238E27FC236}">
                <a16:creationId xmlns:a16="http://schemas.microsoft.com/office/drawing/2014/main" id="{679F49D0-2AA1-813A-00BE-9A3A97D2AD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88244" y="1161652"/>
            <a:ext cx="451369" cy="45136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326EAD4-D4DA-9E64-42E4-2F1253B4FBF0}"/>
              </a:ext>
            </a:extLst>
          </p:cNvPr>
          <p:cNvSpPr>
            <a:spLocks noChangeAspect="1"/>
          </p:cNvSpPr>
          <p:nvPr/>
        </p:nvSpPr>
        <p:spPr>
          <a:xfrm>
            <a:off x="5904767" y="4241554"/>
            <a:ext cx="623379" cy="622967"/>
          </a:xfrm>
          <a:prstGeom prst="ellipse">
            <a:avLst/>
          </a:prstGeom>
          <a:solidFill>
            <a:srgbClr val="7030A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144000" rtlCol="0" anchor="ctr"/>
          <a:lstStyle/>
          <a:p>
            <a:pPr algn="ctr"/>
            <a:endParaRPr lang="en-US" noProof="0" dirty="0"/>
          </a:p>
        </p:txBody>
      </p:sp>
      <p:pic>
        <p:nvPicPr>
          <p:cNvPr id="6" name="Elemento grafico 110" descr="Processor with solid fill">
            <a:extLst>
              <a:ext uri="{FF2B5EF4-FFF2-40B4-BE49-F238E27FC236}">
                <a16:creationId xmlns:a16="http://schemas.microsoft.com/office/drawing/2014/main" id="{F3263809-5B02-CA07-FDB8-BDAB9283DA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90771" y="4327352"/>
            <a:ext cx="451369" cy="451369"/>
          </a:xfrm>
          <a:prstGeom prst="rect">
            <a:avLst/>
          </a:prstGeom>
        </p:spPr>
      </p:pic>
      <p:pic>
        <p:nvPicPr>
          <p:cNvPr id="20" name="Elemento grafico 110" descr="Pyramid Shape with solid fill">
            <a:extLst>
              <a:ext uri="{FF2B5EF4-FFF2-40B4-BE49-F238E27FC236}">
                <a16:creationId xmlns:a16="http://schemas.microsoft.com/office/drawing/2014/main" id="{87A8853B-3175-8776-2E0D-90500EADC3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597515" y="2612956"/>
            <a:ext cx="451369" cy="45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625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30039-B717-5CB3-C431-CD4410418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17C651-7003-2F08-BD30-EFFEC61DE0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2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B317AA-607D-765F-8AE8-D0B9C579FC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942"/>
          <a:stretch>
            <a:fillRect/>
          </a:stretch>
        </p:blipFill>
        <p:spPr>
          <a:xfrm>
            <a:off x="5269268" y="192275"/>
            <a:ext cx="1653462" cy="19821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398269-8A18-D7E4-5113-759FFC529A6D}"/>
              </a:ext>
            </a:extLst>
          </p:cNvPr>
          <p:cNvSpPr txBox="1"/>
          <p:nvPr/>
        </p:nvSpPr>
        <p:spPr>
          <a:xfrm>
            <a:off x="-27934" y="2672576"/>
            <a:ext cx="122478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THANKS FOR YOUR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ATTENTION!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E31839-433B-4A93-20A9-5DC7B09B9C74}"/>
              </a:ext>
            </a:extLst>
          </p:cNvPr>
          <p:cNvSpPr txBox="1"/>
          <p:nvPr/>
        </p:nvSpPr>
        <p:spPr>
          <a:xfrm>
            <a:off x="3242744" y="6095555"/>
            <a:ext cx="5706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Pimpinelli Francesco 2214340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>
                <a:solidFill>
                  <a:prstClr val="white"/>
                </a:solidFill>
                <a:latin typeface="Aptos" panose="02110004020202020204"/>
              </a:rPr>
              <a:t>REINFORCEMENT LEARNING A.A 25/26</a:t>
            </a:r>
            <a:endParaRPr kumimoji="0" lang="en-US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14CBF8-353A-E4C3-5B88-A4BAD2DF601E}"/>
              </a:ext>
            </a:extLst>
          </p:cNvPr>
          <p:cNvCxnSpPr>
            <a:cxnSpLocks/>
          </p:cNvCxnSpPr>
          <p:nvPr/>
        </p:nvCxnSpPr>
        <p:spPr>
          <a:xfrm>
            <a:off x="5695562" y="5353561"/>
            <a:ext cx="80087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074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F006C5D-752A-4980-9E10-2472195AF9D7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12e4e84e-e63c-4563-aee1-f0f02513a26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2461</Words>
  <Application>Microsoft Office PowerPoint</Application>
  <PresentationFormat>Widescreen</PresentationFormat>
  <Paragraphs>380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Aptos Display</vt:lpstr>
      <vt:lpstr>Arial</vt:lpstr>
      <vt:lpstr>Cambria Math</vt:lpstr>
      <vt:lpstr>IBM Plex Sans</vt:lpstr>
      <vt:lpstr>Office Theme</vt:lpstr>
      <vt:lpstr>PowerPoint Presentation</vt:lpstr>
      <vt:lpstr>🔎The Context</vt:lpstr>
      <vt:lpstr>PowerPoint Presentation</vt:lpstr>
      <vt:lpstr>🔎The Context: 🧬 MoleGuLAR &amp; 🖥️ SSINet</vt:lpstr>
      <vt:lpstr>🧬MoleGuLAR: The Pipeline </vt:lpstr>
      <vt:lpstr>🧬MoleGuLAR: 🙂 SMILES</vt:lpstr>
      <vt:lpstr>🧬MoleGuLAR: 📄Data &amp; 🎯Target Proteins</vt:lpstr>
      <vt:lpstr>🧬MoleGuLAR: BA Estimation</vt:lpstr>
      <vt:lpstr>PowerPoint Presentation</vt:lpstr>
      <vt:lpstr>PowerPoint Presentation</vt:lpstr>
      <vt:lpstr>MoleGuLAR: 🎯 Desired Properties</vt:lpstr>
      <vt:lpstr>MoleGuLAR: 🎯 Desired Properties</vt:lpstr>
      <vt:lpstr>MoleGuLAR: 🏆Reward Strategies</vt:lpstr>
      <vt:lpstr>MoleGuLAR: 🏆Reward Strategies</vt:lpstr>
      <vt:lpstr>MoleGuLAR: 🏆Reward Strategies</vt:lpstr>
      <vt:lpstr>MoleGuLAR: 🏆Reward Strategies</vt:lpstr>
      <vt:lpstr>🧬MoleGuLAR: 🤖The RL Model</vt:lpstr>
      <vt:lpstr>🤖The RL Model : 💪REINFORCE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Pimpinelli</dc:creator>
  <cp:lastModifiedBy>Francesco Pimpinelli</cp:lastModifiedBy>
  <cp:revision>26</cp:revision>
  <dcterms:created xsi:type="dcterms:W3CDTF">2026-03-14T16:31:52Z</dcterms:created>
  <dcterms:modified xsi:type="dcterms:W3CDTF">2026-06-07T15:27:11Z</dcterms:modified>
</cp:coreProperties>
</file>