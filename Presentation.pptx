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7" r:id="rId2"/>
    <p:sldId id="326" r:id="rId3"/>
    <p:sldId id="337" r:id="rId4"/>
    <p:sldId id="338" r:id="rId5"/>
    <p:sldId id="339" r:id="rId6"/>
    <p:sldId id="340" r:id="rId7"/>
    <p:sldId id="344" r:id="rId8"/>
    <p:sldId id="345" r:id="rId9"/>
    <p:sldId id="342" r:id="rId10"/>
    <p:sldId id="348" r:id="rId11"/>
    <p:sldId id="341" r:id="rId12"/>
    <p:sldId id="347" r:id="rId13"/>
    <p:sldId id="346" r:id="rId14"/>
    <p:sldId id="303" r:id="rId15"/>
    <p:sldId id="327" r:id="rId16"/>
    <p:sldId id="336" r:id="rId17"/>
    <p:sldId id="331" r:id="rId18"/>
    <p:sldId id="332" r:id="rId19"/>
    <p:sldId id="333" r:id="rId20"/>
    <p:sldId id="334" r:id="rId21"/>
    <p:sldId id="33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66"/>
    <a:srgbClr val="C9A227"/>
    <a:srgbClr val="F0A76D"/>
    <a:srgbClr val="FFFCF0"/>
    <a:srgbClr val="96BF0D"/>
    <a:srgbClr val="FFCC66"/>
    <a:srgbClr val="FFFDF3"/>
    <a:srgbClr val="FFFBEB"/>
    <a:srgbClr val="F1F2E3"/>
    <a:srgbClr val="6DA8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C04E0-E443-4414-A1E7-4090A8823F9A}" v="1195" dt="2026-03-19T08:21:17.8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5" autoAdjust="0"/>
    <p:restoredTop sz="87643" autoAdjust="0"/>
  </p:normalViewPr>
  <p:slideViewPr>
    <p:cSldViewPr snapToGrid="0">
      <p:cViewPr>
        <p:scale>
          <a:sx n="70" d="100"/>
          <a:sy n="70" d="100"/>
        </p:scale>
        <p:origin x="2668" y="124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4BCFF-8680-4429-B729-056A70C99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D54AF-32B1-8869-9347-0644136D1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4B285D-1464-DE1E-5FC9-7879CD2B18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86CFA-FC29-F156-89F9-862C10C44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40704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Desirable properties.</a:t>
            </a:r>
          </a:p>
          <a:p>
            <a:r>
              <a:rPr lang="en-US" dirty="0"/>
              <a:t>Quantitative Estimate of Drug-likeness (QED)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F57C9-6DCF-8E3A-CCD6-9BCD7F4BB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C125C-1C79-A4B4-E547-F32A8FA0B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A931EE-8004-97A5-04DF-631627126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331F8-ACA2-7408-78ED-D0AFBDBD1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01718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23/04/2026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REINFORCEMENT LEARNING </a:t>
            </a: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A.A 25/26</a:t>
            </a:r>
            <a:endParaRPr kumimoji="0" lang="en-US" b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1" y="-2"/>
            <a:ext cx="32625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6100334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MoleGuLAR </a:t>
            </a:r>
            <a:r>
              <a:rPr lang="it-IT" b="1" dirty="0">
                <a:solidFill>
                  <a:schemeClr val="bg1"/>
                </a:solidFill>
              </a:rPr>
              <a:t>🧬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15200" y="1960993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BA Estimation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F476A45-C3DE-6216-0392-00FDF740B284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D936E1-2358-BA93-FA43-CFD9447285FB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A75BF9-623D-5DAC-7BE4-D4C5108F9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3B440F16-6148-B739-EDE9-A61FA4330AE0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21A9149-D7EB-8B78-1C00-2F4C3FD677B6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7537EAD-A536-79F9-9CF5-6C4DDC75D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chemeClr val="tx1"/>
                    </a:solidFill>
                  </a:rPr>
                  <a:t>           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</a:t>
                </a:r>
                <a:r>
                  <a:rPr lang="en-US" sz="2000" dirty="0">
                    <a:solidFill>
                      <a:srgbClr val="005866"/>
                    </a:solidFill>
                  </a:rPr>
                  <a:t>	</a:t>
                </a:r>
              </a:p>
              <a:p>
                <a:pPr algn="l"/>
                <a:r>
                  <a:rPr lang="en-US" sz="2000" dirty="0">
                    <a:solidFill>
                      <a:srgbClr val="005866"/>
                    </a:solidFill>
                  </a:rPr>
                  <a:t>            </a:t>
                </a:r>
                <a:r>
                  <a:rPr lang="en-US" sz="2000" dirty="0"/>
                  <a:t>0.45                     </a:t>
                </a:r>
                <a:r>
                  <a:rPr lang="en-US" sz="2000" dirty="0">
                    <a:latin typeface="IBM Plex Sans"/>
                  </a:rPr>
                  <a:t>        </a:t>
                </a:r>
                <a:r>
                  <a:rPr lang="en-US" sz="2000" dirty="0"/>
                  <a:t>0.93</a:t>
                </a: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295091-49AB-055B-A3BD-10FB24091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8580ECB3-CCD9-A048-ABB3-01B71E753F78}"/>
              </a:ext>
            </a:extLst>
          </p:cNvPr>
          <p:cNvSpPr/>
          <p:nvPr/>
        </p:nvSpPr>
        <p:spPr>
          <a:xfrm>
            <a:off x="6727970" y="1214226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CFA371-45DC-97F5-846C-EFAC7BD964BF}"/>
              </a:ext>
            </a:extLst>
          </p:cNvPr>
          <p:cNvSpPr txBox="1"/>
          <p:nvPr/>
        </p:nvSpPr>
        <p:spPr>
          <a:xfrm>
            <a:off x="6727970" y="1312841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Graph Embeddings + Random Forest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/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0.87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0.55</a:t>
                </a: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BDE6CFC-60D1-F6B9-E840-2CD8F8886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725550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2564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0285277-7D5D-8402-32FA-123425176564}"/>
              </a:ext>
            </a:extLst>
          </p:cNvPr>
          <p:cNvSpPr/>
          <p:nvPr/>
        </p:nvSpPr>
        <p:spPr>
          <a:xfrm>
            <a:off x="6727970" y="2926248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1A9A37-1618-7E38-25C9-96E7C327CE92}"/>
              </a:ext>
            </a:extLst>
          </p:cNvPr>
          <p:cNvSpPr txBox="1"/>
          <p:nvPr/>
        </p:nvSpPr>
        <p:spPr>
          <a:xfrm>
            <a:off x="6787930" y="2979254"/>
            <a:ext cx="4649851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Mol2Vec + Random Forest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/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161616"/>
                    </a:solidFill>
                  </a:rPr>
                  <a:t>           MAE</a:t>
                </a:r>
                <a:r>
                  <a:rPr lang="en-US" sz="2000" dirty="0">
                    <a:solidFill>
                      <a:srgbClr val="161616"/>
                    </a:solidFill>
                  </a:rPr>
                  <a:t>: 		</a:t>
                </a:r>
                <a:r>
                  <a:rPr lang="it-IT" sz="2000" b="1" dirty="0">
                    <a:solidFill>
                      <a:srgbClr val="161616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rgbClr val="161616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rgbClr val="161616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rgbClr val="161616"/>
                    </a:solidFill>
                  </a:rPr>
                  <a:t>            0.47                     </a:t>
                </a:r>
                <a:r>
                  <a:rPr lang="en-US" sz="2000" dirty="0">
                    <a:solidFill>
                      <a:srgbClr val="161616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rgbClr val="161616"/>
                    </a:solidFill>
                  </a:rPr>
                  <a:t>0.91</a:t>
                </a:r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467D94-9560-BC64-EFC2-3B0CB6B52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3437572"/>
                <a:ext cx="4011118" cy="714876"/>
              </a:xfrm>
              <a:prstGeom prst="rect">
                <a:avLst/>
              </a:prstGeom>
              <a:blipFill>
                <a:blip r:embed="rId5"/>
                <a:stretch>
                  <a:fillRect t="-3419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/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7C26419-A3B4-0B69-5BF9-23F0B0201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5149594"/>
                <a:ext cx="4011118" cy="714876"/>
              </a:xfrm>
              <a:prstGeom prst="rect">
                <a:avLst/>
              </a:prstGeom>
              <a:blipFill>
                <a:blip r:embed="rId6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Word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FFCF0"/>
          </a:solidFill>
          <a:ln w="1905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/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>
                <a:spAutoFit/>
              </a:bodyPr>
              <a:lstStyle/>
              <a:p>
                <a:r>
                  <a:rPr lang="en-US" sz="2000" b="1" dirty="0">
                    <a:solidFill>
                      <a:srgbClr val="C9A227"/>
                    </a:solidFill>
                  </a:rPr>
                  <a:t>          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MAE</a:t>
                </a:r>
                <a:r>
                  <a:rPr lang="en-US" sz="2000" dirty="0">
                    <a:solidFill>
                      <a:schemeClr val="tx1"/>
                    </a:solidFill>
                  </a:rPr>
                  <a:t>: 		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p>
                        <m:r>
                          <a:rPr lang="it-IT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	</a:t>
                </a:r>
              </a:p>
              <a:p>
                <a:pPr algn="l"/>
                <a:r>
                  <a:rPr lang="en-US" sz="2000" dirty="0">
                    <a:solidFill>
                      <a:schemeClr val="tx1"/>
                    </a:solidFill>
                  </a:rPr>
                  <a:t>            0.45                     </a:t>
                </a:r>
                <a:r>
                  <a:rPr lang="en-US" sz="2000" dirty="0">
                    <a:solidFill>
                      <a:schemeClr val="tx1"/>
                    </a:solidFill>
                    <a:latin typeface="IBM Plex Sans"/>
                  </a:rPr>
                  <a:t>        </a:t>
                </a:r>
                <a:r>
                  <a:rPr lang="en-US" sz="2000" dirty="0">
                    <a:solidFill>
                      <a:schemeClr val="tx1"/>
                    </a:solidFill>
                  </a:rPr>
                  <a:t>0.93</a:t>
                </a: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E270EB-FD84-2650-779F-A8A128CB6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283" y="1497798"/>
                <a:ext cx="4011118" cy="714876"/>
              </a:xfrm>
              <a:prstGeom prst="rect">
                <a:avLst/>
              </a:prstGeom>
              <a:blipFill>
                <a:blip r:embed="rId4"/>
                <a:stretch>
                  <a:fillRect t="-3419" b="-153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>
                <a:solidFill>
                  <a:schemeClr val="bg1"/>
                </a:solidFill>
              </a:rPr>
              <a:t>🤝</a:t>
            </a:r>
            <a:r>
              <a:rPr lang="en-US" b="1" dirty="0">
                <a:solidFill>
                  <a:schemeClr val="bg1"/>
                </a:solidFill>
              </a:rPr>
              <a:t>BA Estimation: Chosen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EB384-9CA5-FFF4-5902-57254A8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80D71F-BC2F-7157-9315-790EC70EF6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63EE719-723A-B69A-5CFD-39292DAE746E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5204CF-464D-2A15-17C0-7CAC1D5D9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BC0FCF-382F-E953-7EC0-55FA80FDC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CDBDF85-2C95-5997-B2FA-F1239F961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7F2A186-E058-FDCC-47EF-B92494B5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62FF3-4467-2025-2AC7-94F81584E33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A7CA102E-4C54-7455-037D-D224FEEDE74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FF1241C-7357-01EE-9429-9F4D8BE4D664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6BD46B-5943-6D12-78A7-A0F6E94D2A8C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F93FFCF-0869-D07F-637A-1FFA93BC271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66B1BF2-3959-F39F-2B4C-CCAF3F8C2AF7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3654E73C-23AC-98BF-28A4-28238BAD75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57A3932-4E84-09FF-59F1-9D64ED4F096B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Strength of the </a:t>
              </a:r>
              <a:r>
                <a:rPr lang="en-US" b="1" dirty="0"/>
                <a:t>non-covalent interaction</a:t>
              </a:r>
              <a:r>
                <a:rPr lang="en-US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F2B5D75-F6ED-AE10-1516-7E0EB5DCA81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E529FFB-2FF7-EEEE-92FF-DE975468E602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F4C95A-90CC-84FC-D2E1-B8D67EC613BA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C3EBD017-3957-11DD-F12A-72D60ED526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0CE538-805F-3AA3-5FF8-C5461A931FC5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Measures a molecule's </a:t>
              </a:r>
              <a:r>
                <a:rPr lang="en-US" b="1" dirty="0"/>
                <a:t>lipophilicity</a:t>
              </a:r>
              <a:r>
                <a:rPr lang="en-US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BED64F-1B35-8312-B420-7B413F062CDD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110C5F4-AE1E-0882-118A-95B5BE1DAA7C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462C0A-CF90-BC21-72CC-7F894C70F35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5E2F5C2-2957-1ABD-36BA-3FAEC18F3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E68B6D-4454-DDC0-680E-1A751B14BF5C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 0-to-1 scoring method to map </a:t>
              </a:r>
              <a:r>
                <a:rPr lang="en-US" b="1" dirty="0"/>
                <a:t>resemblance</a:t>
              </a:r>
              <a:r>
                <a:rPr lang="en-US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FEBA3C3-0B6B-7F4B-EBDC-D5F1A15801A3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4553458-2E4E-2B0F-D59D-6E12CC21BFEC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FFCF0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9E032F6-3D7F-A88E-C19B-10C922E6487F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C1BA258-0415-8E09-A477-D861AB1875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D4F47C-83A4-7412-5424-AF4B6F3B6A92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 The amount of energy released when one mole of ions undergoes </a:t>
              </a:r>
              <a:r>
                <a:rPr lang="en-US" b="1" dirty="0"/>
                <a:t>solvation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584501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D1C78D-7B51-5E67-5984-3CCE379B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775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it-IT" b="1" noProof="0" dirty="0">
                <a:solidFill>
                  <a:schemeClr val="bg1"/>
                </a:solidFill>
              </a:rPr>
              <a:t>🏆</a:t>
            </a:r>
            <a:r>
              <a:rPr lang="en-US" b="1" noProof="0" dirty="0">
                <a:solidFill>
                  <a:schemeClr val="bg1"/>
                </a:solidFill>
              </a:rPr>
              <a:t>Reward Functions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Strong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Constant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Gentle at first but becomes aggressive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FFCF0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Heavily punishes low-quality molecules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Properties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905F-C72A-94D2-58BA-9F573958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24F9BD-8DDA-D399-7849-2785631B1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69F1084E-F6FA-97A6-E5BA-B4C51C63D39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50B087-83CA-E0DD-6046-C1A8DCCFDA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D9C4628-868E-CA01-3A7A-A227B2938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E6DF899-2331-2852-9D08-98CEF82B6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70359C0-5ACA-560A-FEBF-455C6E188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it-IT" b="1" noProof="0" dirty="0">
                <a:solidFill>
                  <a:schemeClr val="bg1"/>
                </a:solidFill>
              </a:rPr>
              <a:t>🧬</a:t>
            </a:r>
            <a:r>
              <a:rPr lang="en-US" b="1" noProof="0" dirty="0">
                <a:solidFill>
                  <a:schemeClr val="bg1"/>
                </a:solidFill>
              </a:rPr>
              <a:t>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65326-EE49-7022-E3D6-B65DE78162B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29255EC-7AE6-4A37-5EAB-DB600202E32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0DB8290-340E-62F7-B26E-772DE11BF8B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A3B1FF6-9840-F968-A6EB-9543DFA4CA78}"/>
              </a:ext>
            </a:extLst>
          </p:cNvPr>
          <p:cNvSpPr/>
          <p:nvPr/>
        </p:nvSpPr>
        <p:spPr>
          <a:xfrm>
            <a:off x="381000" y="1785462"/>
            <a:ext cx="2914742" cy="3929537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4BA37-570E-13D2-91E3-DF88CD85E64B}"/>
              </a:ext>
            </a:extLst>
          </p:cNvPr>
          <p:cNvSpPr txBox="1"/>
          <p:nvPr/>
        </p:nvSpPr>
        <p:spPr>
          <a:xfrm>
            <a:off x="247742" y="2995347"/>
            <a:ext cx="304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Weighted Sum Rewards</a:t>
            </a:r>
          </a:p>
        </p:txBody>
      </p:sp>
      <p:pic>
        <p:nvPicPr>
          <p:cNvPr id="20" name="Graphic 20" descr="Add with solid fill">
            <a:extLst>
              <a:ext uri="{FF2B5EF4-FFF2-40B4-BE49-F238E27FC236}">
                <a16:creationId xmlns:a16="http://schemas.microsoft.com/office/drawing/2014/main" id="{7995D15A-4EA3-0608-F277-6B3318411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25661" y="1958595"/>
            <a:ext cx="1016000" cy="1016000"/>
          </a:xfrm>
          <a:prstGeom prst="rect">
            <a:avLst/>
          </a:prstGeom>
        </p:spPr>
      </p:pic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37A12FA-40EA-C918-2314-B6E0CC6E04ED}"/>
              </a:ext>
            </a:extLst>
          </p:cNvPr>
          <p:cNvSpPr/>
          <p:nvPr/>
        </p:nvSpPr>
        <p:spPr>
          <a:xfrm>
            <a:off x="3948366" y="1785462"/>
            <a:ext cx="2914742" cy="3929537"/>
          </a:xfrm>
          <a:prstGeom prst="roundRect">
            <a:avLst/>
          </a:prstGeom>
          <a:solidFill>
            <a:srgbClr val="FFFCF0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41C379-CAE5-5DAA-75FC-7CE69DF6C7BA}"/>
              </a:ext>
            </a:extLst>
          </p:cNvPr>
          <p:cNvSpPr txBox="1"/>
          <p:nvPr/>
        </p:nvSpPr>
        <p:spPr>
          <a:xfrm>
            <a:off x="3815108" y="2995347"/>
            <a:ext cx="304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Alternating</a:t>
            </a:r>
          </a:p>
          <a:p>
            <a:pPr algn="ctr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Rewards</a:t>
            </a:r>
          </a:p>
        </p:txBody>
      </p:sp>
      <p:pic>
        <p:nvPicPr>
          <p:cNvPr id="24" name="Graphic 20" descr="Repeat with solid fill">
            <a:extLst>
              <a:ext uri="{FF2B5EF4-FFF2-40B4-BE49-F238E27FC236}">
                <a16:creationId xmlns:a16="http://schemas.microsoft.com/office/drawing/2014/main" id="{836F4F35-3118-A176-24E6-B0A0DD2F9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893027" y="1958595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132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3BDFB-8408-41BE-2F73-F8CB59E9D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E7E6186-60DC-272C-8425-396DEF484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472" y="870060"/>
            <a:ext cx="8623055" cy="5111709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778F78AD-4E52-17F2-DC0F-590A0C2DCD7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46737C0-1950-7E03-AAB5-6881C40A0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120A14-3D86-1664-9335-F365AA49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7D2089-FFD6-59EE-A3CD-D47541D4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27753"/>
            <a:ext cx="4737652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Problem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3370DC-F71B-6BD2-6B7D-06A365A5A2B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BB606DAA-09BC-3C2F-21DF-98643FFCEAA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04423CC-4DDD-15A9-23AE-DCC579A059A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30" name="Rectangle: Top Corners Rounded 29">
            <a:extLst>
              <a:ext uri="{FF2B5EF4-FFF2-40B4-BE49-F238E27FC236}">
                <a16:creationId xmlns:a16="http://schemas.microsoft.com/office/drawing/2014/main" id="{8E6FE619-0CAD-0A76-60D8-91BB9F726720}"/>
              </a:ext>
            </a:extLst>
          </p:cNvPr>
          <p:cNvSpPr/>
          <p:nvPr/>
        </p:nvSpPr>
        <p:spPr>
          <a:xfrm rot="10800000">
            <a:off x="-2" y="-3"/>
            <a:ext cx="333103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59A94517-D090-E433-E306-B9E1114CB856}"/>
              </a:ext>
            </a:extLst>
          </p:cNvPr>
          <p:cNvSpPr txBox="1">
            <a:spLocks/>
          </p:cNvSpPr>
          <p:nvPr/>
        </p:nvSpPr>
        <p:spPr>
          <a:xfrm>
            <a:off x="77723" y="-227754"/>
            <a:ext cx="473765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Problem</a:t>
            </a:r>
          </a:p>
        </p:txBody>
      </p:sp>
    </p:spTree>
    <p:extLst>
      <p:ext uri="{BB962C8B-B14F-4D97-AF65-F5344CB8AC3E}">
        <p14:creationId xmlns:p14="http://schemas.microsoft.com/office/powerpoint/2010/main" val="2149486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7A3F-AFCC-FF98-E728-E4518D14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BCD1B848-66B9-508E-4BA8-9707BC378A8B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8C9AAB7-A978-09A3-5601-877108121D2B}"/>
              </a:ext>
            </a:extLst>
          </p:cNvPr>
          <p:cNvSpPr/>
          <p:nvPr/>
        </p:nvSpPr>
        <p:spPr>
          <a:xfrm rot="10800000">
            <a:off x="-6" y="-8"/>
            <a:ext cx="337457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49D2F8-B8F2-E60D-F42F-F7596B7CDF0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6D05117-CBED-EC9F-149E-94800E47A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0C48F-05D5-781A-BCD6-8140C038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8C30D6-16F6-0DE0-B7AF-886CAF9B88F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7F1FB53-0F36-7428-7C55-C92F17432E5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1190488-9B99-FF08-EB92-4648FCA7C4F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08D33B-FD36-E32F-F312-EFB31742A2D1}"/>
              </a:ext>
            </a:extLst>
          </p:cNvPr>
          <p:cNvSpPr txBox="1">
            <a:spLocks/>
          </p:cNvSpPr>
          <p:nvPr/>
        </p:nvSpPr>
        <p:spPr>
          <a:xfrm>
            <a:off x="139148" y="-227752"/>
            <a:ext cx="50391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DEA5CD-37E7-34FE-EAFE-C6E0A0C430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599655-5FB5-9E20-DCD5-39BEBBC480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9063F4-B1C2-96B4-5FE2-E5DCBDDBA9B8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EF57FCC-AF59-76BA-506D-C25DBEFF4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E2E45A-BCF1-0C50-1736-232343697A55}"/>
              </a:ext>
            </a:extLst>
          </p:cNvPr>
          <p:cNvSpPr txBox="1"/>
          <p:nvPr/>
        </p:nvSpPr>
        <p:spPr>
          <a:xfrm>
            <a:off x="3798324" y="204189"/>
            <a:ext cx="8018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818730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8" y="-11"/>
            <a:ext cx="244655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139148" y="-227752"/>
            <a:ext cx="50391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chemeClr val="bg1"/>
                </a:solidFill>
              </a:rPr>
              <a:t>The Idea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3798324" y="204189"/>
            <a:ext cx="80185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decision-making processes”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1A3C95-F086-4B64-89C2-5BB88C1ADBC6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BA604F-1545-422A-A9EB-02A68385E805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Motivation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B1B2FB-6531-48CF-824B-9F5756AD0729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"Deep RL works, but we don't know why."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3F47F3-7B52-4338-9C6A-A59A892E5CD2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04AC8C-E05E-44A2-BEFB-D2D36BBF7EFE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42CD6E-2C0F-4411-91A2-9DA887E96F13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5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848EFE-41C4-475F-B7E6-9F53CBECB12F}"/>
              </a:ext>
            </a:extLst>
          </p:cNvPr>
          <p:cNvSpPr/>
          <p:nvPr/>
        </p:nvSpPr>
        <p:spPr>
          <a:xfrm>
            <a:off x="50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842A88-E36C-4BFF-B8A7-DFE333498753}"/>
              </a:ext>
            </a:extLst>
          </p:cNvPr>
          <p:cNvSpPr txBox="1"/>
          <p:nvPr/>
        </p:nvSpPr>
        <p:spPr>
          <a:xfrm>
            <a:off x="76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Black Box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ADB48-526E-4427-BA72-344B586B64D5}"/>
              </a:ext>
            </a:extLst>
          </p:cNvPr>
          <p:cNvSpPr txBox="1"/>
          <p:nvPr/>
        </p:nvSpPr>
        <p:spPr>
          <a:xfrm>
            <a:off x="76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Deep RL agents make decisions through millions of weights — opaque to humans.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2C8BC1-F294-4731-B646-9FA3051B134B}"/>
              </a:ext>
            </a:extLst>
          </p:cNvPr>
          <p:cNvSpPr/>
          <p:nvPr/>
        </p:nvSpPr>
        <p:spPr>
          <a:xfrm>
            <a:off x="431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23BDAE-9B63-4B7E-B3C1-95C35029EE78}"/>
              </a:ext>
            </a:extLst>
          </p:cNvPr>
          <p:cNvSpPr/>
          <p:nvPr/>
        </p:nvSpPr>
        <p:spPr>
          <a:xfrm>
            <a:off x="4318000" y="1651000"/>
            <a:ext cx="3556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CC7463-C812-4F3C-ACA3-7DB1CF0A865E}"/>
              </a:ext>
            </a:extLst>
          </p:cNvPr>
          <p:cNvSpPr txBox="1"/>
          <p:nvPr/>
        </p:nvSpPr>
        <p:spPr>
          <a:xfrm>
            <a:off x="457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Safety at Stake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C9865E-95FF-4EBF-9E67-9CF43A31DEDE}"/>
              </a:ext>
            </a:extLst>
          </p:cNvPr>
          <p:cNvSpPr txBox="1"/>
          <p:nvPr/>
        </p:nvSpPr>
        <p:spPr>
          <a:xfrm>
            <a:off x="457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Interpretability is required before deploying RL in safety-critical domains.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21DC72B-EA87-44A5-AF59-AE524C832EBD}"/>
              </a:ext>
            </a:extLst>
          </p:cNvPr>
          <p:cNvSpPr/>
          <p:nvPr/>
        </p:nvSpPr>
        <p:spPr>
          <a:xfrm>
            <a:off x="8128000" y="1651000"/>
            <a:ext cx="3556000" cy="4064000"/>
          </a:xfrm>
          <a:prstGeom prst="roundRect">
            <a:avLst/>
          </a:prstGeom>
          <a:solidFill>
            <a:srgbClr val="F2F0EA"/>
          </a:solidFill>
          <a:ln w="127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4CDBC7-EB8A-47BC-8FD0-CE93DDBA954D}"/>
              </a:ext>
            </a:extLst>
          </p:cNvPr>
          <p:cNvSpPr/>
          <p:nvPr/>
        </p:nvSpPr>
        <p:spPr>
          <a:xfrm>
            <a:off x="8128000" y="1651000"/>
            <a:ext cx="3556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62A66B-F65A-4A3D-90F2-E457FA437E95}"/>
              </a:ext>
            </a:extLst>
          </p:cNvPr>
          <p:cNvSpPr txBox="1"/>
          <p:nvPr/>
        </p:nvSpPr>
        <p:spPr>
          <a:xfrm>
            <a:off x="8382000" y="3048000"/>
            <a:ext cx="304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Limited Explanations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CD2FF7-6BBF-44F7-A23D-C368C799206B}"/>
              </a:ext>
            </a:extLst>
          </p:cNvPr>
          <p:cNvSpPr txBox="1"/>
          <p:nvPr/>
        </p:nvSpPr>
        <p:spPr>
          <a:xfrm>
            <a:off x="8382000" y="3683000"/>
            <a:ext cx="3048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</p:txBody>
      </p:sp>
      <p:pic>
        <p:nvPicPr>
          <p:cNvPr id="20" name="Graphic 20" descr="Brai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78000" y="1968500"/>
            <a:ext cx="1016000" cy="1016000"/>
          </a:xfrm>
          <a:prstGeom prst="rect">
            <a:avLst/>
          </a:prstGeom>
        </p:spPr>
      </p:pic>
      <p:pic>
        <p:nvPicPr>
          <p:cNvPr id="21" name="Graphic 21" descr="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8000" y="1968500"/>
            <a:ext cx="1016000" cy="1016000"/>
          </a:xfrm>
          <a:prstGeom prst="rect">
            <a:avLst/>
          </a:prstGeom>
        </p:spPr>
      </p:pic>
      <p:pic>
        <p:nvPicPr>
          <p:cNvPr id="22" name="Graphic 22" descr="Question ma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8000" y="1968500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0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CAE664-DB31-40BA-85B8-8646608FD497}"/>
              </a:ext>
            </a:extLst>
          </p:cNvPr>
          <p:cNvSpPr/>
          <p:nvPr/>
        </p:nvSpPr>
        <p:spPr>
          <a:xfrm>
            <a:off x="0" y="0"/>
            <a:ext cx="5334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43F5F-8EF3-4865-84BB-A419028AF42F}"/>
              </a:ext>
            </a:extLst>
          </p:cNvPr>
          <p:cNvSpPr txBox="1"/>
          <p:nvPr/>
        </p:nvSpPr>
        <p:spPr>
          <a:xfrm>
            <a:off x="203200" y="101600"/>
            <a:ext cx="5080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The SSINet Framework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0A3BAF-4D06-4C50-870D-69474A00B26F}"/>
              </a:ext>
            </a:extLst>
          </p:cNvPr>
          <p:cNvSpPr txBox="1"/>
          <p:nvPr/>
        </p:nvSpPr>
        <p:spPr>
          <a:xfrm>
            <a:off x="5588000" y="2794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Self-Supervised Interpretable Network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EE13858-9D75-4439-B241-A13130CFEDFA}"/>
              </a:ext>
            </a:extLst>
          </p:cNvPr>
          <p:cNvSpPr/>
          <p:nvPr/>
        </p:nvSpPr>
        <p:spPr>
          <a:xfrm>
            <a:off x="508000" y="1397000"/>
            <a:ext cx="1143000" cy="1016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State
sₜ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D6250D-45C7-4E77-B222-32CDD19DE640}"/>
              </a:ext>
            </a:extLst>
          </p:cNvPr>
          <p:cNvSpPr/>
          <p:nvPr/>
        </p:nvSpPr>
        <p:spPr>
          <a:xfrm>
            <a:off x="2159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Encoder
fₑ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F0068D-6965-41C4-AA5C-3E14CCEB005D}"/>
              </a:ext>
            </a:extLst>
          </p:cNvPr>
          <p:cNvSpPr/>
          <p:nvPr/>
        </p:nvSpPr>
        <p:spPr>
          <a:xfrm>
            <a:off x="3810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Decoder
f_d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BB7657-9250-4D21-9421-47CB43F81CAD}"/>
              </a:ext>
            </a:extLst>
          </p:cNvPr>
          <p:cNvSpPr/>
          <p:nvPr/>
        </p:nvSpPr>
        <p:spPr>
          <a:xfrm>
            <a:off x="5461000" y="1397000"/>
            <a:ext cx="1143000" cy="1016000"/>
          </a:xfrm>
          <a:prstGeom prst="roundRect">
            <a:avLst/>
          </a:prstGeom>
          <a:solidFill>
            <a:srgbClr val="C9A227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Mask
f_exp(sₜ)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F955FE-0AD1-4095-ADC9-D00C1F3F7835}"/>
              </a:ext>
            </a:extLst>
          </p:cNvPr>
          <p:cNvSpPr/>
          <p:nvPr/>
        </p:nvSpPr>
        <p:spPr>
          <a:xfrm>
            <a:off x="7112000" y="1397000"/>
            <a:ext cx="1397000" cy="1016000"/>
          </a:xfrm>
          <a:prstGeom prst="roundRect">
            <a:avLst/>
          </a:prstGeom>
          <a:solidFill>
            <a:srgbClr val="D5E5E8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Masked state
sₜ ⊙ mask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F64EEED-4301-40BE-A046-FD99231E1A76}"/>
              </a:ext>
            </a:extLst>
          </p:cNvPr>
          <p:cNvSpPr/>
          <p:nvPr/>
        </p:nvSpPr>
        <p:spPr>
          <a:xfrm>
            <a:off x="8890000" y="1397000"/>
            <a:ext cx="1143000" cy="1016000"/>
          </a:xfrm>
          <a:prstGeom prst="roundRect">
            <a:avLst/>
          </a:prstGeom>
          <a:solidFill>
            <a:srgbClr val="005866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IBM Plex Sans"/>
              </a:rPr>
              <a:t>Actor
fₐ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E6B3C2-C71B-4377-892F-6BED2D46E437}"/>
              </a:ext>
            </a:extLst>
          </p:cNvPr>
          <p:cNvSpPr/>
          <p:nvPr/>
        </p:nvSpPr>
        <p:spPr>
          <a:xfrm>
            <a:off x="10541000" y="1397000"/>
            <a:ext cx="1143000" cy="1016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300" b="1" dirty="0">
                <a:solidFill>
                  <a:srgbClr val="161616"/>
                </a:solidFill>
                <a:latin typeface="IBM Plex Sans"/>
              </a:rPr>
              <a:t>Action
aₜ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F6FA8ED-0D2B-4017-89BA-116FC2FC3A70}"/>
              </a:ext>
            </a:extLst>
          </p:cNvPr>
          <p:cNvSpPr/>
          <p:nvPr/>
        </p:nvSpPr>
        <p:spPr>
          <a:xfrm>
            <a:off x="1663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782AFE9-03C9-4BCE-ABDB-213E57BB6033}"/>
              </a:ext>
            </a:extLst>
          </p:cNvPr>
          <p:cNvSpPr/>
          <p:nvPr/>
        </p:nvSpPr>
        <p:spPr>
          <a:xfrm>
            <a:off x="3314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11A83687-D82D-481E-8836-ED00401D0277}"/>
              </a:ext>
            </a:extLst>
          </p:cNvPr>
          <p:cNvSpPr/>
          <p:nvPr/>
        </p:nvSpPr>
        <p:spPr>
          <a:xfrm>
            <a:off x="4965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72A3A5C-8B45-4359-BC77-25C3BE4E44FE}"/>
              </a:ext>
            </a:extLst>
          </p:cNvPr>
          <p:cNvSpPr/>
          <p:nvPr/>
        </p:nvSpPr>
        <p:spPr>
          <a:xfrm>
            <a:off x="6616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C0087968-4CAF-4001-98E1-4A17C9739224}"/>
              </a:ext>
            </a:extLst>
          </p:cNvPr>
          <p:cNvSpPr/>
          <p:nvPr/>
        </p:nvSpPr>
        <p:spPr>
          <a:xfrm>
            <a:off x="8521700" y="1778000"/>
            <a:ext cx="355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7A4E20A-9BEC-4304-8EAB-B31DD9CFCE10}"/>
              </a:ext>
            </a:extLst>
          </p:cNvPr>
          <p:cNvSpPr/>
          <p:nvPr/>
        </p:nvSpPr>
        <p:spPr>
          <a:xfrm>
            <a:off x="10045700" y="1778000"/>
            <a:ext cx="482600" cy="254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22AA0E-F34C-47C6-8AED-E4E5A83F15F0}"/>
              </a:ext>
            </a:extLst>
          </p:cNvPr>
          <p:cNvSpPr txBox="1"/>
          <p:nvPr/>
        </p:nvSpPr>
        <p:spPr>
          <a:xfrm>
            <a:off x="508000" y="10795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 dirty="0">
                <a:solidFill>
                  <a:srgbClr val="005866"/>
                </a:solidFill>
                <a:latin typeface="IBM Plex Sans"/>
              </a:rPr>
              <a:t>SSINet: encoder + decoder produces a fine-grained attention mask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C3539F4-E7EE-4915-B600-322EE36C77C7}"/>
              </a:ext>
            </a:extLst>
          </p:cNvPr>
          <p:cNvSpPr/>
          <p:nvPr/>
        </p:nvSpPr>
        <p:spPr>
          <a:xfrm>
            <a:off x="508000" y="2921000"/>
            <a:ext cx="5461000" cy="2921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09C33F-E4B3-44E7-8073-C28662634859}"/>
              </a:ext>
            </a:extLst>
          </p:cNvPr>
          <p:cNvSpPr/>
          <p:nvPr/>
        </p:nvSpPr>
        <p:spPr>
          <a:xfrm>
            <a:off x="508000" y="29210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5F7D1-FF68-4764-A582-990E3355973C}"/>
              </a:ext>
            </a:extLst>
          </p:cNvPr>
          <p:cNvSpPr txBox="1"/>
          <p:nvPr/>
        </p:nvSpPr>
        <p:spPr>
          <a:xfrm>
            <a:off x="762000" y="3175000"/>
            <a:ext cx="495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05866"/>
                </a:solidFill>
                <a:latin typeface="IBM Plex Sans"/>
              </a:rPr>
              <a:t>Property 1 — Maximum Behavior Resemblance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C6CA33-78DF-4399-AA8D-95A40EB4CDCB}"/>
              </a:ext>
            </a:extLst>
          </p:cNvPr>
          <p:cNvSpPr txBox="1"/>
          <p:nvPr/>
        </p:nvSpPr>
        <p:spPr>
          <a:xfrm>
            <a:off x="762000" y="4064000"/>
            <a:ext cx="4953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The masked state must yield (almost) the same action as the original state:  πₑ(sₜ ⊙ mask) ≈ πₑ(sₜ).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F825728-B8EE-4D78-8D8C-52B1DF288D70}"/>
              </a:ext>
            </a:extLst>
          </p:cNvPr>
          <p:cNvSpPr/>
          <p:nvPr/>
        </p:nvSpPr>
        <p:spPr>
          <a:xfrm>
            <a:off x="6223000" y="2921000"/>
            <a:ext cx="5461000" cy="2921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6483D2E-6B57-457D-9110-8F456D0B7992}"/>
              </a:ext>
            </a:extLst>
          </p:cNvPr>
          <p:cNvSpPr/>
          <p:nvPr/>
        </p:nvSpPr>
        <p:spPr>
          <a:xfrm>
            <a:off x="6223000" y="29210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2DB101-6A6D-4848-A678-D0AF884DB37E}"/>
              </a:ext>
            </a:extLst>
          </p:cNvPr>
          <p:cNvSpPr txBox="1"/>
          <p:nvPr/>
        </p:nvSpPr>
        <p:spPr>
          <a:xfrm>
            <a:off x="6477000" y="3175000"/>
            <a:ext cx="4953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05866"/>
                </a:solidFill>
                <a:latin typeface="IBM Plex Sans"/>
              </a:rPr>
              <a:t>Property 2 — Minimum Region Retaining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0D9CD5-DA64-40A3-96C5-B7FD05102A4D}"/>
              </a:ext>
            </a:extLst>
          </p:cNvPr>
          <p:cNvSpPr txBox="1"/>
          <p:nvPr/>
        </p:nvSpPr>
        <p:spPr>
          <a:xfrm>
            <a:off x="6477000" y="4064000"/>
            <a:ext cx="4953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The mask should retain as little of the image as possible — enforced via L1 regularization: min ||f_exp(sₜ)||₁.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30D7FA-C4C0-40EE-A503-45BFBF07E635}"/>
              </a:ext>
            </a:extLst>
          </p:cNvPr>
          <p:cNvSpPr/>
          <p:nvPr/>
        </p:nvSpPr>
        <p:spPr>
          <a:xfrm>
            <a:off x="0" y="0"/>
            <a:ext cx="5461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E10B1-3FD3-4128-AB90-85C120396122}"/>
              </a:ext>
            </a:extLst>
          </p:cNvPr>
          <p:cNvSpPr txBox="1"/>
          <p:nvPr/>
        </p:nvSpPr>
        <p:spPr>
          <a:xfrm>
            <a:off x="203200" y="101600"/>
            <a:ext cx="5207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Two-Stage 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691B6-FA61-435C-8DED-3B68B864FD79}"/>
              </a:ext>
            </a:extLst>
          </p:cNvPr>
          <p:cNvSpPr txBox="1"/>
          <p:nvPr/>
        </p:nvSpPr>
        <p:spPr>
          <a:xfrm>
            <a:off x="5715000" y="2794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Completely label-free, self-supervised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356592F-778B-4AA8-9B11-84F3A79C15D4}"/>
              </a:ext>
            </a:extLst>
          </p:cNvPr>
          <p:cNvSpPr/>
          <p:nvPr/>
        </p:nvSpPr>
        <p:spPr>
          <a:xfrm>
            <a:off x="508000" y="1397000"/>
            <a:ext cx="5461000" cy="44450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486835E-5DFC-400B-8498-98BE1DD29018}"/>
              </a:ext>
            </a:extLst>
          </p:cNvPr>
          <p:cNvSpPr/>
          <p:nvPr/>
        </p:nvSpPr>
        <p:spPr>
          <a:xfrm>
            <a:off x="762000" y="1651000"/>
            <a:ext cx="711200" cy="711200"/>
          </a:xfrm>
          <a:prstGeom prst="ellipse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IBM Plex Sans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F088C-5F02-44B1-BBF0-0B5E2987D5A1}"/>
              </a:ext>
            </a:extLst>
          </p:cNvPr>
          <p:cNvSpPr txBox="1"/>
          <p:nvPr/>
        </p:nvSpPr>
        <p:spPr>
          <a:xfrm>
            <a:off x="1651000" y="1714500"/>
            <a:ext cx="406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Pretrain the RL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6F490A-80DF-427B-8A77-FABBA94FECFD}"/>
              </a:ext>
            </a:extLst>
          </p:cNvPr>
          <p:cNvSpPr txBox="1"/>
          <p:nvPr/>
        </p:nvSpPr>
        <p:spPr>
          <a:xfrm>
            <a:off x="889000" y="2667000"/>
            <a:ext cx="48260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•  Train actor (fₑ + fₐ) with standard RL
•  Obtain an expert policy πₑ
•  Roll it out to collect state–action pairs {(sᵢ, aᵢ)}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CBF726-C3C6-455A-82E6-357F53CD0598}"/>
              </a:ext>
            </a:extLst>
          </p:cNvPr>
          <p:cNvSpPr/>
          <p:nvPr/>
        </p:nvSpPr>
        <p:spPr>
          <a:xfrm>
            <a:off x="6223000" y="1397000"/>
            <a:ext cx="5461000" cy="44450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9FE8EAE-2AFC-494A-8309-D6BA8779D753}"/>
              </a:ext>
            </a:extLst>
          </p:cNvPr>
          <p:cNvSpPr/>
          <p:nvPr/>
        </p:nvSpPr>
        <p:spPr>
          <a:xfrm>
            <a:off x="6477000" y="1651000"/>
            <a:ext cx="711200" cy="711200"/>
          </a:xfrm>
          <a:prstGeom prst="ellipse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IBM Plex Sans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84BC42-C2A7-4CC0-802F-DB994DDC06FA}"/>
              </a:ext>
            </a:extLst>
          </p:cNvPr>
          <p:cNvSpPr txBox="1"/>
          <p:nvPr/>
        </p:nvSpPr>
        <p:spPr>
          <a:xfrm>
            <a:off x="7366000" y="1714500"/>
            <a:ext cx="406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Train SSINet (decoder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4394A-6A15-49C9-A58D-95FC1FBA66CD}"/>
              </a:ext>
            </a:extLst>
          </p:cNvPr>
          <p:cNvSpPr txBox="1"/>
          <p:nvPr/>
        </p:nvSpPr>
        <p:spPr>
          <a:xfrm>
            <a:off x="6604000" y="2667000"/>
            <a:ext cx="4826000" cy="292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61616"/>
                </a:solidFill>
                <a:latin typeface="IBM Plex Sans"/>
              </a:rPr>
              <a:t>•  Reuse fₑ from the agent — freeze fₑ and fₐ
•  Train only the decoder f_d
•  Loss: behavior matching + α · ||mask||₁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BEBDDBF-6659-431C-A228-D7C701E9756F}"/>
              </a:ext>
            </a:extLst>
          </p:cNvPr>
          <p:cNvSpPr/>
          <p:nvPr/>
        </p:nvSpPr>
        <p:spPr>
          <a:xfrm>
            <a:off x="5994400" y="3429000"/>
            <a:ext cx="203200" cy="381000"/>
          </a:xfrm>
          <a:prstGeom prst="rightArrow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17999B-73A1-46F8-B371-6DC73C6BDB20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87A8FE-9A70-4636-93B4-E81449C64E43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D66E9C-5B7B-489D-A611-753BA6B9596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511895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F88103-0FDA-4EFA-9B26-436C1DBC1C22}"/>
              </a:ext>
            </a:extLst>
          </p:cNvPr>
          <p:cNvSpPr/>
          <p:nvPr/>
        </p:nvSpPr>
        <p:spPr>
          <a:xfrm>
            <a:off x="0" y="0"/>
            <a:ext cx="4572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C93DFD-E01A-486B-9F5E-9F0707F17D62}"/>
              </a:ext>
            </a:extLst>
          </p:cNvPr>
          <p:cNvSpPr txBox="1"/>
          <p:nvPr/>
        </p:nvSpPr>
        <p:spPr>
          <a:xfrm>
            <a:off x="203200" y="101600"/>
            <a:ext cx="4318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Key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86E402-8052-491A-8110-4A9DC6D4A920}"/>
              </a:ext>
            </a:extLst>
          </p:cNvPr>
          <p:cNvSpPr txBox="1"/>
          <p:nvPr/>
        </p:nvSpPr>
        <p:spPr>
          <a:xfrm>
            <a:off x="4826000" y="279400"/>
            <a:ext cx="711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Atari 2600 and Duckietown self-driving simulator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E4DE4F-327F-41CA-A183-5C407476ED99}"/>
              </a:ext>
            </a:extLst>
          </p:cNvPr>
          <p:cNvSpPr/>
          <p:nvPr/>
        </p:nvSpPr>
        <p:spPr>
          <a:xfrm>
            <a:off x="50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6C7BDF-3BA6-4E88-88E7-7C48ADE56932}"/>
              </a:ext>
            </a:extLst>
          </p:cNvPr>
          <p:cNvSpPr txBox="1"/>
          <p:nvPr/>
        </p:nvSpPr>
        <p:spPr>
          <a:xfrm>
            <a:off x="63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≈ expert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E19E7-CE6C-493F-9202-30F4E9C6BC97}"/>
              </a:ext>
            </a:extLst>
          </p:cNvPr>
          <p:cNvSpPr txBox="1"/>
          <p:nvPr/>
        </p:nvSpPr>
        <p:spPr>
          <a:xfrm>
            <a:off x="68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Mask policy matches expert policy return &amp; actions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9E1DB7-6206-40DC-83FF-BE0816BA40AE}"/>
              </a:ext>
            </a:extLst>
          </p:cNvPr>
          <p:cNvSpPr/>
          <p:nvPr/>
        </p:nvSpPr>
        <p:spPr>
          <a:xfrm>
            <a:off x="431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B365C0-1D98-4C91-A996-78A16A6387FB}"/>
              </a:ext>
            </a:extLst>
          </p:cNvPr>
          <p:cNvSpPr txBox="1"/>
          <p:nvPr/>
        </p:nvSpPr>
        <p:spPr>
          <a:xfrm>
            <a:off x="444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sharper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0B5A0-CD7E-49F6-8985-8BBD4C2A5F22}"/>
              </a:ext>
            </a:extLst>
          </p:cNvPr>
          <p:cNvSpPr txBox="1"/>
          <p:nvPr/>
        </p:nvSpPr>
        <p:spPr>
          <a:xfrm>
            <a:off x="449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Higher-resolution maps vs. Gradient &amp; Perturbation saliency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B85EB9-F223-4CC4-A548-7006A90BDB12}"/>
              </a:ext>
            </a:extLst>
          </p:cNvPr>
          <p:cNvSpPr/>
          <p:nvPr/>
        </p:nvSpPr>
        <p:spPr>
          <a:xfrm>
            <a:off x="8128000" y="1270000"/>
            <a:ext cx="3556000" cy="1651000"/>
          </a:xfrm>
          <a:prstGeom prst="round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26F72B-5729-46DC-B58F-255955BACBE0}"/>
              </a:ext>
            </a:extLst>
          </p:cNvPr>
          <p:cNvSpPr txBox="1"/>
          <p:nvPr/>
        </p:nvSpPr>
        <p:spPr>
          <a:xfrm>
            <a:off x="8255000" y="1397000"/>
            <a:ext cx="3302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C9A227"/>
                </a:solidFill>
                <a:latin typeface="IBM Plex Sans"/>
              </a:rPr>
              <a:t>10 maps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72B421-15B0-4627-A0C1-20B40F2BF3A0}"/>
              </a:ext>
            </a:extLst>
          </p:cNvPr>
          <p:cNvSpPr txBox="1"/>
          <p:nvPr/>
        </p:nvSpPr>
        <p:spPr>
          <a:xfrm>
            <a:off x="8305800" y="2095500"/>
            <a:ext cx="32004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Duckietown: empty, zigzag, corner, U-turn, S-turn + city variants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5D1D38-0A72-4F70-A930-E60AD07AA8D3}"/>
              </a:ext>
            </a:extLst>
          </p:cNvPr>
          <p:cNvSpPr/>
          <p:nvPr/>
        </p:nvSpPr>
        <p:spPr>
          <a:xfrm>
            <a:off x="508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6ADF4C-BDFE-48D8-ADAA-77A9C2903D84}"/>
              </a:ext>
            </a:extLst>
          </p:cNvPr>
          <p:cNvSpPr/>
          <p:nvPr/>
        </p:nvSpPr>
        <p:spPr>
          <a:xfrm>
            <a:off x="508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22D1F-FC9A-457D-8116-AD1785E74C0C}"/>
              </a:ext>
            </a:extLst>
          </p:cNvPr>
          <p:cNvSpPr txBox="1"/>
          <p:nvPr/>
        </p:nvSpPr>
        <p:spPr>
          <a:xfrm>
            <a:off x="762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What the mask learns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64CCF-A803-4108-BE5A-9861E5521959}"/>
              </a:ext>
            </a:extLst>
          </p:cNvPr>
          <p:cNvSpPr txBox="1"/>
          <p:nvPr/>
        </p:nvSpPr>
        <p:spPr>
          <a:xfrm>
            <a:off x="762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Lane-following: white edge &amp; yellow dashed lines
• Tennis: players, net, ball
• Attention is tight and task-relevant — matches human gaze patterns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9E79052-551A-4FB7-A6DE-8E37AFF1E8D6}"/>
              </a:ext>
            </a:extLst>
          </p:cNvPr>
          <p:cNvSpPr/>
          <p:nvPr/>
        </p:nvSpPr>
        <p:spPr>
          <a:xfrm>
            <a:off x="6223000" y="3238500"/>
            <a:ext cx="5461000" cy="26670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2637C3-417D-43FA-8C8F-66404F9C66FD}"/>
              </a:ext>
            </a:extLst>
          </p:cNvPr>
          <p:cNvSpPr/>
          <p:nvPr/>
        </p:nvSpPr>
        <p:spPr>
          <a:xfrm>
            <a:off x="6223000" y="3238500"/>
            <a:ext cx="5461000" cy="76200"/>
          </a:xfrm>
          <a:prstGeom prst="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773F82-78D0-45C1-87EE-186BD2F4407B}"/>
              </a:ext>
            </a:extLst>
          </p:cNvPr>
          <p:cNvSpPr txBox="1"/>
          <p:nvPr/>
        </p:nvSpPr>
        <p:spPr>
          <a:xfrm>
            <a:off x="6477000" y="3429000"/>
            <a:ext cx="4953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05866"/>
                </a:solidFill>
                <a:latin typeface="IBM Plex Sans"/>
              </a:rPr>
              <a:t>vs. prior saliency methods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8065D1-8863-4F9D-A5E4-ECBFE5CD4DF0}"/>
              </a:ext>
            </a:extLst>
          </p:cNvPr>
          <p:cNvSpPr txBox="1"/>
          <p:nvPr/>
        </p:nvSpPr>
        <p:spPr>
          <a:xfrm>
            <a:off x="6477000" y="4000500"/>
            <a:ext cx="4953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dirty="0">
                <a:solidFill>
                  <a:srgbClr val="161616"/>
                </a:solidFill>
                <a:latin typeface="IBM Plex Sans"/>
              </a:rPr>
              <a:t>• Higher-resolution, sharper maps than Gradient-Saliency [18]
• Better than Perturbation-Saliency [21] (Gaussian blur)
• Masked-pixel policies preserve return; others degrade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0BEEE-9F89-4894-823A-58132AEDF4A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6A355F-78E0-444F-9CD5-7F012B7DCEF4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8EABC9-C2E7-4B8E-B16B-99700DA6C0F7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74445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FE7A8B-B4C0-4F2E-87F3-82A35F0DF113}"/>
              </a:ext>
            </a:extLst>
          </p:cNvPr>
          <p:cNvSpPr/>
          <p:nvPr/>
        </p:nvSpPr>
        <p:spPr>
          <a:xfrm>
            <a:off x="0" y="0"/>
            <a:ext cx="6096000" cy="876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7F355-5E19-4DA9-B304-455907EF0299}"/>
              </a:ext>
            </a:extLst>
          </p:cNvPr>
          <p:cNvSpPr txBox="1"/>
          <p:nvPr/>
        </p:nvSpPr>
        <p:spPr>
          <a:xfrm>
            <a:off x="203200" y="101600"/>
            <a:ext cx="58420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IBM Plex Sans"/>
              </a:rPr>
              <a:t>Measuring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0ABE9-1AE7-420A-8C7A-020A1E7F2C0F}"/>
              </a:ext>
            </a:extLst>
          </p:cNvPr>
          <p:cNvSpPr txBox="1"/>
          <p:nvPr/>
        </p:nvSpPr>
        <p:spPr>
          <a:xfrm>
            <a:off x="6350000" y="279400"/>
            <a:ext cx="5715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i="1" dirty="0">
                <a:solidFill>
                  <a:srgbClr val="161616"/>
                </a:solidFill>
                <a:latin typeface="IBM Plex Sans"/>
              </a:rPr>
              <a:t>Quantitative metrics + practical takeaways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13D9FA-2AF3-458F-A8BC-D9E1E7F97C69}"/>
              </a:ext>
            </a:extLst>
          </p:cNvPr>
          <p:cNvSpPr/>
          <p:nvPr/>
        </p:nvSpPr>
        <p:spPr>
          <a:xfrm>
            <a:off x="508000" y="1270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1AF69-524F-4553-A806-1219D5623EE9}"/>
              </a:ext>
            </a:extLst>
          </p:cNvPr>
          <p:cNvSpPr/>
          <p:nvPr/>
        </p:nvSpPr>
        <p:spPr>
          <a:xfrm>
            <a:off x="698500" y="1498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FOR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74EDC-5DDA-4D23-A584-CAC090A85993}"/>
              </a:ext>
            </a:extLst>
          </p:cNvPr>
          <p:cNvSpPr txBox="1"/>
          <p:nvPr/>
        </p:nvSpPr>
        <p:spPr>
          <a:xfrm>
            <a:off x="2032000" y="1473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Feature Overlapping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1A9312-309F-4CD3-8CF4-8DC2BF7FA5DA}"/>
              </a:ext>
            </a:extLst>
          </p:cNvPr>
          <p:cNvSpPr txBox="1"/>
          <p:nvPr/>
        </p:nvSpPr>
        <p:spPr>
          <a:xfrm>
            <a:off x="2032000" y="1854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Overlap between true mask area and learned mask.
Did the agent look at the right things?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95D3F9-471C-41BD-9919-B0FF67EE8678}"/>
              </a:ext>
            </a:extLst>
          </p:cNvPr>
          <p:cNvSpPr/>
          <p:nvPr/>
        </p:nvSpPr>
        <p:spPr>
          <a:xfrm>
            <a:off x="508000" y="3048000"/>
            <a:ext cx="5588000" cy="1587500"/>
          </a:xfrm>
          <a:prstGeom prst="roundRect">
            <a:avLst/>
          </a:prstGeom>
          <a:solidFill>
            <a:srgbClr val="F2F0EA"/>
          </a:solidFill>
          <a:ln w="15875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7FB84F-612D-4C5A-AA98-BE70CEB2381A}"/>
              </a:ext>
            </a:extLst>
          </p:cNvPr>
          <p:cNvSpPr/>
          <p:nvPr/>
        </p:nvSpPr>
        <p:spPr>
          <a:xfrm>
            <a:off x="698500" y="3276600"/>
            <a:ext cx="1117600" cy="11176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C9A227"/>
                </a:solidFill>
                <a:latin typeface="IBM Plex Sans"/>
              </a:rPr>
              <a:t>BER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9FD3EB-D25D-4875-8189-97EF1B507ADA}"/>
              </a:ext>
            </a:extLst>
          </p:cNvPr>
          <p:cNvSpPr txBox="1"/>
          <p:nvPr/>
        </p:nvSpPr>
        <p:spPr>
          <a:xfrm>
            <a:off x="2032000" y="32512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 dirty="0">
                <a:solidFill>
                  <a:srgbClr val="005866"/>
                </a:solidFill>
                <a:latin typeface="IBM Plex Sans"/>
              </a:rPr>
              <a:t>Background Elimination Rate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83C40-0AC1-4F9E-87D0-DDDD603BBB96}"/>
              </a:ext>
            </a:extLst>
          </p:cNvPr>
          <p:cNvSpPr txBox="1"/>
          <p:nvPr/>
        </p:nvSpPr>
        <p:spPr>
          <a:xfrm>
            <a:off x="2032000" y="3632200"/>
            <a:ext cx="3937000" cy="952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How well the mask suppresses irrelevant background.
Did the agent ignore the noise?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467CB2-A7A6-4C17-90B5-61522E1BB9BA}"/>
              </a:ext>
            </a:extLst>
          </p:cNvPr>
          <p:cNvSpPr/>
          <p:nvPr/>
        </p:nvSpPr>
        <p:spPr>
          <a:xfrm>
            <a:off x="508000" y="4826000"/>
            <a:ext cx="5588000" cy="1079500"/>
          </a:xfrm>
          <a:prstGeom prst="roundRect">
            <a:avLst/>
          </a:prstGeom>
          <a:solidFill>
            <a:srgbClr val="C9A22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22E8C1-0064-44B8-8EB3-508DBB92A11D}"/>
              </a:ext>
            </a:extLst>
          </p:cNvPr>
          <p:cNvSpPr txBox="1"/>
          <p:nvPr/>
        </p:nvSpPr>
        <p:spPr>
          <a:xfrm>
            <a:off x="698500" y="4953000"/>
            <a:ext cx="52070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 dirty="0">
                <a:solidFill>
                  <a:srgbClr val="161616"/>
                </a:solidFill>
                <a:latin typeface="IBM Plex Sans"/>
              </a:rPr>
              <a:t>FOR × BER strongly correlates with return.
Agent wins only when it looks right AND ignores the rest.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343D72-DBA3-4E63-8D13-1106CEACD305}"/>
              </a:ext>
            </a:extLst>
          </p:cNvPr>
          <p:cNvSpPr/>
          <p:nvPr/>
        </p:nvSpPr>
        <p:spPr>
          <a:xfrm>
            <a:off x="6350000" y="1270000"/>
            <a:ext cx="5334000" cy="4635500"/>
          </a:xfrm>
          <a:prstGeom prst="roundRect">
            <a:avLst/>
          </a:prstGeom>
          <a:solidFill>
            <a:srgbClr val="F2F0EA"/>
          </a:solidFill>
          <a:ln w="1905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B91028-4CED-47E2-9B96-A5017882C070}"/>
              </a:ext>
            </a:extLst>
          </p:cNvPr>
          <p:cNvSpPr/>
          <p:nvPr/>
        </p:nvSpPr>
        <p:spPr>
          <a:xfrm>
            <a:off x="6350000" y="1270000"/>
            <a:ext cx="5334000" cy="762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0A109F-0C65-4D53-B870-FFCBB7DC196B}"/>
              </a:ext>
            </a:extLst>
          </p:cNvPr>
          <p:cNvSpPr txBox="1"/>
          <p:nvPr/>
        </p:nvSpPr>
        <p:spPr>
          <a:xfrm>
            <a:off x="6604000" y="1498600"/>
            <a:ext cx="482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05866"/>
                </a:solidFill>
                <a:latin typeface="IBM Plex Sans"/>
              </a:rPr>
              <a:t>Takeaways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0D6EB2-1F36-4862-BBC3-37A9E4D44682}"/>
              </a:ext>
            </a:extLst>
          </p:cNvPr>
          <p:cNvSpPr txBox="1"/>
          <p:nvPr/>
        </p:nvSpPr>
        <p:spPr>
          <a:xfrm>
            <a:off x="6604000" y="2095500"/>
            <a:ext cx="4826000" cy="368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161616"/>
                </a:solidFill>
                <a:latin typeface="IBM Plex Sans"/>
              </a:rPr>
              <a:t>•  PPO &gt; SAC &gt; TD3 on lane-following — PPO ignores background better (higher BER)
•  Complex actor architectures don't guarantee better performance
•  Attention shift explains failure: agent drifts to background in novel scenes
•  Works on any vision-based RL model, no retraining of the agent
•  Points toward label-free self-supervised segmentation &amp; detection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B4518-BE54-4229-B485-74D1BE89739C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FE8CCE-A8CD-446C-ABE7-D2A28C153F92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69377D-2FC1-4026-AE6F-0DDEF86BFE02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FFFFF"/>
                </a:solidFill>
                <a:latin typeface="IBM Plex San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671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7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1007</Words>
  <Application>Microsoft Office PowerPoint</Application>
  <PresentationFormat>Widescreen</PresentationFormat>
  <Paragraphs>201</Paragraphs>
  <Slides>21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The Context</vt:lpstr>
      <vt:lpstr>The Context: MoleGuLAR 🧬</vt:lpstr>
      <vt:lpstr>🧬MoleGuLAR: The Pipeline </vt:lpstr>
      <vt:lpstr>🧬MoleGuLAR: 🙂 SMILES</vt:lpstr>
      <vt:lpstr>🧬MoleGuLAR: BA Estimation</vt:lpstr>
      <vt:lpstr>PowerPoint Presentation</vt:lpstr>
      <vt:lpstr>PowerPoint Presentation</vt:lpstr>
      <vt:lpstr>MoleGuLAR: 🎯 Desired Properties</vt:lpstr>
      <vt:lpstr>MoleGuLAR: 🏆Reward Functions</vt:lpstr>
      <vt:lpstr>🧬MoleGuLAR: The Pipeline </vt:lpstr>
      <vt:lpstr>🧬MoleGuLAR: Properties</vt:lpstr>
      <vt:lpstr>🧬MoleGuLAR: The Pipeline </vt:lpstr>
      <vt:lpstr>The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7</cp:revision>
  <dcterms:created xsi:type="dcterms:W3CDTF">2026-03-14T16:31:52Z</dcterms:created>
  <dcterms:modified xsi:type="dcterms:W3CDTF">2026-04-23T18:38:20Z</dcterms:modified>
</cp:coreProperties>
</file>