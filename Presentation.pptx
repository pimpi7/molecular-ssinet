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7" r:id="rId2"/>
    <p:sldId id="326" r:id="rId3"/>
    <p:sldId id="337" r:id="rId4"/>
    <p:sldId id="338" r:id="rId5"/>
    <p:sldId id="339" r:id="rId6"/>
    <p:sldId id="349" r:id="rId7"/>
    <p:sldId id="340" r:id="rId8"/>
    <p:sldId id="344" r:id="rId9"/>
    <p:sldId id="345" r:id="rId10"/>
    <p:sldId id="342" r:id="rId11"/>
    <p:sldId id="348" r:id="rId12"/>
    <p:sldId id="350" r:id="rId13"/>
    <p:sldId id="341" r:id="rId14"/>
    <p:sldId id="347" r:id="rId15"/>
    <p:sldId id="336" r:id="rId16"/>
    <p:sldId id="351" r:id="rId17"/>
    <p:sldId id="352" r:id="rId18"/>
    <p:sldId id="355" r:id="rId19"/>
    <p:sldId id="356" r:id="rId20"/>
    <p:sldId id="357" r:id="rId21"/>
    <p:sldId id="358" r:id="rId22"/>
    <p:sldId id="354" r:id="rId23"/>
    <p:sldId id="353" r:id="rId24"/>
    <p:sldId id="332" r:id="rId25"/>
    <p:sldId id="334" r:id="rId26"/>
    <p:sldId id="335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168A1"/>
    <a:srgbClr val="7C629D"/>
    <a:srgbClr val="D7E3BF"/>
    <a:srgbClr val="00CBE8"/>
    <a:srgbClr val="FF00FF"/>
    <a:srgbClr val="0000FF"/>
    <a:srgbClr val="FF9C67"/>
    <a:srgbClr val="88B5FF"/>
    <a:srgbClr val="00B476"/>
    <a:srgbClr val="468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8C04E0-E443-4414-A1E7-4090A8823F9A}" v="1195" dt="2026-03-19T08:21:17.8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78325" autoAdjust="0"/>
  </p:normalViewPr>
  <p:slideViewPr>
    <p:cSldViewPr snapToGrid="0">
      <p:cViewPr>
        <p:scale>
          <a:sx n="75" d="100"/>
          <a:sy n="75" d="100"/>
        </p:scale>
        <p:origin x="600" y="296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1A2EBF-38CC-41CC-8845-D52A43580C34}" type="datetimeFigureOut">
              <a:rPr lang="it-IT" smtClean="0"/>
              <a:t>27/04/2026</a:t>
            </a:fld>
            <a:endParaRPr lang="it-IT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F48A99-A7F1-49EB-916A-9E2AEC7B1174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90129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24857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904352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B70B8-C6A9-B93E-03B9-5CD7ED224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7EC58-EC39-4B99-7725-7FB507E0C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983A70-640D-4AAC-B263-DA7BFBADA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F5B46-EABD-9945-5DD2-DAF664BF3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81490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297F5-A1A0-F24B-7496-9C814E6CB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F417FE-8E87-F18F-6E5D-2866704873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BDBBF-8998-6568-DD4E-BC1FC5F80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FD459-2EA9-7EED-50E6-FF9044F66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9486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A3771-7D97-129C-A910-CFB47890F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C561D-F5CC-D47C-693B-E9EF79399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37C05-F180-AACE-93F4-37A6D48D3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54A9A-660B-6059-036E-EAE107B0C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0299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C1A6B-5141-D11B-9592-18ADB3D5E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98CFF5-1838-78D3-3E64-1A454075C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DCB2C-3123-39C9-2D3A-B0AB52C24B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Protease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C8693-0A3B-81C3-CFFC-ABFF27E27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19478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34C2F-6FBF-6688-2FF5-FBEE0AA17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3D4551-7F85-175E-AB59-AD002EC1D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0747C-2C65-D66C-2C99-54A5C6222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CCDD9-AC34-4410-14A5-4B5A12A88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551338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0EE4-D73B-0B5A-385C-3402EF8AD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658A1D-1EA3-B91F-EBD0-03ACD5AF7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C40A6F-2859-347C-9305-432160AD2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1D8806-275B-3F53-DE18-10EE6C077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15364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B9EE6-1C11-B396-E296-768082056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65B53F-112A-6B6F-77B8-637AE28FA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140B9D-28F2-FA55-1458-93CC82A81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6479E-B9FC-5A93-C5CF-31A3686B5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91852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4BCFF-8680-4429-B729-056A70C99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2D54AF-32B1-8869-9347-0644136D1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4B285D-1464-DE1E-5FC9-7879CD2B18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86CFA-FC29-F156-89F9-862C10C448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540704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DF863-A97E-4C6C-55BB-FC47525C1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FC3B7-DB5F-67B5-C92F-4DC4A5A1A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C8912-6918-1CE7-1DD5-AEFB04B63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0990F-EBAA-2E4E-1E0A-268164908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626933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5EEE3-6F79-DAA1-C84F-0E392D5C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C51721-257B-B61B-0BEF-183FB6CEC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A73C7-731B-97F6-0F86-8DFEA367A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66624E-D825-BE48-4F71-B2C3EB5A5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13106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A9B0E-E2D6-04E1-21B6-49FCFE70B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C1631A-0EBD-3D57-DBC5-7313C99D4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7F90F2-2660-60C5-3C2D-630EA2751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5096-5CCB-CD8E-566F-9B2DBC7D4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005576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ABB94-8CE7-B1F5-5E31-8E76FEB26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AFC27-34D7-9C58-B8A0-DFAE6008F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2EA091-2CC3-7D9A-36B5-3495839FF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set S containing all terminal states of length T is exponential in size and hence, needs to be approximated as a mathematical expectation.</a:t>
            </a:r>
            <a:br>
              <a:rPr lang="en-US" dirty="0"/>
            </a:br>
            <a:r>
              <a:rPr lang="en-US" dirty="0"/>
              <a:t>To maximize R(Θ) we need to calculate its gradient which can be done using the REINFORCE algorithm1 and the following differentiation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18244-E065-4C9B-1D75-12FA9301ED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759133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461498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BB664-D39F-2DCD-0EB5-0D52C5663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37C84F-FA31-3C67-A317-FBB4035A4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7B4F1-A53E-3CF7-164F-5FDFE66D9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AD02D4-4CF1-05FB-1219-156AE5C4FF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275275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138D5-3EB1-6321-6BB5-F578CD817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2332A-8BBC-3A65-57E3-5208AA414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F5CCD-B347-F6C6-A29E-EFC0E2F0CD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Fig. 1: Architecture diagram of our self-supervised interpretable framework, which includes two stages. In the first stage, we switch S to K1 and jointly pretrain the feature extractor </a:t>
            </a:r>
            <a:r>
              <a:rPr lang="en-US" dirty="0" err="1"/>
              <a:t>fe</a:t>
            </a:r>
            <a:r>
              <a:rPr lang="en-US" dirty="0"/>
              <a:t> and action predictor fa with RL. In the second stage, we switch S to K2 and train the decoder </a:t>
            </a:r>
            <a:r>
              <a:rPr lang="en-US" dirty="0" err="1"/>
              <a:t>fd</a:t>
            </a:r>
            <a:r>
              <a:rPr lang="en-US" dirty="0"/>
              <a:t> while freezing </a:t>
            </a:r>
            <a:r>
              <a:rPr lang="en-US" dirty="0" err="1"/>
              <a:t>fe</a:t>
            </a:r>
            <a:r>
              <a:rPr lang="en-US" dirty="0"/>
              <a:t> and fa. The encoder is shared from the feature extractor and also denoted by </a:t>
            </a:r>
            <a:r>
              <a:rPr lang="en-US" dirty="0" err="1"/>
              <a:t>fe</a:t>
            </a:r>
            <a:r>
              <a:rPr lang="en-US" dirty="0"/>
              <a:t>. NA is the dimension of action space.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77184-34CF-44C5-A923-A37B38805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698249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10B11-0DC8-FA69-307A-53639C62D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ED516-FDEF-4137-7487-62B22E5F87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93D51-2470-8E01-D0E4-6B06CB004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6390B-AE6F-EC14-348F-99DDC35DD8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951432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B93EE-924B-3D08-917A-B7C4AE05A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A98D4-223D-69BF-E336-F33D84CE4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6FD1D5-D3D6-E2F4-BCC1-08D8DD980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two components are trained end-to-end with PPO. The agent interacts with the environment, collects experience, and updates its weights to maximize cumulative reward. Nothing unusual here — this is just standard deep RL training.</a:t>
            </a:r>
          </a:p>
          <a:p>
            <a:r>
              <a:rPr lang="en-US" dirty="0"/>
              <a:t>Once the agent has converged to a good policy, it is called the </a:t>
            </a:r>
            <a:r>
              <a:rPr lang="en-US" b="1" dirty="0"/>
              <a:t>expert policy</a:t>
            </a:r>
            <a:r>
              <a:rPr lang="en-US" dirty="0"/>
              <a:t> </a:t>
            </a:r>
            <a:r>
              <a:rPr lang="en-US" i="1" dirty="0"/>
              <a:t>π_e</a:t>
            </a:r>
            <a:r>
              <a:rPr lang="en-US" dirty="0"/>
              <a:t>. It is then frozen and used to collect a dataset of M = 50,000 state-action pairs {(</a:t>
            </a:r>
            <a:r>
              <a:rPr lang="en-US" dirty="0" err="1"/>
              <a:t>s_i</a:t>
            </a:r>
            <a:r>
              <a:rPr lang="en-US" dirty="0"/>
              <a:t>, </a:t>
            </a:r>
            <a:r>
              <a:rPr lang="en-US" dirty="0" err="1"/>
              <a:t>a_i</a:t>
            </a:r>
            <a:r>
              <a:rPr lang="en-US" dirty="0"/>
              <a:t>)} by rolling it out in the environment. Each pair records a state the agent visited and the action it chose. This dataset is the only "supervision" that </a:t>
            </a:r>
            <a:r>
              <a:rPr lang="en-US" dirty="0" err="1"/>
              <a:t>SSINet</a:t>
            </a:r>
            <a:r>
              <a:rPr lang="en-US" dirty="0"/>
              <a:t> will ever receive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EB2BE-82C9-AE38-BD60-146D52C75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730914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AE900-2141-A695-7CEB-A427B78B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BEB831-3CE7-C7B5-54DB-0A3D56119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8D16DE-C0E0-5FA0-C07F-F61FFBBD6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A22C7-8377-7A74-B1BA-710A3C627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03863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0F609-7509-8C62-58A5-006FD3281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EF39D-785A-8606-8A82-424A37227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054764-1851-3AA3-7398-F06DAC796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E1A96-94BF-CD20-BE6A-68CF3AD2A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801503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B8208-ADC2-6C96-7C9E-F24ED5D4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499992-F7A5-874C-F88F-6E0DD1518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C8697F-2C25-11A2-78D5-E8D66CB28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C37DD-4608-0BFF-BD01-E1AF18788C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401506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9A419-2734-89C1-8AA2-476626354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CB11C8-897F-22FE-0902-A47590DA0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9F5AA-27FF-A1B4-BCAC-E945D3312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BBC5D9-1364-1B69-DFD7-A694EA173F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571776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52B08-9F6C-71A4-5B85-BA7C44AAE1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0F6593-2FE5-49A4-A8AF-D9A66B47A9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0B817-26AF-8551-9A66-5A2BE8E39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27/04/2026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A184F-393D-A3D6-91A4-D21D6DA98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772CE-3B3E-B840-29CC-362832F31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6569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F61-554B-3670-8F94-5F67857DC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C52A0-A955-8370-4502-FE9AC5201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9586-5C0F-3B13-13B6-A270B750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27/04/2026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52CA9-178D-52CD-1D00-178BC9B59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1A0FF-139B-34E5-254F-B5B8B73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00282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D1B2A-233B-DD33-FFEF-C2C29B719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54826-39E7-C553-96BA-9597BDCED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91A75-8043-4F5D-E30B-2E263F9F0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27/04/2026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9B4EE-7300-8123-AF28-70776CD5A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C833A-3596-5EAE-83FC-3A42C13E3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30289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81BC8-E38E-C0B4-6505-F8EC26018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E5231-EBD4-C163-92B9-3C3ACEA1A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2128A-EAF9-D63A-08DE-BA4131D77C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D09C4-EE65-0817-7C92-0839477B9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27/04/2026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F09FA5-F5DE-CB3A-FF96-4A5460C19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F25EE-CF1C-DD2F-B94C-D9D251DE4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7865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9D446-D90B-56C0-B64C-9C2620F16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3B750-B501-91C8-26D3-488FB27DC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57B9ED-0D08-CDB2-9AEF-D0D17BBEF7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A49DFE-8879-F391-5BE2-73B9F8069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8EEDBE-D6A1-E91C-E89F-5DC0F884F0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22FDFF-E57A-65E1-4793-645D439F4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27/04/2026</a:t>
            </a:fld>
            <a:endParaRPr lang="it-IT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16BD18-6E83-D075-8599-FD09375F1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8181B3-5F8E-B7D9-336E-0BA050766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026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EB832-C17F-60E5-4768-3B3D8CCC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44C360-F9FA-D06E-87B2-3008FB2C7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27/04/2026</a:t>
            </a:fld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E8777B-4A95-8A65-3F8A-6C5514E80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F40C7F-EFC8-EEF0-B0E0-CD1E046EA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48031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3CD271-363C-C1A8-4F54-DEDED611B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27/04/2026</a:t>
            </a:fld>
            <a:endParaRPr lang="it-I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0067F8-D129-9024-7E91-B86437CD9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F82DD-9D0E-2900-CCF6-F72AD7DEF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75207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F9D29-AB81-CCF6-EB13-DE42C0147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B07FB-5AD1-5AE6-223B-A828CF756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A95105-8804-2F82-F56F-E797B79F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0E4A3-8F5F-C28B-806E-1C9C13CE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27/04/2026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D491C4-ADA5-67D1-4474-F1846D75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5E41AD-642B-2A96-9DA6-123C2298E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1982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BABD5-7CE2-64B1-11D3-BC68A6CC1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6B961-BC20-78DE-F505-FFF1B248F3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42383-8C22-AFED-C9AA-148B2433A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C2DE09-D62C-D128-90C3-A3603DD18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27/04/2026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013750-52AE-8232-5189-61973CC36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15E511-E1FB-815E-3424-5019E71CA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27213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93430-A7EB-9BCB-ABEC-B56986423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B4E52-AD39-089A-F0C9-FA9CAEA00E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35A9B0-FC21-8010-7D69-301B9F1B9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27/04/2026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A87B3-2759-CB8F-6F44-3DC581094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E91CE-8400-37FD-EEC1-779823A9D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76163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3D5796-F381-DAA4-4FC3-44F1E30863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DD9AED-08AE-352A-146A-048AE0EC0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85D1B-9110-9B40-DA0A-F59679E79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27/04/2026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4A595-0638-9CAB-05FA-781A9E8C4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BE299-DBD2-D8EA-078B-EB4789D13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84090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ACD38E-E0DB-572D-3B7C-4066C649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A0F8E-55C5-903E-14D0-9F579E986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768C3-EA23-A642-618E-121D4BCA83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EF195-71D2-4E51-8F71-5848C8970B32}" type="datetimeFigureOut">
              <a:rPr lang="it-IT" smtClean="0"/>
              <a:t>27/04/2026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31453-765C-25D7-6817-10D1E90943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316CF-1027-0712-A5E5-6A8E9B6F9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50617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70.png"/><Relationship Id="rId4" Type="http://schemas.openxmlformats.org/officeDocument/2006/relationships/image" Target="../media/image16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8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microsoft.com/office/2007/relationships/hdphoto" Target="../media/hdphoto1.wdp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image" Target="../media/image4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.png"/><Relationship Id="rId4" Type="http://schemas.openxmlformats.org/officeDocument/2006/relationships/image" Target="../media/image46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59C6F7-0BCA-3F0A-D4BC-E984D6D0B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B96276F-3B8D-97DB-ED9B-B2A4AEEB9B8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22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BC9294-2F47-BD4A-9AC3-9A791517C6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942"/>
          <a:stretch>
            <a:fillRect/>
          </a:stretch>
        </p:blipFill>
        <p:spPr>
          <a:xfrm>
            <a:off x="5269268" y="192275"/>
            <a:ext cx="1653462" cy="19821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E29253-FA72-A353-CBB8-F893FBB52FDF}"/>
              </a:ext>
            </a:extLst>
          </p:cNvPr>
          <p:cNvSpPr txBox="1"/>
          <p:nvPr/>
        </p:nvSpPr>
        <p:spPr>
          <a:xfrm>
            <a:off x="-27934" y="2828835"/>
            <a:ext cx="122478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Applying Self-Supervised Discovering of Interpretable Features to Molecule Generation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3F8EDC-E0EC-44A6-912F-FA526DDD5DA9}"/>
              </a:ext>
            </a:extLst>
          </p:cNvPr>
          <p:cNvSpPr txBox="1"/>
          <p:nvPr/>
        </p:nvSpPr>
        <p:spPr>
          <a:xfrm>
            <a:off x="3242744" y="6095555"/>
            <a:ext cx="57065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Pimpinelli Francesco 2214340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white"/>
                </a:solidFill>
                <a:latin typeface="Aptos" panose="02110004020202020204"/>
              </a:rPr>
              <a:t>REINFORCEMENT LEARNING </a:t>
            </a:r>
            <a:r>
              <a:rPr lang="en-US" noProof="0" dirty="0">
                <a:solidFill>
                  <a:prstClr val="white"/>
                </a:solidFill>
                <a:latin typeface="Aptos" panose="02110004020202020204"/>
              </a:rPr>
              <a:t>A.A 25/26</a:t>
            </a:r>
            <a:endParaRPr kumimoji="0" lang="en-US" b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A60138-8134-4384-F208-089FF97041E0}"/>
              </a:ext>
            </a:extLst>
          </p:cNvPr>
          <p:cNvCxnSpPr>
            <a:cxnSpLocks/>
          </p:cNvCxnSpPr>
          <p:nvPr/>
        </p:nvCxnSpPr>
        <p:spPr>
          <a:xfrm>
            <a:off x="5695562" y="5353561"/>
            <a:ext cx="80087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061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C3D88-1E9C-A4A6-87B5-D0B2C0700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Accent Circle 1"/>
          <p:cNvSpPr/>
          <p:nvPr/>
        </p:nvSpPr>
        <p:spPr>
          <a:xfrm>
            <a:off x="101600" y="2514600"/>
            <a:ext cx="254000" cy="254000"/>
          </a:xfrm>
          <a:prstGeom prst="ellipse">
            <a:avLst/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Accent Line"/>
          <p:cNvSpPr/>
          <p:nvPr/>
        </p:nvSpPr>
        <p:spPr>
          <a:xfrm>
            <a:off x="457200" y="2743200"/>
            <a:ext cx="2743200" cy="0"/>
          </a:xfrm>
          <a:prstGeom prst="line">
            <a:avLst/>
          </a:prstGeom>
          <a:ln w="19050">
            <a:solidFill>
              <a:srgbClr val="E8A838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56" name="Accent Diamond"/>
          <p:cNvSpPr/>
          <p:nvPr/>
        </p:nvSpPr>
        <p:spPr>
          <a:xfrm rot="2700000">
            <a:off x="11201400" y="5486400"/>
            <a:ext cx="304800" cy="304800"/>
          </a:xfrm>
          <a:prstGeom prst="rect">
            <a:avLst/>
          </a:prstGeom>
          <a:solidFill>
            <a:srgbClr val="E8A83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Fun Arrow"/>
          <p:cNvSpPr/>
          <p:nvPr/>
        </p:nvSpPr>
        <p:spPr>
          <a:xfrm rot="5400000">
            <a:off x="5638800" y="2438400"/>
            <a:ext cx="533400" cy="3810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80EFEF3-9B24-A2DA-69EB-91C4AA482886}"/>
              </a:ext>
            </a:extLst>
          </p:cNvPr>
          <p:cNvSpPr/>
          <p:nvPr/>
        </p:nvSpPr>
        <p:spPr>
          <a:xfrm rot="10800000">
            <a:off x="-2" y="-3"/>
            <a:ext cx="4098355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480045B-A75C-C2B2-D5B3-C67654E0C6C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D286D28C-FC43-1663-37D8-3D2572DFA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9B5565A-778D-3D1D-2145-C90A1B5DB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1DAC80-3B66-2A56-DE12-6E751FABC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3" y="-227754"/>
            <a:ext cx="3960877" cy="1325563"/>
          </a:xfrm>
        </p:spPr>
        <p:txBody>
          <a:bodyPr/>
          <a:lstStyle/>
          <a:p>
            <a:r>
              <a:rPr lang="it-IT" noProof="0" dirty="0">
                <a:solidFill>
                  <a:schemeClr val="bg1"/>
                </a:solidFill>
              </a:rPr>
              <a:t>🔎</a:t>
            </a:r>
            <a:r>
              <a:rPr lang="en-US" b="1" noProof="0" dirty="0">
                <a:solidFill>
                  <a:schemeClr val="bg1"/>
                </a:solidFill>
              </a:rPr>
              <a:t>The Context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766155-CA4F-3BA3-D33A-6CA555AD7515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75F7E7-1028-CD30-1F56-50B40598D4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114C6678-1150-C0BC-28E5-7A828606DF7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947EC-6374-A1A9-CBC4-A983F36BDD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28690" y="133719"/>
            <a:ext cx="5696002" cy="2686717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231E72-CBED-140D-6E85-2781F6AEBD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819"/>
          <a:stretch>
            <a:fillRect/>
          </a:stretch>
        </p:blipFill>
        <p:spPr>
          <a:xfrm>
            <a:off x="552460" y="2802188"/>
            <a:ext cx="5696002" cy="322330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19C412C-1BE1-2332-A51E-F7C9CA391C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8342" y="2793218"/>
            <a:ext cx="5607477" cy="334217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57" name="Graphic 57" descr="Resear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26000" y="101600"/>
            <a:ext cx="558800" cy="558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CFF088-A7BD-45FF-6F53-2E04B1B364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41" y="1045192"/>
            <a:ext cx="6100335" cy="1747764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86368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55A86-0EDF-7C43-7E3E-F4F676C5C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3E93B9C7-AACF-862D-F653-4A6B33F12347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E2C1EC-9FA8-B807-6233-8B8E630073C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FE478CD-608D-3394-5075-BE5775B52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D2A8323-A3B8-CD49-30C6-03AED7D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9478145-7C74-AE18-5BE1-3973B301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The Context: MoleGuLAR </a:t>
            </a:r>
            <a:r>
              <a:rPr lang="it-IT" b="1" dirty="0">
                <a:solidFill>
                  <a:schemeClr val="bg1"/>
                </a:solidFill>
              </a:rPr>
              <a:t>🧬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36885A-A6E6-301D-978F-2BBA6482E3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F3E19D8F-49BB-18F1-E0CB-CD87CC0AA92E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4B34C2E-E321-7692-E8AB-4DE007A90BD0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9FA946C-6551-FDAE-57C3-920A1CB15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85" y="1325560"/>
            <a:ext cx="10974943" cy="3747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291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7B733-C6B8-1CC4-CF49-A1A6600EA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3F88AE-33E3-7715-6555-B97426439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" r="870"/>
          <a:stretch>
            <a:fillRect/>
          </a:stretch>
        </p:blipFill>
        <p:spPr>
          <a:xfrm>
            <a:off x="3037787" y="761876"/>
            <a:ext cx="6944413" cy="5536266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B8E7BE2-84F3-D1A3-4C2D-F7B680F3FC8B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0A44D8-44F4-95DB-A337-280A3C3913D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118AFFF-3591-1B55-C5CC-347C101D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1FFDFEC-83E1-EAAE-177E-B5E262DF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915513-DF91-053E-419A-B2581CE12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The Pipeline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1C359D-EEC7-2074-BEB3-CF85C8C139B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719104C3-895E-DA6A-5C30-09298C1F3188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003457F3-568C-2BDB-293E-95659049A85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6387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47F79-054D-716E-A0EC-F6E8554FA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259FA557-25EC-73F7-C769-9EDFAB05BA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84" b="1991"/>
          <a:stretch>
            <a:fillRect/>
          </a:stretch>
        </p:blipFill>
        <p:spPr bwMode="auto">
          <a:xfrm>
            <a:off x="2274486" y="3982875"/>
            <a:ext cx="3647269" cy="214963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2D21F5-AF85-FB45-1B06-7CCB17DEE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3" y="925445"/>
            <a:ext cx="8110557" cy="29500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4EC6D4-1853-12C2-21B6-85E36ED37C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8" t="62" r="-256" b="192"/>
          <a:stretch>
            <a:fillRect/>
          </a:stretch>
        </p:blipFill>
        <p:spPr>
          <a:xfrm>
            <a:off x="7339476" y="1912441"/>
            <a:ext cx="10772704" cy="8557879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3DB3313-E8DE-632E-2905-73B3FE71AD5F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CE5C2-E817-4FF1-C9B1-F4AC5D2FEB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D2C64B-1F91-5A24-FD75-6C9BE6643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454EB69B-AC8D-8C07-637B-182E04680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48D630-B72B-3962-ACB5-E539F41B7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dirty="0">
                <a:solidFill>
                  <a:schemeClr val="bg1"/>
                </a:solidFill>
              </a:rPr>
              <a:t>🙂 </a:t>
            </a:r>
            <a:r>
              <a:rPr lang="en-US" b="1" noProof="0" dirty="0">
                <a:solidFill>
                  <a:schemeClr val="bg1"/>
                </a:solidFill>
              </a:rPr>
              <a:t>SMILES</a:t>
            </a:r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774479-E582-19BC-FC1A-FFDCF9EE453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6F6A3BA-D8B4-3F9E-F80A-3668D2D80BC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B1AB529A-C45A-B812-6CA1-07337FEA51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Arrow: Curved Right 5">
            <a:extLst>
              <a:ext uri="{FF2B5EF4-FFF2-40B4-BE49-F238E27FC236}">
                <a16:creationId xmlns:a16="http://schemas.microsoft.com/office/drawing/2014/main" id="{C76AB348-9265-9F81-BA1C-B1FC222FB77F}"/>
              </a:ext>
            </a:extLst>
          </p:cNvPr>
          <p:cNvSpPr/>
          <p:nvPr/>
        </p:nvSpPr>
        <p:spPr>
          <a:xfrm rot="19681607">
            <a:off x="933723" y="3672590"/>
            <a:ext cx="614597" cy="1918741"/>
          </a:xfrm>
          <a:prstGeom prst="curvedRightArrow">
            <a:avLst>
              <a:gd name="adj1" fmla="val 30265"/>
              <a:gd name="adj2" fmla="val 41322"/>
              <a:gd name="adj3" fmla="val 25000"/>
            </a:avLst>
          </a:prstGeom>
          <a:solidFill>
            <a:srgbClr val="E9886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12268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56975-2F13-A929-0B03-16D94DDC9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9A8C5C-9525-614F-0601-03FC600168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8" t="62" r="-256" b="192"/>
          <a:stretch>
            <a:fillRect/>
          </a:stretch>
        </p:blipFill>
        <p:spPr>
          <a:xfrm>
            <a:off x="7339476" y="1912441"/>
            <a:ext cx="10772704" cy="8557879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1544EEF-1219-274F-5704-D556096EFD2B}"/>
              </a:ext>
            </a:extLst>
          </p:cNvPr>
          <p:cNvSpPr/>
          <p:nvPr/>
        </p:nvSpPr>
        <p:spPr>
          <a:xfrm rot="10800000">
            <a:off x="-7" y="-9"/>
            <a:ext cx="10925393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1E1430-E8AE-A165-3937-EC0C8BC4355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7E25DC9-61B7-5A2E-796D-474F03A9B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8207FE4-0FC8-3E95-214A-47C07FD61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1330152-3C68-AED8-D123-294BC155B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1" y="-227754"/>
            <a:ext cx="11276079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b="1" noProof="0" dirty="0">
                <a:solidFill>
                  <a:schemeClr val="bg1"/>
                </a:solidFill>
              </a:rPr>
              <a:t>📄</a:t>
            </a:r>
            <a:r>
              <a:rPr lang="en-US" b="1" dirty="0">
                <a:solidFill>
                  <a:srgbClr val="27A4A8"/>
                </a:solidFill>
              </a:rPr>
              <a:t>Da</a:t>
            </a:r>
            <a:r>
              <a:rPr lang="en-US" b="1" dirty="0">
                <a:solidFill>
                  <a:srgbClr val="D33C60"/>
                </a:solidFill>
              </a:rPr>
              <a:t>ta </a:t>
            </a:r>
            <a:r>
              <a:rPr lang="en-US" b="1" dirty="0">
                <a:solidFill>
                  <a:schemeClr val="bg1"/>
                </a:solidFill>
              </a:rPr>
              <a:t>&amp; </a:t>
            </a:r>
            <a:r>
              <a:rPr lang="it-IT" dirty="0">
                <a:solidFill>
                  <a:schemeClr val="bg1"/>
                </a:solidFill>
              </a:rPr>
              <a:t>🎯</a:t>
            </a:r>
            <a:r>
              <a:rPr lang="en-US" b="1" dirty="0">
                <a:solidFill>
                  <a:srgbClr val="E98862"/>
                </a:solidFill>
              </a:rPr>
              <a:t>Target </a:t>
            </a:r>
            <a:r>
              <a:rPr lang="en-US" b="1" dirty="0">
                <a:solidFill>
                  <a:srgbClr val="62C3E9"/>
                </a:solidFill>
              </a:rPr>
              <a:t>Proteins</a:t>
            </a:r>
            <a:endParaRPr lang="en-US" noProof="0" dirty="0">
              <a:solidFill>
                <a:srgbClr val="62C3E9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B0C750-51BF-737D-B965-44D89E2472F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5B988CC-FAEA-652F-62FD-1BD2E3F31D0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704BE75-61F1-6AA7-BF36-D0A7B4165628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69E1BBD-ECBB-CCEB-1203-7CADC27F22C3}"/>
              </a:ext>
            </a:extLst>
          </p:cNvPr>
          <p:cNvGrpSpPr/>
          <p:nvPr/>
        </p:nvGrpSpPr>
        <p:grpSpPr>
          <a:xfrm>
            <a:off x="525095" y="2184442"/>
            <a:ext cx="2572043" cy="2968857"/>
            <a:chOff x="394057" y="2184442"/>
            <a:chExt cx="2572043" cy="2968857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EA014D8-FEEF-EF9A-750A-D391F7F3EF1C}"/>
                </a:ext>
              </a:extLst>
            </p:cNvPr>
            <p:cNvSpPr/>
            <p:nvPr/>
          </p:nvSpPr>
          <p:spPr>
            <a:xfrm>
              <a:off x="394057" y="2184442"/>
              <a:ext cx="2565401" cy="2968857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27A4A8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2448E11-21C9-4705-D13B-1A9B4E64ED0A}"/>
                </a:ext>
              </a:extLst>
            </p:cNvPr>
            <p:cNvSpPr txBox="1"/>
            <p:nvPr/>
          </p:nvSpPr>
          <p:spPr>
            <a:xfrm>
              <a:off x="400699" y="4182403"/>
              <a:ext cx="2565401" cy="830997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27A4A8"/>
                  </a:solidFill>
                  <a:latin typeface="IBM Plex Sans"/>
                </a:rPr>
                <a:t>Pre-Trained on</a:t>
              </a:r>
            </a:p>
            <a:p>
              <a:pPr algn="ctr"/>
              <a:r>
                <a:rPr lang="en-US" sz="2400" b="1" dirty="0" err="1">
                  <a:solidFill>
                    <a:srgbClr val="D33C60"/>
                  </a:solidFill>
                  <a:latin typeface="IBM Plex Sans"/>
                </a:rPr>
                <a:t>ChEMBL</a:t>
              </a:r>
              <a:endParaRPr lang="en-US" sz="2400" b="1" dirty="0">
                <a:solidFill>
                  <a:srgbClr val="D33C60"/>
                </a:solidFill>
                <a:latin typeface="IBM Plex Sans"/>
              </a:endParaRPr>
            </a:p>
          </p:txBody>
        </p:sp>
        <p:pic>
          <p:nvPicPr>
            <p:cNvPr id="1034" name="Picture 10" descr="Chemical Biology Services @ EMBL-EBI · GitHub">
              <a:extLst>
                <a:ext uri="{FF2B5EF4-FFF2-40B4-BE49-F238E27FC236}">
                  <a16:creationId xmlns:a16="http://schemas.microsoft.com/office/drawing/2014/main" id="{ADF7FA3A-51A6-60D4-835D-56237A5BD4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6391" y="2322007"/>
              <a:ext cx="1300732" cy="1300732"/>
            </a:xfrm>
            <a:prstGeom prst="rect">
              <a:avLst/>
            </a:prstGeom>
            <a:solidFill>
              <a:srgbClr val="FDFDFD"/>
            </a:solidFill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5A4073C-6DF4-F664-1BB0-D855002C7EC2}"/>
              </a:ext>
            </a:extLst>
          </p:cNvPr>
          <p:cNvGrpSpPr/>
          <p:nvPr/>
        </p:nvGrpSpPr>
        <p:grpSpPr>
          <a:xfrm>
            <a:off x="3658683" y="1325555"/>
            <a:ext cx="3345829" cy="2219271"/>
            <a:chOff x="5404690" y="1291711"/>
            <a:chExt cx="3345829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A1842C29-1DAD-F1F7-33CC-E414B8A7747D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noFill/>
            <a:ln w="38100" cap="flat" cmpd="sng" algn="ctr">
              <a:solidFill>
                <a:srgbClr val="E98862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AD807A24-740B-BCA4-212C-DAB577863FB6}"/>
                    </a:ext>
                  </a:extLst>
                </p:cNvPr>
                <p:cNvSpPr txBox="1"/>
                <p:nvPr/>
              </p:nvSpPr>
              <p:spPr>
                <a:xfrm>
                  <a:off x="5449872" y="1980087"/>
                  <a:ext cx="3300647" cy="49475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Overflow="overflow" vert="horz"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0" smtClean="0">
                            <a:solidFill>
                              <a:srgbClr val="E98862"/>
                            </a:solidFill>
                          </a:rPr>
                          <m:t>𝐒𝐀𝐑𝐒</m:t>
                        </m:r>
                        <m:r>
                          <a:rPr lang="it-IT" sz="2400" b="1" i="0" smtClean="0">
                            <a:solidFill>
                              <a:srgbClr val="E98862"/>
                            </a:solidFill>
                          </a:rPr>
                          <m:t>−</m:t>
                        </m:r>
                        <m:r>
                          <a:rPr lang="en-US" sz="2400" b="1" i="0" smtClean="0">
                            <a:solidFill>
                              <a:srgbClr val="E98862"/>
                            </a:solidFill>
                          </a:rPr>
                          <m:t>𝐂𝐨𝐕</m:t>
                        </m:r>
                        <m:r>
                          <a:rPr lang="it-IT" sz="2400" b="1" i="0" smtClean="0">
                            <a:solidFill>
                              <a:srgbClr val="E98862"/>
                            </a:solidFill>
                          </a:rPr>
                          <m:t>−</m:t>
                        </m:r>
                        <m:r>
                          <a:rPr lang="en-US" sz="2400" b="1" i="0" smtClean="0">
                            <a:solidFill>
                              <a:srgbClr val="E98862"/>
                            </a:solidFill>
                          </a:rPr>
                          <m:t>𝟐</m:t>
                        </m:r>
                        <m:r>
                          <a:rPr lang="en-US" sz="2400" b="1" i="0" smtClean="0">
                            <a:solidFill>
                              <a:srgbClr val="E98862"/>
                            </a:solidFill>
                          </a:rPr>
                          <m:t> </m:t>
                        </m:r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rgbClr val="E98862"/>
                                </a:solidFill>
                              </a:rPr>
                            </m:ctrlPr>
                          </m:sSubPr>
                          <m:e>
                            <m:r>
                              <a:rPr lang="en-US" sz="2400" b="1" i="0" smtClean="0">
                                <a:solidFill>
                                  <a:srgbClr val="E98862"/>
                                </a:solidFill>
                              </a:rPr>
                              <m:t>𝐌</m:t>
                            </m:r>
                          </m:e>
                          <m:sub>
                            <m:r>
                              <a:rPr lang="it-IT" sz="2400" b="1" i="0" smtClean="0">
                                <a:solidFill>
                                  <a:srgbClr val="E98862"/>
                                </a:solidFill>
                              </a:rPr>
                              <m:t>𝐩𝐫𝐨</m:t>
                            </m:r>
                          </m:sub>
                        </m:sSub>
                      </m:oMath>
                    </m:oMathPara>
                  </a14:m>
                  <a:endParaRPr dirty="0"/>
                </a:p>
              </p:txBody>
            </p:sp>
          </mc:Choice>
          <mc:Fallback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AD807A24-740B-BCA4-212C-DAB577863F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9872" y="1980087"/>
                  <a:ext cx="3300647" cy="494751"/>
                </a:xfrm>
                <a:prstGeom prst="rect">
                  <a:avLst/>
                </a:prstGeom>
                <a:blipFill>
                  <a:blip r:embed="rId5"/>
                  <a:stretch>
                    <a:fillRect b="-731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6" name="Graphic 35" descr="Covid-19 with solid fill">
              <a:extLst>
                <a:ext uri="{FF2B5EF4-FFF2-40B4-BE49-F238E27FC236}">
                  <a16:creationId xmlns:a16="http://schemas.microsoft.com/office/drawing/2014/main" id="{F75B12E6-F5A5-B1D7-2874-FD3BD74821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EA1BE1C-1828-D57A-3FC4-33DB3731E375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Protein essential for the viral transcription and replication of the </a:t>
              </a:r>
              <a:r>
                <a:rPr lang="en-US" b="1" dirty="0">
                  <a:solidFill>
                    <a:srgbClr val="E98862"/>
                  </a:solidFill>
                </a:rPr>
                <a:t>COVID-19 virus</a:t>
              </a:r>
              <a:r>
                <a:rPr lang="en-US" dirty="0">
                  <a:solidFill>
                    <a:srgbClr val="E98862"/>
                  </a:solidFill>
                </a:rPr>
                <a:t>.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258BD07-F5CA-34A9-9AFA-9D685DC4E36F}"/>
              </a:ext>
            </a:extLst>
          </p:cNvPr>
          <p:cNvGrpSpPr/>
          <p:nvPr/>
        </p:nvGrpSpPr>
        <p:grpSpPr>
          <a:xfrm>
            <a:off x="3591792" y="3736488"/>
            <a:ext cx="3325707" cy="2219271"/>
            <a:chOff x="5352952" y="1291711"/>
            <a:chExt cx="3316139" cy="221927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00528E-2E16-F0E0-AF7A-4FB394280BEC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noFill/>
            <a:ln w="38100" cap="flat" cmpd="sng" algn="ctr">
              <a:solidFill>
                <a:srgbClr val="62C3E9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AE3E7B1-0F05-0FD6-7C7E-24BA5059ABD3}"/>
                    </a:ext>
                  </a:extLst>
                </p:cNvPr>
                <p:cNvSpPr txBox="1"/>
                <p:nvPr/>
              </p:nvSpPr>
              <p:spPr>
                <a:xfrm>
                  <a:off x="5717953" y="1980793"/>
                  <a:ext cx="2565401" cy="461665"/>
                </a:xfrm>
                <a:prstGeom prst="rect">
                  <a:avLst/>
                </a:prstGeom>
                <a:noFill/>
              </p:spPr>
              <p:txBody>
                <a:bodyPr vertOverflow="overflow" vert="horz" wrap="square" rtlCol="0" anchor="t">
                  <a:spAutoFit/>
                </a:bodyPr>
                <a:lstStyle/>
                <a:p>
                  <a:pPr algn="ctr"/>
                  <a:r>
                    <a:rPr lang="en-US" sz="2400" b="1" dirty="0">
                      <a:solidFill>
                        <a:srgbClr val="62C3E9"/>
                      </a:solidFill>
                    </a:rPr>
                    <a:t>TTBK1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AE3E7B1-0F05-0FD6-7C7E-24BA5059A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7953" y="1980793"/>
                  <a:ext cx="2565401" cy="461665"/>
                </a:xfrm>
                <a:prstGeom prst="rect">
                  <a:avLst/>
                </a:prstGeom>
                <a:blipFill>
                  <a:blip r:embed="rId7"/>
                  <a:stretch>
                    <a:fillRect t="-13158" b="-30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0" name="Graphic 9" descr="Germ with solid fill">
              <a:extLst>
                <a:ext uri="{FF2B5EF4-FFF2-40B4-BE49-F238E27FC236}">
                  <a16:creationId xmlns:a16="http://schemas.microsoft.com/office/drawing/2014/main" id="{B58A78FC-7849-F9AA-9B61-84B01C6EA0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55949" y="1427475"/>
              <a:ext cx="489413" cy="511818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4E1833-3688-522C-DBD0-143045CE767A}"/>
                </a:ext>
              </a:extLst>
            </p:cNvPr>
            <p:cNvSpPr txBox="1"/>
            <p:nvPr/>
          </p:nvSpPr>
          <p:spPr>
            <a:xfrm>
              <a:off x="5352952" y="2515633"/>
              <a:ext cx="33161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Target protein for treating some  </a:t>
              </a:r>
              <a:r>
                <a:rPr lang="en-US" b="1" dirty="0">
                  <a:solidFill>
                    <a:srgbClr val="62C3E9"/>
                  </a:solidFill>
                </a:rPr>
                <a:t>neurodegenerative</a:t>
              </a:r>
              <a:r>
                <a:rPr lang="en-US" dirty="0"/>
                <a:t> diseases, such as Alzheimer’s.</a:t>
              </a:r>
              <a:endParaRPr 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0927589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173D4-5533-0BFB-CBD0-69BB4BF65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06867A-0AE6-394A-E5EE-B10727F342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D65AFB8-6F25-B0F8-1CD4-81A5F7DCF8FC}"/>
              </a:ext>
            </a:extLst>
          </p:cNvPr>
          <p:cNvSpPr/>
          <p:nvPr/>
        </p:nvSpPr>
        <p:spPr>
          <a:xfrm rot="10800000">
            <a:off x="-3" y="-7"/>
            <a:ext cx="751687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A18EAC-2097-A911-87B3-77DCB001E84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2B08E4B-C38D-4CC4-BFDE-3E09BDF64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EEE7058-0088-8FD5-2EEE-BE9AFB222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6D138FE-1237-0D1B-E803-7631FC60F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516878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en-US" b="1" dirty="0">
                <a:solidFill>
                  <a:schemeClr val="bg1"/>
                </a:solidFill>
              </a:rPr>
              <a:t>BA Estimation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6971BA-6EE3-7D6C-BA09-63ABE9A5EB2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4627589-E671-9B13-FC83-DFC0BF9C36B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8E517530-11E2-26F6-DB7F-1C1DE94A2C0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F476A45-C3DE-6216-0392-00FDF740B284}"/>
              </a:ext>
            </a:extLst>
          </p:cNvPr>
          <p:cNvSpPr/>
          <p:nvPr/>
        </p:nvSpPr>
        <p:spPr>
          <a:xfrm>
            <a:off x="6727970" y="1214226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D936E1-2358-BA93-FA43-CFD9447285FB}"/>
              </a:ext>
            </a:extLst>
          </p:cNvPr>
          <p:cNvSpPr txBox="1"/>
          <p:nvPr/>
        </p:nvSpPr>
        <p:spPr>
          <a:xfrm>
            <a:off x="6727970" y="1312841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Graph Embeddings + 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7A75BF9-623D-5DAC-7BE4-D4C5108F9699}"/>
                  </a:ext>
                </a:extLst>
              </p:cNvPr>
              <p:cNvSpPr txBox="1"/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0.87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0.55</a:t>
                </a: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7A75BF9-623D-5DAC-7BE4-D4C5108F96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blipFill>
                <a:blip r:embed="rId4"/>
                <a:stretch>
                  <a:fillRect t="-2564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3B440F16-6148-B739-EDE9-A61FA4330AE0}"/>
              </a:ext>
            </a:extLst>
          </p:cNvPr>
          <p:cNvSpPr/>
          <p:nvPr/>
        </p:nvSpPr>
        <p:spPr>
          <a:xfrm>
            <a:off x="6727970" y="2926248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21A9149-D7EB-8B78-1C00-2F4C3FD677B6}"/>
              </a:ext>
            </a:extLst>
          </p:cNvPr>
          <p:cNvSpPr txBox="1"/>
          <p:nvPr/>
        </p:nvSpPr>
        <p:spPr>
          <a:xfrm>
            <a:off x="6787930" y="2979254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Mol2Vec + 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7537EAD-A536-79F9-9CF5-6C4DDC75D185}"/>
                  </a:ext>
                </a:extLst>
              </p:cNvPr>
              <p:cNvSpPr txBox="1"/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0.47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0.91</a:t>
                </a: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7537EAD-A536-79F9-9CF5-6C4DDC75D1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blipFill>
                <a:blip r:embed="rId5"/>
                <a:stretch>
                  <a:fillRect t="-3419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FFCF67A7-253C-1BA4-E23B-B82BDC661941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005866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3F13BB8-2FD5-7031-2774-13E38EA4553E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Graph Isomorphism Network (GIN)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B295091-49AB-055B-A3BD-10FB24091019}"/>
                  </a:ext>
                </a:extLst>
              </p:cNvPr>
              <p:cNvSpPr txBox="1"/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chemeClr val="tx1"/>
                    </a:solidFill>
                  </a:rPr>
                  <a:t>           MAE</a:t>
                </a:r>
                <a:r>
                  <a:rPr lang="en-US" sz="2000" dirty="0">
                    <a:solidFill>
                      <a:schemeClr val="tx1"/>
                    </a:solidFill>
                  </a:rPr>
                  <a:t>: 		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</a:t>
                </a:r>
                <a:r>
                  <a:rPr lang="en-US" sz="2000" dirty="0">
                    <a:solidFill>
                      <a:srgbClr val="005866"/>
                    </a:solidFill>
                  </a:rPr>
                  <a:t>	</a:t>
                </a:r>
              </a:p>
              <a:p>
                <a:pPr algn="l"/>
                <a:r>
                  <a:rPr lang="en-US" sz="2000" dirty="0">
                    <a:solidFill>
                      <a:srgbClr val="005866"/>
                    </a:solidFill>
                  </a:rPr>
                  <a:t>            </a:t>
                </a:r>
                <a:r>
                  <a:rPr lang="en-US" sz="2000" dirty="0"/>
                  <a:t>0.45                     </a:t>
                </a:r>
                <a:r>
                  <a:rPr lang="en-US" sz="2000" dirty="0">
                    <a:latin typeface="IBM Plex Sans"/>
                  </a:rPr>
                  <a:t>        </a:t>
                </a:r>
                <a:r>
                  <a:rPr lang="en-US" sz="2000" dirty="0"/>
                  <a:t>0.93</a:t>
                </a: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B295091-49AB-055B-A3BD-10FB24091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blipFill>
                <a:blip r:embed="rId6"/>
                <a:stretch>
                  <a:fillRect t="-3419" b="-153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112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F2A55-1561-1021-7341-31D509B62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9C74C1D-009D-FB7A-3911-F42198A325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32737D70-A346-99E1-EBF7-63921C4132A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C4FC49C3-E1CB-D097-EECF-B5639DFA2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5E10EFB-D306-06FD-1321-01DE55BCD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D1C2C7-A960-9DD0-EB66-42C0767A712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1A83BAC8-5B99-922F-B0E2-9564AAE7C2AD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E6837ED-B375-9352-50CD-CAEBCF4F724F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8580ECB3-CCD9-A048-ABB3-01B71E753F78}"/>
              </a:ext>
            </a:extLst>
          </p:cNvPr>
          <p:cNvSpPr/>
          <p:nvPr/>
        </p:nvSpPr>
        <p:spPr>
          <a:xfrm>
            <a:off x="6727970" y="1214226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DCFA371-45DC-97F5-846C-EFAC7BD964BF}"/>
              </a:ext>
            </a:extLst>
          </p:cNvPr>
          <p:cNvSpPr txBox="1"/>
          <p:nvPr/>
        </p:nvSpPr>
        <p:spPr>
          <a:xfrm>
            <a:off x="6727970" y="1312841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Graph Embeddings + 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BDE6CFC-60D1-F6B9-E840-2CD8F888670D}"/>
                  </a:ext>
                </a:extLst>
              </p:cNvPr>
              <p:cNvSpPr txBox="1"/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0.87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0.55</a:t>
                </a: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BDE6CFC-60D1-F6B9-E840-2CD8F8886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blipFill>
                <a:blip r:embed="rId4"/>
                <a:stretch>
                  <a:fillRect t="-2564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E0285277-7D5D-8402-32FA-123425176564}"/>
              </a:ext>
            </a:extLst>
          </p:cNvPr>
          <p:cNvSpPr/>
          <p:nvPr/>
        </p:nvSpPr>
        <p:spPr>
          <a:xfrm>
            <a:off x="6727970" y="2926248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1A9A37-1618-7E38-25C9-96E7C327CE92}"/>
              </a:ext>
            </a:extLst>
          </p:cNvPr>
          <p:cNvSpPr txBox="1"/>
          <p:nvPr/>
        </p:nvSpPr>
        <p:spPr>
          <a:xfrm>
            <a:off x="6787930" y="2979254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Mol2Vec + 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467D94-9560-BC64-EFC2-3B0CB6B52053}"/>
                  </a:ext>
                </a:extLst>
              </p:cNvPr>
              <p:cNvSpPr txBox="1"/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0.47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0.91</a:t>
                </a: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467D94-9560-BC64-EFC2-3B0CB6B52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blipFill>
                <a:blip r:embed="rId5"/>
                <a:stretch>
                  <a:fillRect t="-3419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96CB4FB1-FFD9-C5F1-6DD4-4A3D76E22836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FFCF0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170C2A-890B-8DCF-2021-52964353B035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7C26419-A3B4-0B69-5BF9-23F0B02019FF}"/>
                  </a:ext>
                </a:extLst>
              </p:cNvPr>
              <p:cNvSpPr txBox="1"/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C9A227"/>
                    </a:solidFill>
                  </a:rPr>
                  <a:t>          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MAE</a:t>
                </a:r>
                <a:r>
                  <a:rPr lang="en-US" sz="2000" dirty="0">
                    <a:solidFill>
                      <a:schemeClr val="tx1"/>
                    </a:solidFill>
                  </a:rPr>
                  <a:t>: 		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chemeClr val="tx1"/>
                    </a:solidFill>
                  </a:rPr>
                  <a:t>            0.45                     </a:t>
                </a:r>
                <a:r>
                  <a:rPr lang="en-US" sz="2000" dirty="0">
                    <a:solidFill>
                      <a:schemeClr val="tx1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chemeClr val="tx1"/>
                    </a:solidFill>
                  </a:rPr>
                  <a:t>0.93</a:t>
                </a: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7C26419-A3B4-0B69-5BF9-23F0B02019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blipFill>
                <a:blip r:embed="rId6"/>
                <a:stretch>
                  <a:fillRect t="-3419" b="-153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: Top Corners Rounded 4">
            <a:extLst>
              <a:ext uri="{FF2B5EF4-FFF2-40B4-BE49-F238E27FC236}">
                <a16:creationId xmlns:a16="http://schemas.microsoft.com/office/drawing/2014/main" id="{D44F5DDC-9C90-7800-6623-3E1AF45C8980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1CA1988-62D9-F93E-9840-0E9547FC0B90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🤝</a:t>
            </a:r>
            <a:r>
              <a:rPr lang="en-US" b="1" dirty="0">
                <a:solidFill>
                  <a:schemeClr val="bg1"/>
                </a:solidFill>
              </a:rPr>
              <a:t>BA Estimation: Chosen Architecture</a:t>
            </a:r>
          </a:p>
        </p:txBody>
      </p:sp>
    </p:spTree>
    <p:extLst>
      <p:ext uri="{BB962C8B-B14F-4D97-AF65-F5344CB8AC3E}">
        <p14:creationId xmlns:p14="http://schemas.microsoft.com/office/powerpoint/2010/main" val="4304719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F1D8-131F-AB22-3B17-C2FDB46A7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>
            <a:extLst>
              <a:ext uri="{FF2B5EF4-FFF2-40B4-BE49-F238E27FC236}">
                <a16:creationId xmlns:a16="http://schemas.microsoft.com/office/drawing/2014/main" id="{39772984-A627-DD16-F3FF-4FE79C64C7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DF4DC020-30E9-05E8-B79E-716A81B7D5D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297DA04-5150-91B8-1EDF-B051197F2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9133A47-008B-2129-3BC4-8EFCAF8F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9EB08C-DDC7-A66B-E673-9B5A43EB555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6653FF8-9610-1295-D253-CE620F35DD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33E16E21-94BF-E640-CC41-6B3EA5EFEE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5CF442B-1D4C-DBA1-BFC3-FBC998AAA457}"/>
              </a:ext>
            </a:extLst>
          </p:cNvPr>
          <p:cNvSpPr/>
          <p:nvPr/>
        </p:nvSpPr>
        <p:spPr>
          <a:xfrm>
            <a:off x="6727970" y="986474"/>
            <a:ext cx="4649852" cy="1325563"/>
          </a:xfrm>
          <a:prstGeom prst="roundRect">
            <a:avLst/>
          </a:prstGeom>
          <a:solidFill>
            <a:srgbClr val="FFFCF0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80710B0-3FD8-DBEF-CF96-8E42B289E07A}"/>
              </a:ext>
            </a:extLst>
          </p:cNvPr>
          <p:cNvSpPr txBox="1"/>
          <p:nvPr/>
        </p:nvSpPr>
        <p:spPr>
          <a:xfrm>
            <a:off x="6727970" y="1059866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43E270EB-FD84-2650-779F-A8A128CB6F88}"/>
                  </a:ext>
                </a:extLst>
              </p:cNvPr>
              <p:cNvSpPr txBox="1"/>
              <p:nvPr/>
            </p:nvSpPr>
            <p:spPr>
              <a:xfrm>
                <a:off x="7168283" y="1497798"/>
                <a:ext cx="4011118" cy="7148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C9A227"/>
                    </a:solidFill>
                  </a:rPr>
                  <a:t>          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MAE</a:t>
                </a:r>
                <a:r>
                  <a:rPr lang="en-US" sz="2000" dirty="0">
                    <a:solidFill>
                      <a:schemeClr val="tx1"/>
                    </a:solidFill>
                  </a:rPr>
                  <a:t>: 		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chemeClr val="tx1"/>
                    </a:solidFill>
                  </a:rPr>
                  <a:t>            0.45                     </a:t>
                </a:r>
                <a:r>
                  <a:rPr lang="en-US" sz="2000" dirty="0">
                    <a:solidFill>
                      <a:schemeClr val="tx1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chemeClr val="tx1"/>
                    </a:solidFill>
                  </a:rPr>
                  <a:t>0.93</a:t>
                </a: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43E270EB-FD84-2650-779F-A8A128CB6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1497798"/>
                <a:ext cx="4011118" cy="714876"/>
              </a:xfrm>
              <a:prstGeom prst="rect">
                <a:avLst/>
              </a:prstGeom>
              <a:blipFill>
                <a:blip r:embed="rId4"/>
                <a:stretch>
                  <a:fillRect t="-3419" b="-153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9" name="Picture 48">
            <a:extLst>
              <a:ext uri="{FF2B5EF4-FFF2-40B4-BE49-F238E27FC236}">
                <a16:creationId xmlns:a16="http://schemas.microsoft.com/office/drawing/2014/main" id="{C291D896-AD15-3B6D-00A2-7D9AB6E9F4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1525"/>
          <a:stretch>
            <a:fillRect/>
          </a:stretch>
        </p:blipFill>
        <p:spPr>
          <a:xfrm>
            <a:off x="7516302" y="2617161"/>
            <a:ext cx="3318346" cy="3439151"/>
          </a:xfrm>
          <a:prstGeom prst="rect">
            <a:avLst/>
          </a:prstGeom>
        </p:spPr>
      </p:pic>
      <p:sp>
        <p:nvSpPr>
          <p:cNvPr id="52" name="Rectangle: Top Corners Rounded 51">
            <a:extLst>
              <a:ext uri="{FF2B5EF4-FFF2-40B4-BE49-F238E27FC236}">
                <a16:creationId xmlns:a16="http://schemas.microsoft.com/office/drawing/2014/main" id="{36089BE2-8BC1-8999-DBA5-178B5BA4A7BE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E0DB1B8A-9D3B-C6DA-8CAB-121554BA1BFB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🤝</a:t>
            </a:r>
            <a:r>
              <a:rPr lang="en-US" b="1" dirty="0">
                <a:solidFill>
                  <a:schemeClr val="bg1"/>
                </a:solidFill>
              </a:rPr>
              <a:t>BA Estimation: Chosen Architecture</a:t>
            </a:r>
          </a:p>
        </p:txBody>
      </p:sp>
    </p:spTree>
    <p:extLst>
      <p:ext uri="{BB962C8B-B14F-4D97-AF65-F5344CB8AC3E}">
        <p14:creationId xmlns:p14="http://schemas.microsoft.com/office/powerpoint/2010/main" val="110397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EB384-9CA5-FFF4-5902-57254A8B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80D71F-BC2F-7157-9315-790EC70EF6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63EE719-723A-B69A-5CFD-39292DAE746E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45204CF-464D-2A15-17C0-7CAC1D5D97E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BC0FCF-382F-E953-7EC0-55FA80FDC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CDBDF85-2C95-5997-B2FA-F1239F961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7F2A186-E058-FDCC-47EF-B92494B5F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dirty="0">
                <a:solidFill>
                  <a:schemeClr val="bg1"/>
                </a:solidFill>
              </a:rPr>
              <a:t>🎯 </a:t>
            </a:r>
            <a:r>
              <a:rPr lang="en-US" b="1" noProof="0" dirty="0">
                <a:solidFill>
                  <a:schemeClr val="bg1"/>
                </a:solidFill>
              </a:rPr>
              <a:t>Desired Properties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62FF3-4467-2025-2AC7-94F81584E33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A7CA102E-4C54-7455-037D-D224FEEDE74D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FF1241C-7357-01EE-9429-9F4D8BE4D664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6BD46B-5943-6D12-78A7-A0F6E94D2A8C}"/>
              </a:ext>
            </a:extLst>
          </p:cNvPr>
          <p:cNvGrpSpPr/>
          <p:nvPr/>
        </p:nvGrpSpPr>
        <p:grpSpPr>
          <a:xfrm>
            <a:off x="4961464" y="1203591"/>
            <a:ext cx="3191933" cy="2219271"/>
            <a:chOff x="5404690" y="1291711"/>
            <a:chExt cx="3191933" cy="221927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F93FFCF-0869-D07F-637A-1FFA93BC271D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66B1BF2-3959-F39F-2B4C-CCAF3F8C2AF7}"/>
                </a:ext>
              </a:extLst>
            </p:cNvPr>
            <p:cNvSpPr txBox="1"/>
            <p:nvPr/>
          </p:nvSpPr>
          <p:spPr>
            <a:xfrm>
              <a:off x="5717955" y="1981949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5866"/>
                  </a:solidFill>
                  <a:latin typeface="IBM Plex Sans"/>
                </a:rPr>
                <a:t>Binding Affinity</a:t>
              </a:r>
            </a:p>
          </p:txBody>
        </p:sp>
        <p:pic>
          <p:nvPicPr>
            <p:cNvPr id="20" name="Graphic 19" descr="Germ with solid fill">
              <a:extLst>
                <a:ext uri="{FF2B5EF4-FFF2-40B4-BE49-F238E27FC236}">
                  <a16:creationId xmlns:a16="http://schemas.microsoft.com/office/drawing/2014/main" id="{3654E73C-23AC-98BF-28A4-28238BAD75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57A3932-4E84-09FF-59F1-9D64ED4F096B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Strength of the </a:t>
              </a:r>
              <a:r>
                <a:rPr lang="en-US" b="1" dirty="0"/>
                <a:t>non-covalent interaction</a:t>
              </a:r>
              <a:r>
                <a:rPr lang="en-US" dirty="0"/>
                <a:t> between two molecules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F2B5D75-F6ED-AE10-1516-7E0EB5DCA81E}"/>
              </a:ext>
            </a:extLst>
          </p:cNvPr>
          <p:cNvGrpSpPr/>
          <p:nvPr/>
        </p:nvGrpSpPr>
        <p:grpSpPr>
          <a:xfrm>
            <a:off x="8525050" y="1203590"/>
            <a:ext cx="3191933" cy="2219271"/>
            <a:chOff x="8837422" y="1291711"/>
            <a:chExt cx="3191933" cy="2219271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4E529FFB-2FF7-EEEE-92FF-DE975468E602}"/>
                </a:ext>
              </a:extLst>
            </p:cNvPr>
            <p:cNvSpPr/>
            <p:nvPr/>
          </p:nvSpPr>
          <p:spPr>
            <a:xfrm>
              <a:off x="8837422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4F4C95A-90CC-84FC-D2E1-B8D67EC613BA}"/>
                </a:ext>
              </a:extLst>
            </p:cNvPr>
            <p:cNvSpPr txBox="1"/>
            <p:nvPr/>
          </p:nvSpPr>
          <p:spPr>
            <a:xfrm>
              <a:off x="9150687" y="1966815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rgbClr val="005866"/>
                  </a:solidFill>
                  <a:latin typeface="IBM Plex Sans"/>
                </a:rPr>
                <a:t>LogP</a:t>
              </a:r>
              <a:endParaRPr lang="en-US" sz="2400" b="1" dirty="0">
                <a:solidFill>
                  <a:srgbClr val="005866"/>
                </a:solidFill>
                <a:latin typeface="IBM Plex Sans"/>
              </a:endParaRPr>
            </a:p>
          </p:txBody>
        </p:sp>
        <p:pic>
          <p:nvPicPr>
            <p:cNvPr id="26" name="Graphic 20" descr="Ripple with solid fill">
              <a:extLst>
                <a:ext uri="{FF2B5EF4-FFF2-40B4-BE49-F238E27FC236}">
                  <a16:creationId xmlns:a16="http://schemas.microsoft.com/office/drawing/2014/main" id="{C3EBD017-3957-11DD-F12A-72D60ED526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177479" y="1412341"/>
              <a:ext cx="511818" cy="511818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0CE538-805F-3AA3-5FF8-C5461A931FC5}"/>
                </a:ext>
              </a:extLst>
            </p:cNvPr>
            <p:cNvSpPr txBox="1"/>
            <p:nvPr/>
          </p:nvSpPr>
          <p:spPr>
            <a:xfrm>
              <a:off x="8909890" y="2500499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Measures a molecule's </a:t>
              </a:r>
              <a:r>
                <a:rPr lang="en-US" b="1" dirty="0"/>
                <a:t>lipophilicity</a:t>
              </a:r>
              <a:r>
                <a:rPr lang="en-US" dirty="0"/>
                <a:t>, how well it dissolves in fats vs water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3BED64F-1B35-8312-B420-7B413F062CDD}"/>
              </a:ext>
            </a:extLst>
          </p:cNvPr>
          <p:cNvGrpSpPr/>
          <p:nvPr/>
        </p:nvGrpSpPr>
        <p:grpSpPr>
          <a:xfrm>
            <a:off x="4952997" y="3708196"/>
            <a:ext cx="3191933" cy="2219271"/>
            <a:chOff x="5404690" y="3713323"/>
            <a:chExt cx="3191933" cy="221927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110C5F4-AE1E-0882-118A-95B5BE1DAA7C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462C0A-CF90-BC21-72CC-7F894C70F353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5866"/>
                  </a:solidFill>
                  <a:latin typeface="IBM Plex Sans"/>
                </a:rPr>
                <a:t>QED</a:t>
              </a:r>
            </a:p>
          </p:txBody>
        </p:sp>
        <p:pic>
          <p:nvPicPr>
            <p:cNvPr id="32" name="Graphic 31" descr="Germ with solid fill">
              <a:extLst>
                <a:ext uri="{FF2B5EF4-FFF2-40B4-BE49-F238E27FC236}">
                  <a16:creationId xmlns:a16="http://schemas.microsoft.com/office/drawing/2014/main" id="{55E2F5C2-2957-1ABD-36BA-3FAEC18F30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E68B6D-4454-DDC0-680E-1A751B14BF5C}"/>
                </a:ext>
              </a:extLst>
            </p:cNvPr>
            <p:cNvSpPr txBox="1"/>
            <p:nvPr/>
          </p:nvSpPr>
          <p:spPr>
            <a:xfrm>
              <a:off x="5477158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 0-to-1 scoring method to map </a:t>
              </a:r>
              <a:r>
                <a:rPr lang="en-US" b="1" dirty="0"/>
                <a:t>resemblance</a:t>
              </a:r>
              <a:r>
                <a:rPr lang="en-US" dirty="0"/>
                <a:t> to known oral drugs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FEBA3C3-0B6B-7F4B-EBDC-D5F1A15801A3}"/>
              </a:ext>
            </a:extLst>
          </p:cNvPr>
          <p:cNvGrpSpPr/>
          <p:nvPr/>
        </p:nvGrpSpPr>
        <p:grpSpPr>
          <a:xfrm>
            <a:off x="8525050" y="3703644"/>
            <a:ext cx="3191933" cy="2219271"/>
            <a:chOff x="8837422" y="3713323"/>
            <a:chExt cx="3191933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A4553458-2E4E-2B0F-D59D-6E12CC21BFEC}"/>
                </a:ext>
              </a:extLst>
            </p:cNvPr>
            <p:cNvSpPr/>
            <p:nvPr/>
          </p:nvSpPr>
          <p:spPr>
            <a:xfrm>
              <a:off x="8837422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9E032F6-3D7F-A88E-C19B-10C922E6487F}"/>
                </a:ext>
              </a:extLst>
            </p:cNvPr>
            <p:cNvSpPr txBox="1"/>
            <p:nvPr/>
          </p:nvSpPr>
          <p:spPr>
            <a:xfrm>
              <a:off x="8875229" y="4438398"/>
              <a:ext cx="3116314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5866"/>
                  </a:solidFill>
                  <a:latin typeface="IBM Plex Sans"/>
                </a:rPr>
                <a:t>Hydration Free Energy</a:t>
              </a:r>
            </a:p>
          </p:txBody>
        </p:sp>
        <p:pic>
          <p:nvPicPr>
            <p:cNvPr id="36" name="Graphic 20" descr="Eye dropper with solid fill">
              <a:extLst>
                <a:ext uri="{FF2B5EF4-FFF2-40B4-BE49-F238E27FC236}">
                  <a16:creationId xmlns:a16="http://schemas.microsoft.com/office/drawing/2014/main" id="{8C1BA258-0415-8E09-A477-D861AB1875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177479" y="3849087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7D4F47C-83A4-7412-5424-AF4B6F3B6A92}"/>
                </a:ext>
              </a:extLst>
            </p:cNvPr>
            <p:cNvSpPr txBox="1"/>
            <p:nvPr/>
          </p:nvSpPr>
          <p:spPr>
            <a:xfrm>
              <a:off x="8909890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 The amount of energy released when one mole of ions undergoes </a:t>
              </a:r>
              <a:r>
                <a:rPr lang="en-US" b="1" dirty="0"/>
                <a:t>solvation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58450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A85B3-198F-C546-1994-E38FCA79C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A8D9DB-CB46-350A-3284-6D9A15C911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4CB7905-A9E7-055C-4F1D-F482EEEFA461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20C690C-A2BF-146A-BD88-EC3687696CC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1F64003-DD86-F0CB-8F69-2D43DAF7C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2C3E45D-1897-8E48-3EC2-940A46E01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D1C78D-7B51-5E67-5984-3CCE379BC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b="1" noProof="0" dirty="0">
                <a:solidFill>
                  <a:schemeClr val="bg1"/>
                </a:solidFill>
              </a:rPr>
              <a:t>🏆</a:t>
            </a:r>
            <a:r>
              <a:rPr lang="en-US" b="1" noProof="0" dirty="0">
                <a:solidFill>
                  <a:schemeClr val="bg1"/>
                </a:solidFill>
              </a:rPr>
              <a:t>Reward Functions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CAA5F1-33F3-DC95-3ED2-4B4DA4AEC96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D2853AE5-249E-9C33-EFC8-F3ED4A7022C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E277678-A6A8-AA43-FB06-963CB062AF80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7E7678-FD3E-BA8E-37E8-97B2D74F3078}"/>
              </a:ext>
            </a:extLst>
          </p:cNvPr>
          <p:cNvSpPr/>
          <p:nvPr/>
        </p:nvSpPr>
        <p:spPr>
          <a:xfrm>
            <a:off x="4961464" y="1203591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B46391-6746-80A2-146A-1982649B886E}"/>
              </a:ext>
            </a:extLst>
          </p:cNvPr>
          <p:cNvSpPr txBox="1"/>
          <p:nvPr/>
        </p:nvSpPr>
        <p:spPr>
          <a:xfrm>
            <a:off x="5274727" y="194876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Exponential</a:t>
            </a:r>
          </a:p>
        </p:txBody>
      </p:sp>
      <p:pic>
        <p:nvPicPr>
          <p:cNvPr id="20" name="Graphic 19" descr="Germ with solid fill">
            <a:extLst>
              <a:ext uri="{FF2B5EF4-FFF2-40B4-BE49-F238E27FC236}">
                <a16:creationId xmlns:a16="http://schemas.microsoft.com/office/drawing/2014/main" id="{FDB3E4B2-DA6A-D28C-3514-3DCC0B0BD8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301521" y="1339355"/>
            <a:ext cx="511818" cy="5118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67456B-CBBE-0AFA-2472-7A66DE0E1B2B}"/>
              </a:ext>
            </a:extLst>
          </p:cNvPr>
          <p:cNvSpPr txBox="1"/>
          <p:nvPr/>
        </p:nvSpPr>
        <p:spPr>
          <a:xfrm>
            <a:off x="5033932" y="2640828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Strong</a:t>
            </a:r>
            <a:r>
              <a:rPr lang="en-US" dirty="0"/>
              <a:t> push toward low binding energy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44ABD30-D284-7040-1F94-2F9C85D1839D}"/>
              </a:ext>
            </a:extLst>
          </p:cNvPr>
          <p:cNvSpPr/>
          <p:nvPr/>
        </p:nvSpPr>
        <p:spPr>
          <a:xfrm>
            <a:off x="8525050" y="1203590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2DBE22-5B95-3DAD-BD08-E86392E6AF43}"/>
              </a:ext>
            </a:extLst>
          </p:cNvPr>
          <p:cNvSpPr txBox="1"/>
          <p:nvPr/>
        </p:nvSpPr>
        <p:spPr>
          <a:xfrm>
            <a:off x="8838313" y="1934775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Linear</a:t>
            </a:r>
          </a:p>
        </p:txBody>
      </p:sp>
      <p:pic>
        <p:nvPicPr>
          <p:cNvPr id="26" name="Graphic 20" descr="Ripple with solid fill">
            <a:extLst>
              <a:ext uri="{FF2B5EF4-FFF2-40B4-BE49-F238E27FC236}">
                <a16:creationId xmlns:a16="http://schemas.microsoft.com/office/drawing/2014/main" id="{96675AE2-16D5-BAE9-D7FF-73C4EB014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865107" y="1324220"/>
            <a:ext cx="511818" cy="51181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CF67691-1528-8BDC-2D55-D3A66E5C8BD2}"/>
              </a:ext>
            </a:extLst>
          </p:cNvPr>
          <p:cNvSpPr txBox="1"/>
          <p:nvPr/>
        </p:nvSpPr>
        <p:spPr>
          <a:xfrm>
            <a:off x="8597518" y="2640827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Constant</a:t>
            </a:r>
            <a:r>
              <a:rPr lang="en-US" dirty="0"/>
              <a:t> gradient based on the score minus a threshold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3CA3C69-BC94-1ADC-1E38-FE40DE95093A}"/>
              </a:ext>
            </a:extLst>
          </p:cNvPr>
          <p:cNvSpPr/>
          <p:nvPr/>
        </p:nvSpPr>
        <p:spPr>
          <a:xfrm>
            <a:off x="4952997" y="3708196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6D1CAE-8100-4CC4-5E5D-417397680397}"/>
              </a:ext>
            </a:extLst>
          </p:cNvPr>
          <p:cNvSpPr txBox="1"/>
          <p:nvPr/>
        </p:nvSpPr>
        <p:spPr>
          <a:xfrm>
            <a:off x="5266262" y="439843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Logarithmic</a:t>
            </a:r>
          </a:p>
        </p:txBody>
      </p:sp>
      <p:pic>
        <p:nvPicPr>
          <p:cNvPr id="32" name="Graphic 31" descr="Germ with solid fill">
            <a:extLst>
              <a:ext uri="{FF2B5EF4-FFF2-40B4-BE49-F238E27FC236}">
                <a16:creationId xmlns:a16="http://schemas.microsoft.com/office/drawing/2014/main" id="{C1D10108-81A9-00D9-6C5A-9A1707DF11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293054" y="3843960"/>
            <a:ext cx="511818" cy="51181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0E0DB34-C982-7CCB-4D5E-AF9A795356BB}"/>
              </a:ext>
            </a:extLst>
          </p:cNvPr>
          <p:cNvSpPr txBox="1"/>
          <p:nvPr/>
        </p:nvSpPr>
        <p:spPr>
          <a:xfrm>
            <a:off x="5025465" y="4932118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Gentle at first </a:t>
            </a:r>
            <a:r>
              <a:rPr lang="en-US" dirty="0"/>
              <a:t>but becomes </a:t>
            </a:r>
            <a:r>
              <a:rPr lang="en-US" b="1" dirty="0"/>
              <a:t>aggressive</a:t>
            </a:r>
            <a:r>
              <a:rPr lang="en-US" dirty="0"/>
              <a:t> as scores approach zero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6CCF2E-FC42-9CA5-4B63-952D41E9BDC2}"/>
              </a:ext>
            </a:extLst>
          </p:cNvPr>
          <p:cNvSpPr/>
          <p:nvPr/>
        </p:nvSpPr>
        <p:spPr>
          <a:xfrm>
            <a:off x="8525050" y="3703644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6A0747-0256-82A3-B621-8D9B7BD4F473}"/>
              </a:ext>
            </a:extLst>
          </p:cNvPr>
          <p:cNvSpPr txBox="1"/>
          <p:nvPr/>
        </p:nvSpPr>
        <p:spPr>
          <a:xfrm>
            <a:off x="8562855" y="4486990"/>
            <a:ext cx="3116314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Squared</a:t>
            </a:r>
          </a:p>
        </p:txBody>
      </p:sp>
      <p:pic>
        <p:nvPicPr>
          <p:cNvPr id="36" name="Graphic 20" descr="Eye dropper with solid fill">
            <a:extLst>
              <a:ext uri="{FF2B5EF4-FFF2-40B4-BE49-F238E27FC236}">
                <a16:creationId xmlns:a16="http://schemas.microsoft.com/office/drawing/2014/main" id="{4E6B51D9-D41F-8A64-357C-45DFEABDAA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865107" y="3839408"/>
            <a:ext cx="511818" cy="51181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48C77B09-9833-875B-E3C5-6483EF5E986F}"/>
              </a:ext>
            </a:extLst>
          </p:cNvPr>
          <p:cNvSpPr txBox="1"/>
          <p:nvPr/>
        </p:nvSpPr>
        <p:spPr>
          <a:xfrm>
            <a:off x="8597516" y="5141295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Heavily</a:t>
            </a:r>
            <a:r>
              <a:rPr lang="en-US" dirty="0"/>
              <a:t> punishes low-quality molecules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79361776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61F6-53EB-C49F-D9C0-64D4D17A0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12D298-6574-F29F-D1A7-A62B799CCE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20FAB016-609B-1295-5CFA-0EEE5720E0B6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643AC1-0A5C-9585-A2E9-6CD1789B0A0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F23574F6-3177-0BFB-64B8-A4E6B5833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70BBD21-9E8E-8518-AC3B-26E06E9E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91C547A-3F86-F0BE-1980-134283D25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b="1" noProof="0" dirty="0">
                <a:solidFill>
                  <a:schemeClr val="bg1"/>
                </a:solidFill>
              </a:rPr>
              <a:t>🏆</a:t>
            </a:r>
            <a:r>
              <a:rPr lang="en-US" b="1" noProof="0" dirty="0">
                <a:solidFill>
                  <a:schemeClr val="bg1"/>
                </a:solidFill>
              </a:rPr>
              <a:t>Reward Strategies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9022B3-06A5-06ED-1187-7B9B91490F5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27A2F29-3C8E-E83A-CE6F-738C47D459A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3B571FEF-0896-1192-2373-1F56B6940CED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C20A607-EE69-9341-83D9-25F19CEE8651}"/>
              </a:ext>
            </a:extLst>
          </p:cNvPr>
          <p:cNvSpPr/>
          <p:nvPr/>
        </p:nvSpPr>
        <p:spPr>
          <a:xfrm>
            <a:off x="5056081" y="2215362"/>
            <a:ext cx="3191933" cy="2907019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576B7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0EEA69-A3A8-B3F4-CB75-BE717A4FEA31}"/>
              </a:ext>
            </a:extLst>
          </p:cNvPr>
          <p:cNvSpPr txBox="1"/>
          <p:nvPr/>
        </p:nvSpPr>
        <p:spPr>
          <a:xfrm>
            <a:off x="5347202" y="2951029"/>
            <a:ext cx="2565401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576B7C"/>
                </a:solidFill>
                <a:latin typeface="IBM Plex Sans"/>
              </a:rPr>
              <a:t>Weighted Sum</a:t>
            </a:r>
          </a:p>
          <a:p>
            <a:pPr algn="ctr"/>
            <a:r>
              <a:rPr lang="en-US" sz="2400" b="1" dirty="0">
                <a:solidFill>
                  <a:srgbClr val="576B7C"/>
                </a:solidFill>
                <a:latin typeface="IBM Plex Sans"/>
              </a:rPr>
              <a:t>Rewards</a:t>
            </a:r>
          </a:p>
        </p:txBody>
      </p:sp>
      <p:pic>
        <p:nvPicPr>
          <p:cNvPr id="20" name="Graphic 19" descr="Add with solid fill">
            <a:extLst>
              <a:ext uri="{FF2B5EF4-FFF2-40B4-BE49-F238E27FC236}">
                <a16:creationId xmlns:a16="http://schemas.microsoft.com/office/drawing/2014/main" id="{34257A1B-E967-2162-FCAB-4B566A0DDB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373994" y="2335991"/>
            <a:ext cx="511818" cy="5118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A1ABF25-F10A-6A86-AB30-30E55F3937CB}"/>
              </a:ext>
            </a:extLst>
          </p:cNvPr>
          <p:cNvSpPr txBox="1"/>
          <p:nvPr/>
        </p:nvSpPr>
        <p:spPr>
          <a:xfrm>
            <a:off x="5106405" y="3992081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Among all the</a:t>
            </a:r>
            <a:r>
              <a:rPr lang="en-US" dirty="0">
                <a:solidFill>
                  <a:srgbClr val="576B7C"/>
                </a:solidFill>
              </a:rPr>
              <a:t> </a:t>
            </a:r>
            <a:r>
              <a:rPr lang="en-US" b="1" dirty="0">
                <a:solidFill>
                  <a:srgbClr val="576B7C"/>
                </a:solidFill>
              </a:rPr>
              <a:t>Desired Properties</a:t>
            </a:r>
            <a:r>
              <a:rPr lang="en-US" dirty="0"/>
              <a:t>, with fixed weights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88CE7CA-F014-B99C-3FA2-BAC2E52F5AB0}"/>
              </a:ext>
            </a:extLst>
          </p:cNvPr>
          <p:cNvSpPr/>
          <p:nvPr/>
        </p:nvSpPr>
        <p:spPr>
          <a:xfrm>
            <a:off x="8525050" y="2215361"/>
            <a:ext cx="3191933" cy="2907020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576B7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DA2C61-EF52-CFE6-237B-E6AC2E13F0B2}"/>
              </a:ext>
            </a:extLst>
          </p:cNvPr>
          <p:cNvSpPr txBox="1"/>
          <p:nvPr/>
        </p:nvSpPr>
        <p:spPr>
          <a:xfrm>
            <a:off x="8838313" y="2946546"/>
            <a:ext cx="2565401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576B7C"/>
                </a:solidFill>
                <a:latin typeface="IBM Plex Sans"/>
              </a:rPr>
              <a:t>Alternating Rewards</a:t>
            </a:r>
          </a:p>
        </p:txBody>
      </p:sp>
      <p:pic>
        <p:nvPicPr>
          <p:cNvPr id="26" name="Graphic 20" descr="Repeat with solid fill">
            <a:extLst>
              <a:ext uri="{FF2B5EF4-FFF2-40B4-BE49-F238E27FC236}">
                <a16:creationId xmlns:a16="http://schemas.microsoft.com/office/drawing/2014/main" id="{07D4AB63-96BE-5FC5-82E2-A6031D314A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865107" y="2335991"/>
            <a:ext cx="511818" cy="51181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04B0366-B63F-43E9-512D-8021DAEF3192}"/>
              </a:ext>
            </a:extLst>
          </p:cNvPr>
          <p:cNvSpPr txBox="1"/>
          <p:nvPr/>
        </p:nvSpPr>
        <p:spPr>
          <a:xfrm>
            <a:off x="8561283" y="3908563"/>
            <a:ext cx="31194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All weights are set to </a:t>
            </a:r>
            <a:r>
              <a:rPr lang="en-US" b="1" dirty="0">
                <a:solidFill>
                  <a:srgbClr val="576B7C"/>
                </a:solidFill>
              </a:rPr>
              <a:t>0</a:t>
            </a:r>
            <a:r>
              <a:rPr lang="en-US" dirty="0"/>
              <a:t> except for </a:t>
            </a:r>
            <a:r>
              <a:rPr lang="en-US" b="1" dirty="0">
                <a:solidFill>
                  <a:srgbClr val="576B7C"/>
                </a:solidFill>
              </a:rPr>
              <a:t>one</a:t>
            </a:r>
            <a:r>
              <a:rPr lang="en-US" dirty="0"/>
              <a:t> specific property, which is cycled at regular intervals</a:t>
            </a:r>
          </a:p>
        </p:txBody>
      </p:sp>
    </p:spTree>
    <p:extLst>
      <p:ext uri="{BB962C8B-B14F-4D97-AF65-F5344CB8AC3E}">
        <p14:creationId xmlns:p14="http://schemas.microsoft.com/office/powerpoint/2010/main" val="39036622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5FF2-1F3C-DF10-16BD-BF98DC01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49E74B-789A-3A23-E983-47E2ED5A9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7E2F80E-21A6-D0E9-DCB2-3624D899837E}"/>
              </a:ext>
            </a:extLst>
          </p:cNvPr>
          <p:cNvSpPr/>
          <p:nvPr/>
        </p:nvSpPr>
        <p:spPr>
          <a:xfrm rot="10800000">
            <a:off x="-4" y="-7"/>
            <a:ext cx="8153403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B359CC6-ACEE-3D19-1850-641D630A6D7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21648C2-F60A-0E56-4D9C-DD8A04D9C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33A3F2-340B-35C5-E965-CC45412F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2456E3F-FFEB-B60B-4344-55F80DF2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815340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noProof="0" dirty="0">
                <a:solidFill>
                  <a:schemeClr val="bg1"/>
                </a:solidFill>
              </a:rPr>
              <a:t>🤖</a:t>
            </a:r>
            <a:r>
              <a:rPr lang="en-US" b="1" noProof="0" dirty="0">
                <a:solidFill>
                  <a:schemeClr val="bg1"/>
                </a:solidFill>
              </a:rPr>
              <a:t>The RL </a:t>
            </a:r>
            <a:r>
              <a:rPr lang="en-US" b="1" dirty="0">
                <a:solidFill>
                  <a:schemeClr val="bg1"/>
                </a:solidFill>
              </a:rPr>
              <a:t>Model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821B6-7382-19A6-BC34-5C0A1F74529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84FBC0C-909E-0284-7159-13CDDEE86B8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DDCC8A1-9D2F-F021-4E02-9A644F0F884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589A0A-CB6C-9C00-15DE-13D992C97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990" y="2444818"/>
            <a:ext cx="5391166" cy="3475064"/>
          </a:xfrm>
          <a:prstGeom prst="rect">
            <a:avLst/>
          </a:prstGeom>
        </p:spPr>
      </p:pic>
      <p:pic>
        <p:nvPicPr>
          <p:cNvPr id="2" name="Picture 2" descr="undefined">
            <a:extLst>
              <a:ext uri="{FF2B5EF4-FFF2-40B4-BE49-F238E27FC236}">
                <a16:creationId xmlns:a16="http://schemas.microsoft.com/office/drawing/2014/main" id="{0A8349DA-EFC6-04CA-3620-49A9772F00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699" b="1990"/>
          <a:stretch>
            <a:fillRect/>
          </a:stretch>
        </p:blipFill>
        <p:spPr bwMode="auto">
          <a:xfrm>
            <a:off x="205409" y="1214226"/>
            <a:ext cx="5176530" cy="61806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rrow: Curved Right 4">
            <a:extLst>
              <a:ext uri="{FF2B5EF4-FFF2-40B4-BE49-F238E27FC236}">
                <a16:creationId xmlns:a16="http://schemas.microsoft.com/office/drawing/2014/main" id="{298E78A2-B713-822F-9FAD-7A8121EF254E}"/>
              </a:ext>
            </a:extLst>
          </p:cNvPr>
          <p:cNvSpPr/>
          <p:nvPr/>
        </p:nvSpPr>
        <p:spPr>
          <a:xfrm rot="19681607">
            <a:off x="772857" y="2241724"/>
            <a:ext cx="614597" cy="1918741"/>
          </a:xfrm>
          <a:prstGeom prst="curvedRightArrow">
            <a:avLst>
              <a:gd name="adj1" fmla="val 20175"/>
              <a:gd name="adj2" fmla="val 41322"/>
              <a:gd name="adj3" fmla="val 25000"/>
            </a:avLst>
          </a:prstGeom>
          <a:solidFill>
            <a:srgbClr val="96BF0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5674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1672A-AE53-F199-4AE5-74F994239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24162252-F1D4-AFE8-1C9F-157631501FC4}"/>
              </a:ext>
            </a:extLst>
          </p:cNvPr>
          <p:cNvCxnSpPr>
            <a:cxnSpLocks/>
          </p:cNvCxnSpPr>
          <p:nvPr/>
        </p:nvCxnSpPr>
        <p:spPr>
          <a:xfrm>
            <a:off x="6000750" y="3748431"/>
            <a:ext cx="0" cy="107904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540245F-F151-8891-50A8-6C74B4D5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E58FC4D-35A6-16EF-1250-F20404C6B266}"/>
              </a:ext>
            </a:extLst>
          </p:cNvPr>
          <p:cNvSpPr/>
          <p:nvPr/>
        </p:nvSpPr>
        <p:spPr>
          <a:xfrm rot="10800000">
            <a:off x="-5" y="-7"/>
            <a:ext cx="8260250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584EC1-F0D1-EAA6-F9E3-6505FFF1AE3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CABD7BB-AB83-E8DB-4E46-800B5DE99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3E92D06-7840-6A86-A34A-5E0A7D52D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D17FBCF-FF00-A81C-8766-97EF11693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1" y="-227754"/>
            <a:ext cx="8260251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🤖</a:t>
            </a:r>
            <a:r>
              <a:rPr lang="en-US" b="1" dirty="0">
                <a:solidFill>
                  <a:schemeClr val="bg1"/>
                </a:solidFill>
              </a:rPr>
              <a:t>The RL Model </a:t>
            </a:r>
            <a:r>
              <a:rPr lang="en-US" b="1" noProof="0" dirty="0">
                <a:solidFill>
                  <a:schemeClr val="bg1"/>
                </a:solidFill>
              </a:rPr>
              <a:t>: </a:t>
            </a:r>
            <a:r>
              <a:rPr lang="it-IT" noProof="0" dirty="0">
                <a:solidFill>
                  <a:schemeClr val="bg1"/>
                </a:solidFill>
              </a:rPr>
              <a:t>💪</a:t>
            </a:r>
            <a:r>
              <a:rPr lang="en-US" b="1" dirty="0">
                <a:solidFill>
                  <a:schemeClr val="bg1"/>
                </a:solidFill>
              </a:rPr>
              <a:t>REINFORCE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B0B18C-4744-FE3D-44D6-9018F7296A3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B826E4D-0BD4-A686-3789-828D2CACF1A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2A0A61A-7239-D4FB-EC56-BC352871897C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7D06C0C-5932-76D5-573B-587856A05CBC}"/>
              </a:ext>
            </a:extLst>
          </p:cNvPr>
          <p:cNvGrpSpPr/>
          <p:nvPr/>
        </p:nvGrpSpPr>
        <p:grpSpPr>
          <a:xfrm>
            <a:off x="846666" y="1397444"/>
            <a:ext cx="5377686" cy="903985"/>
            <a:chOff x="982132" y="1169690"/>
            <a:chExt cx="5377686" cy="90398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C3DC7DE-6C15-EB4C-5B76-6AE22D938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86968" y="1226981"/>
              <a:ext cx="5372850" cy="846694"/>
            </a:xfrm>
            <a:prstGeom prst="rect">
              <a:avLst/>
            </a:prstGeom>
          </p:spPr>
        </p:pic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869DADE-32FA-9A9F-959A-B9C804476F32}"/>
                </a:ext>
              </a:extLst>
            </p:cNvPr>
            <p:cNvSpPr/>
            <p:nvPr/>
          </p:nvSpPr>
          <p:spPr>
            <a:xfrm>
              <a:off x="982132" y="1169690"/>
              <a:ext cx="5372849" cy="881983"/>
            </a:xfrm>
            <a:prstGeom prst="roundRect">
              <a:avLst/>
            </a:prstGeom>
            <a:noFill/>
            <a:ln w="38100">
              <a:solidFill>
                <a:srgbClr val="F0A76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E18A34F-872E-B77A-97EF-3700C2FFC3AC}"/>
              </a:ext>
            </a:extLst>
          </p:cNvPr>
          <p:cNvSpPr txBox="1"/>
          <p:nvPr/>
        </p:nvSpPr>
        <p:spPr>
          <a:xfrm>
            <a:off x="2030477" y="1039613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0A76D"/>
                </a:solidFill>
              </a:rPr>
              <a:t>Expected Reward Function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03420EB-38BC-E85B-1153-E505DC76CDFD}"/>
              </a:ext>
            </a:extLst>
          </p:cNvPr>
          <p:cNvGrpSpPr/>
          <p:nvPr/>
        </p:nvGrpSpPr>
        <p:grpSpPr>
          <a:xfrm>
            <a:off x="455504" y="3040195"/>
            <a:ext cx="6126482" cy="708236"/>
            <a:chOff x="626532" y="2855713"/>
            <a:chExt cx="6126482" cy="70823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11869D4-F4BF-1B6C-2533-5A6BFEDAE1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5661" y="2887491"/>
              <a:ext cx="6057353" cy="658549"/>
            </a:xfrm>
            <a:prstGeom prst="rect">
              <a:avLst/>
            </a:prstGeom>
          </p:spPr>
        </p:pic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FF95137-7424-31EA-1372-705A4036B7B2}"/>
                </a:ext>
              </a:extLst>
            </p:cNvPr>
            <p:cNvSpPr/>
            <p:nvPr/>
          </p:nvSpPr>
          <p:spPr>
            <a:xfrm>
              <a:off x="626532" y="2855713"/>
              <a:ext cx="6126482" cy="708236"/>
            </a:xfrm>
            <a:prstGeom prst="roundRect">
              <a:avLst/>
            </a:prstGeom>
            <a:noFill/>
            <a:ln w="38100">
              <a:solidFill>
                <a:srgbClr val="F0A76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DC59B5-7006-BEF5-545F-CE727808B257}"/>
              </a:ext>
            </a:extLst>
          </p:cNvPr>
          <p:cNvCxnSpPr>
            <a:cxnSpLocks/>
            <a:stCxn id="5" idx="2"/>
            <a:endCxn id="19" idx="0"/>
          </p:cNvCxnSpPr>
          <p:nvPr/>
        </p:nvCxnSpPr>
        <p:spPr>
          <a:xfrm flipH="1">
            <a:off x="3518745" y="2279427"/>
            <a:ext cx="14346" cy="760768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A05C065-5296-FF1E-B197-F8CE6C176F40}"/>
              </a:ext>
            </a:extLst>
          </p:cNvPr>
          <p:cNvSpPr txBox="1"/>
          <p:nvPr/>
        </p:nvSpPr>
        <p:spPr>
          <a:xfrm>
            <a:off x="2336561" y="2475145"/>
            <a:ext cx="2534986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b="1" i="1" dirty="0"/>
              <a:t>S has exponential size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0FB4DF-9F8D-6B57-0761-1A09FD219466}"/>
              </a:ext>
            </a:extLst>
          </p:cNvPr>
          <p:cNvGrpSpPr/>
          <p:nvPr/>
        </p:nvGrpSpPr>
        <p:grpSpPr>
          <a:xfrm>
            <a:off x="455503" y="4831844"/>
            <a:ext cx="4172532" cy="790191"/>
            <a:chOff x="1471980" y="4885649"/>
            <a:chExt cx="4172532" cy="790191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89886614-EB36-574A-E822-630EFF322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1980" y="4885649"/>
              <a:ext cx="4172532" cy="781159"/>
            </a:xfrm>
            <a:prstGeom prst="rect">
              <a:avLst/>
            </a:prstGeom>
          </p:spPr>
        </p:pic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EE1D3F80-C0DA-C081-0C41-B736678EF34A}"/>
                </a:ext>
              </a:extLst>
            </p:cNvPr>
            <p:cNvSpPr/>
            <p:nvPr/>
          </p:nvSpPr>
          <p:spPr>
            <a:xfrm>
              <a:off x="1471980" y="4885649"/>
              <a:ext cx="4172532" cy="790191"/>
            </a:xfrm>
            <a:prstGeom prst="roundRect">
              <a:avLst/>
            </a:prstGeom>
            <a:noFill/>
            <a:ln w="38100">
              <a:solidFill>
                <a:srgbClr val="7CA0B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D2FAABBE-A3F1-D6B1-8470-78DF60ACA9BF}"/>
              </a:ext>
            </a:extLst>
          </p:cNvPr>
          <p:cNvSpPr txBox="1"/>
          <p:nvPr/>
        </p:nvSpPr>
        <p:spPr>
          <a:xfrm>
            <a:off x="968803" y="4473487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CA0B5"/>
                </a:solidFill>
              </a:rPr>
              <a:t>Differentiation Rule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8205919-1E2A-9900-72AA-1DA68CF89844}"/>
              </a:ext>
            </a:extLst>
          </p:cNvPr>
          <p:cNvGrpSpPr/>
          <p:nvPr/>
        </p:nvGrpSpPr>
        <p:grpSpPr>
          <a:xfrm>
            <a:off x="5302911" y="4827477"/>
            <a:ext cx="6771911" cy="808100"/>
            <a:chOff x="5312697" y="4571481"/>
            <a:chExt cx="6771911" cy="808100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AB3868C-339F-FA60-E2CA-71C025C615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62515" y="4589390"/>
              <a:ext cx="6672276" cy="790191"/>
            </a:xfrm>
            <a:prstGeom prst="rect">
              <a:avLst/>
            </a:prstGeom>
          </p:spPr>
        </p:pic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EB330A62-FE55-1667-E5F4-95F0FF1B73EF}"/>
                </a:ext>
              </a:extLst>
            </p:cNvPr>
            <p:cNvSpPr/>
            <p:nvPr/>
          </p:nvSpPr>
          <p:spPr>
            <a:xfrm>
              <a:off x="5312697" y="4571481"/>
              <a:ext cx="6771911" cy="797163"/>
            </a:xfrm>
            <a:prstGeom prst="roundRect">
              <a:avLst/>
            </a:prstGeom>
            <a:noFill/>
            <a:ln w="38100">
              <a:solidFill>
                <a:srgbClr val="B6A4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9EB0FEA5-0B84-D295-BACB-1643F45627AF}"/>
              </a:ext>
            </a:extLst>
          </p:cNvPr>
          <p:cNvSpPr txBox="1"/>
          <p:nvPr/>
        </p:nvSpPr>
        <p:spPr>
          <a:xfrm>
            <a:off x="7210290" y="4473487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B6A491"/>
                </a:solidFill>
              </a:rPr>
              <a:t>Gradient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9ADA93C-D198-EDB1-2E83-84CEB7C57777}"/>
              </a:ext>
            </a:extLst>
          </p:cNvPr>
          <p:cNvCxnSpPr>
            <a:cxnSpLocks/>
            <a:stCxn id="27" idx="3"/>
            <a:endCxn id="37" idx="1"/>
          </p:cNvCxnSpPr>
          <p:nvPr/>
        </p:nvCxnSpPr>
        <p:spPr>
          <a:xfrm flipV="1">
            <a:off x="4628035" y="5226059"/>
            <a:ext cx="674876" cy="88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45512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D3B-8B2C-FA0D-389E-8A5CB15AB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2">
            <a:extLst>
              <a:ext uri="{FF2B5EF4-FFF2-40B4-BE49-F238E27FC236}">
                <a16:creationId xmlns:a16="http://schemas.microsoft.com/office/drawing/2014/main" id="{7FEDF4B4-29E4-282B-0498-F337477A4D59}"/>
              </a:ext>
            </a:extLst>
          </p:cNvPr>
          <p:cNvCxnSpPr>
            <a:cxnSpLocks/>
          </p:cNvCxnSpPr>
          <p:nvPr/>
        </p:nvCxnSpPr>
        <p:spPr>
          <a:xfrm>
            <a:off x="384628" y="2932519"/>
            <a:ext cx="5788833" cy="2631088"/>
          </a:xfrm>
          <a:prstGeom prst="bentConnector3">
            <a:avLst>
              <a:gd name="adj1" fmla="val 90242"/>
            </a:avLst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42F8BC5-43C3-D255-65A2-651E6365548E}"/>
              </a:ext>
            </a:extLst>
          </p:cNvPr>
          <p:cNvSpPr/>
          <p:nvPr/>
        </p:nvSpPr>
        <p:spPr>
          <a:xfrm rot="10800000">
            <a:off x="-14" y="-19"/>
            <a:ext cx="752572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C6A98D-25E7-EE2D-141B-2C5314C7331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7C722FA-B8F4-2F35-5F40-352C48FD3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72B9BA04-27FC-D3EA-9892-33D559BE6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93D84F-957E-01F5-022A-1DABFEC89273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6AB025-85A2-525B-3497-F1463FE04DD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29D47F1-A297-0B2E-5F27-E6C19904B67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7EA09A-A41F-9068-1850-67BA97302EA9}"/>
              </a:ext>
            </a:extLst>
          </p:cNvPr>
          <p:cNvSpPr txBox="1">
            <a:spLocks/>
          </p:cNvSpPr>
          <p:nvPr/>
        </p:nvSpPr>
        <p:spPr>
          <a:xfrm>
            <a:off x="-73022" y="-215142"/>
            <a:ext cx="822642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💡</a:t>
            </a:r>
            <a:r>
              <a:rPr lang="en-US" b="1" dirty="0">
                <a:solidFill>
                  <a:schemeClr val="bg1"/>
                </a:solidFill>
              </a:rPr>
              <a:t>The Idea: </a:t>
            </a:r>
            <a:r>
              <a:rPr lang="it-IT" dirty="0">
                <a:solidFill>
                  <a:schemeClr val="bg1"/>
                </a:solidFill>
              </a:rPr>
              <a:t>🔎</a:t>
            </a:r>
            <a:r>
              <a:rPr lang="it-IT" b="1" dirty="0" err="1">
                <a:solidFill>
                  <a:schemeClr val="bg1"/>
                </a:solidFill>
              </a:rPr>
              <a:t>Interpretability</a:t>
            </a:r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50126F-FCB2-6BFA-33D1-39E46CDC21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604" r="15586"/>
          <a:stretch>
            <a:fillRect/>
          </a:stretch>
        </p:blipFill>
        <p:spPr>
          <a:xfrm>
            <a:off x="6173461" y="3629498"/>
            <a:ext cx="5856514" cy="213293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37A4EAD-455E-5483-C049-2CC0BD26D2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2599"/>
          <a:stretch>
            <a:fillRect/>
          </a:stretch>
        </p:blipFill>
        <p:spPr>
          <a:xfrm>
            <a:off x="1918095" y="3151998"/>
            <a:ext cx="9357397" cy="135265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0C19390-2C0E-DD5B-8117-3E227B05EFD2}"/>
              </a:ext>
            </a:extLst>
          </p:cNvPr>
          <p:cNvCxnSpPr>
            <a:cxnSpLocks/>
            <a:endCxn id="19" idx="1"/>
          </p:cNvCxnSpPr>
          <p:nvPr/>
        </p:nvCxnSpPr>
        <p:spPr>
          <a:xfrm rot="16200000" flipH="1">
            <a:off x="1004227" y="2914457"/>
            <a:ext cx="1186898" cy="640838"/>
          </a:xfrm>
          <a:prstGeom prst="bentConnector2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A0808B4-3BDA-F2EF-5CD2-FA4B9DEDB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398" y="1095567"/>
            <a:ext cx="9467909" cy="182286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47F9671-236D-00C6-29E7-B70896C2A6AE}"/>
              </a:ext>
            </a:extLst>
          </p:cNvPr>
          <p:cNvSpPr txBox="1"/>
          <p:nvPr/>
        </p:nvSpPr>
        <p:spPr>
          <a:xfrm>
            <a:off x="769299" y="4982152"/>
            <a:ext cx="43770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“Better understanding of the </a:t>
            </a:r>
          </a:p>
          <a:p>
            <a:r>
              <a:rPr lang="en-US" sz="2400" i="1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decision-making processes”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2729029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1CB39-5100-0823-EFB2-473CD55C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1622D09-68D7-2F8C-4E6A-06D72912D8F2}"/>
              </a:ext>
            </a:extLst>
          </p:cNvPr>
          <p:cNvSpPr/>
          <p:nvPr/>
        </p:nvSpPr>
        <p:spPr>
          <a:xfrm rot="10800000">
            <a:off x="-17" y="-24"/>
            <a:ext cx="734153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679DD65-E236-1972-72F6-4E3EC3B13979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899E4650-46CE-0E5A-7AAA-53B3726F2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BFDD3A0-9FA4-0F57-B704-EDD0CB6D0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A59F14-21F3-A362-1E04-69745330B7E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3DB2CC1-0D3F-4EA2-B989-623983B2F2D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5D953E6-FCAC-1C5E-7B6E-03E4C9257F3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DEB2F0-CC5E-1E9C-1F7F-3F2031AFD642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10143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🔎</a:t>
            </a:r>
            <a:r>
              <a:rPr lang="it-IT" b="1" dirty="0" err="1">
                <a:solidFill>
                  <a:schemeClr val="bg1"/>
                </a:solidFill>
              </a:rPr>
              <a:t>Interpretability</a:t>
            </a:r>
            <a:r>
              <a:rPr lang="it-IT" b="1" dirty="0">
                <a:solidFill>
                  <a:schemeClr val="bg1"/>
                </a:solidFill>
              </a:rPr>
              <a:t>: 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FF8E55-9A78-EC00-201B-DFF13F699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08" y="1351268"/>
            <a:ext cx="10927984" cy="4155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397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5E8D7-ACFC-AE5A-97D4-6E59268D3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8D0FA69-B9D6-0F58-84A7-757190594C74}"/>
              </a:ext>
            </a:extLst>
          </p:cNvPr>
          <p:cNvSpPr/>
          <p:nvPr/>
        </p:nvSpPr>
        <p:spPr>
          <a:xfrm rot="10800000">
            <a:off x="-14" y="-21"/>
            <a:ext cx="7887536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C7F6AD-303A-EE2B-3ACD-FB7A8749741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C9FA89D-40DE-FB88-97D6-88FCB9A29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119E476-D88A-2710-ADB6-76D8AC7D9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32C764-F92C-2B45-3F71-CCAF4E4C9D6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7B55B6B-F77B-7886-9BD9-12F59E535CD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1A85E682-DC64-7746-5C5E-F6C509FF00B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7D4493-1251-141B-DA40-744A11E8F679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b="1" dirty="0">
                <a:solidFill>
                  <a:schemeClr val="bg1"/>
                </a:solidFill>
              </a:rPr>
              <a:t>🏗️</a:t>
            </a:r>
            <a:r>
              <a:rPr lang="en-US" b="1" dirty="0">
                <a:solidFill>
                  <a:schemeClr val="bg1"/>
                </a:solidFill>
              </a:rPr>
              <a:t>The Architecture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261236-BBE5-1868-D63A-118474749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3381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82315-82FA-FA9A-5FAE-BAA6CB420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6ED48B-DF42-2229-A95C-E52C5372BB4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DB2F63C-033C-D9A6-AA02-0D850112A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54C88DC-4F9C-8B7D-A85C-00E8BA0EC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22AEB2-83D9-9AE8-9339-4F196D8E6B89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6AE9617-07A8-6EDE-C0F2-1F0F573A4A28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AA23B14-2508-4883-4154-FF8B2B4727C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5FA706-146C-B99D-BCAC-3A06CB82B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224262"/>
            <a:ext cx="11902190" cy="3493774"/>
          </a:xfrm>
          <a:prstGeom prst="rect">
            <a:avLst/>
          </a:prstGeom>
        </p:spPr>
      </p:pic>
      <p:sp>
        <p:nvSpPr>
          <p:cNvPr id="25" name="Rectangle: Top Corners Rounded 24">
            <a:extLst>
              <a:ext uri="{FF2B5EF4-FFF2-40B4-BE49-F238E27FC236}">
                <a16:creationId xmlns:a16="http://schemas.microsoft.com/office/drawing/2014/main" id="{3A86BA50-D473-B1C8-8496-CA468FE9BFD4}"/>
              </a:ext>
            </a:extLst>
          </p:cNvPr>
          <p:cNvSpPr/>
          <p:nvPr/>
        </p:nvSpPr>
        <p:spPr>
          <a:xfrm rot="10800000">
            <a:off x="-18" y="-26"/>
            <a:ext cx="1086816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6C2FEEA1-5F98-499F-7D4D-8157E0E93451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096688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dirty="0">
                <a:solidFill>
                  <a:schemeClr val="bg1"/>
                </a:solidFill>
              </a:rPr>
              <a:t>🏋️</a:t>
            </a:r>
            <a:r>
              <a:rPr lang="en-US" b="1" dirty="0">
                <a:solidFill>
                  <a:schemeClr val="bg1"/>
                </a:solidFill>
              </a:rPr>
              <a:t>The Training (Self-Supervised)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D9FC4C-E90D-5794-B3C4-1E00F1A73026}"/>
              </a:ext>
            </a:extLst>
          </p:cNvPr>
          <p:cNvSpPr txBox="1"/>
          <p:nvPr/>
        </p:nvSpPr>
        <p:spPr>
          <a:xfrm>
            <a:off x="8065604" y="4968206"/>
            <a:ext cx="3833191" cy="1021556"/>
          </a:xfrm>
          <a:prstGeom prst="roundRect">
            <a:avLst/>
          </a:prstGeom>
          <a:ln w="38100">
            <a:solidFill>
              <a:srgbClr val="8168A1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After convergence becomes the </a:t>
            </a:r>
            <a:r>
              <a:rPr lang="en-US" b="1" dirty="0">
                <a:solidFill>
                  <a:srgbClr val="8168A1"/>
                </a:solidFill>
              </a:rPr>
              <a:t>expert policy </a:t>
            </a:r>
            <a:r>
              <a:rPr lang="en-US" dirty="0"/>
              <a:t>to collect the state-action pairs from the environment</a:t>
            </a:r>
          </a:p>
        </p:txBody>
      </p:sp>
    </p:spTree>
    <p:extLst>
      <p:ext uri="{BB962C8B-B14F-4D97-AF65-F5344CB8AC3E}">
        <p14:creationId xmlns:p14="http://schemas.microsoft.com/office/powerpoint/2010/main" val="33024230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2ADC0-F47B-898C-846B-7724C9CC9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F1140A0-F665-F10F-4525-95BC84D5E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3A39F7-DC87-2133-5BE8-F103A4B8341B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93096C-CB4D-0AC0-F24B-B48F3B5818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626090">
            <a:off x="7717017" y="3178316"/>
            <a:ext cx="417035" cy="45465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FAF22195-EE6B-3653-1336-8EF0AC199F1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9731B267-C1DE-9E02-DF34-4CA5C177C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8C6543FD-0AE1-CA4C-95FA-5D00D1F8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7E0F85-3255-D61B-7499-6D739337DBA2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B413D9E-21EC-79B8-1548-64D5A13B234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DCFBB14-D939-6674-1CFF-8F7BF2C7729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5" name="Rectangle: Top Corners Rounded 24">
            <a:extLst>
              <a:ext uri="{FF2B5EF4-FFF2-40B4-BE49-F238E27FC236}">
                <a16:creationId xmlns:a16="http://schemas.microsoft.com/office/drawing/2014/main" id="{CADEA51A-7FE2-E133-E1BF-D102BFAEAB11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D3128FD3-DECF-E87C-9C34-DD981C55738B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🏋️ </a:t>
            </a:r>
            <a:r>
              <a:rPr lang="en-US" b="1" dirty="0">
                <a:solidFill>
                  <a:schemeClr val="bg1"/>
                </a:solidFill>
              </a:rPr>
              <a:t>The Training: </a:t>
            </a:r>
            <a:r>
              <a:rPr lang="it-IT" b="1" dirty="0">
                <a:solidFill>
                  <a:schemeClr val="bg1"/>
                </a:solidFill>
              </a:rPr>
              <a:t>Stage 1🎭 The Actor Network</a:t>
            </a:r>
            <a:endParaRPr lang="en-US" b="1" dirty="0">
              <a:solidFill>
                <a:schemeClr val="bg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EFDADB-B7DF-9061-A26D-D729F8166756}"/>
              </a:ext>
            </a:extLst>
          </p:cNvPr>
          <p:cNvCxnSpPr>
            <a:cxnSpLocks/>
          </p:cNvCxnSpPr>
          <p:nvPr/>
        </p:nvCxnSpPr>
        <p:spPr>
          <a:xfrm flipV="1">
            <a:off x="795073" y="1835149"/>
            <a:ext cx="0" cy="65537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08D7477-6BEB-B5B6-5D4B-5E37E6F6365E}"/>
              </a:ext>
            </a:extLst>
          </p:cNvPr>
          <p:cNvCxnSpPr>
            <a:cxnSpLocks/>
          </p:cNvCxnSpPr>
          <p:nvPr/>
        </p:nvCxnSpPr>
        <p:spPr>
          <a:xfrm flipH="1">
            <a:off x="772779" y="1854194"/>
            <a:ext cx="7181248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330D370-906A-DC5F-D3C5-9EB79ED93DF4}"/>
              </a:ext>
            </a:extLst>
          </p:cNvPr>
          <p:cNvCxnSpPr>
            <a:cxnSpLocks/>
          </p:cNvCxnSpPr>
          <p:nvPr/>
        </p:nvCxnSpPr>
        <p:spPr>
          <a:xfrm>
            <a:off x="9345921" y="3610325"/>
            <a:ext cx="719057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ED0BBB8-5611-77F7-0998-198544362E33}"/>
              </a:ext>
            </a:extLst>
          </p:cNvPr>
          <p:cNvCxnSpPr>
            <a:cxnSpLocks/>
          </p:cNvCxnSpPr>
          <p:nvPr/>
        </p:nvCxnSpPr>
        <p:spPr>
          <a:xfrm>
            <a:off x="10418203" y="3603746"/>
            <a:ext cx="71247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F036A2E-2BA3-7044-B877-74528A0F9EE7}"/>
              </a:ext>
            </a:extLst>
          </p:cNvPr>
          <p:cNvCxnSpPr>
            <a:cxnSpLocks/>
          </p:cNvCxnSpPr>
          <p:nvPr/>
        </p:nvCxnSpPr>
        <p:spPr>
          <a:xfrm>
            <a:off x="11260240" y="3610325"/>
            <a:ext cx="54801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2C3AEA-F912-4D70-03F4-89BECBF11AEC}"/>
              </a:ext>
            </a:extLst>
          </p:cNvPr>
          <p:cNvCxnSpPr>
            <a:cxnSpLocks/>
          </p:cNvCxnSpPr>
          <p:nvPr/>
        </p:nvCxnSpPr>
        <p:spPr>
          <a:xfrm flipV="1">
            <a:off x="7929333" y="1835148"/>
            <a:ext cx="0" cy="179722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DE44C06-66F0-E692-AE1B-D467FA20F2C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26DC38E-A5C8-865D-7917-D21DD0BC3CD5}"/>
              </a:ext>
            </a:extLst>
          </p:cNvPr>
          <p:cNvCxnSpPr>
            <a:cxnSpLocks/>
          </p:cNvCxnSpPr>
          <p:nvPr/>
        </p:nvCxnSpPr>
        <p:spPr>
          <a:xfrm>
            <a:off x="7929333" y="3603746"/>
            <a:ext cx="457112" cy="361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A3FC3DF3-B3FC-3BB4-2567-94AE00772D32}"/>
              </a:ext>
            </a:extLst>
          </p:cNvPr>
          <p:cNvSpPr txBox="1"/>
          <p:nvPr/>
        </p:nvSpPr>
        <p:spPr>
          <a:xfrm>
            <a:off x="4440062" y="5365844"/>
            <a:ext cx="28818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Trained end-to-end with PPO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2C9335-4A6B-56BC-7B84-183E43C07C9D}"/>
              </a:ext>
            </a:extLst>
          </p:cNvPr>
          <p:cNvSpPr txBox="1"/>
          <p:nvPr/>
        </p:nvSpPr>
        <p:spPr>
          <a:xfrm>
            <a:off x="8218004" y="5120606"/>
            <a:ext cx="3833191" cy="1021556"/>
          </a:xfrm>
          <a:prstGeom prst="roundRect">
            <a:avLst/>
          </a:prstGeom>
          <a:ln w="38100">
            <a:solidFill>
              <a:srgbClr val="8168A1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After convergence becomes the </a:t>
            </a:r>
            <a:r>
              <a:rPr lang="en-US" b="1" dirty="0">
                <a:solidFill>
                  <a:srgbClr val="8168A1"/>
                </a:solidFill>
              </a:rPr>
              <a:t>expert policy </a:t>
            </a:r>
            <a:r>
              <a:rPr lang="en-US" dirty="0"/>
              <a:t>to collect the state-action pairs from the environment</a:t>
            </a:r>
          </a:p>
        </p:txBody>
      </p:sp>
    </p:spTree>
    <p:extLst>
      <p:ext uri="{BB962C8B-B14F-4D97-AF65-F5344CB8AC3E}">
        <p14:creationId xmlns:p14="http://schemas.microsoft.com/office/powerpoint/2010/main" val="712421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31710-BF5A-0CD6-21E4-604A77F77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52">
            <a:extLst>
              <a:ext uri="{FF2B5EF4-FFF2-40B4-BE49-F238E27FC236}">
                <a16:creationId xmlns:a16="http://schemas.microsoft.com/office/drawing/2014/main" id="{59E32E47-B599-DAE4-43F7-AE61B152F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844" y="5046838"/>
            <a:ext cx="6461178" cy="121225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80F37BD-327D-1666-1584-E43AB95C5D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61786BC-7EAE-561E-09BD-3968FC5E3E2C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DB6428-E6EF-9802-E1AC-72132A5B2C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835790">
            <a:off x="7553275" y="3382999"/>
            <a:ext cx="417035" cy="45465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58383DE-EB0B-99FC-DB56-2021310C377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A9F90F73-3672-5C34-3917-6BDE6FDD9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77B03E4-C048-F56B-D6D8-70AA0EC3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19D37C-4676-C894-5C1C-6B893D5C367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0E54F29-76DD-73C2-7E21-754AD5F09B1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B15E02F6-353F-2BCA-0FDD-AF88C4D1379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1FC3960-74B9-94B9-FDC5-7DEEE1B79506}"/>
              </a:ext>
            </a:extLst>
          </p:cNvPr>
          <p:cNvCxnSpPr>
            <a:cxnSpLocks/>
          </p:cNvCxnSpPr>
          <p:nvPr/>
        </p:nvCxnSpPr>
        <p:spPr>
          <a:xfrm flipV="1">
            <a:off x="815126" y="4358343"/>
            <a:ext cx="0" cy="749922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CA89B2-796F-43D0-CFD5-F9456FB87BB9}"/>
              </a:ext>
            </a:extLst>
          </p:cNvPr>
          <p:cNvCxnSpPr>
            <a:cxnSpLocks/>
          </p:cNvCxnSpPr>
          <p:nvPr/>
        </p:nvCxnSpPr>
        <p:spPr>
          <a:xfrm flipH="1">
            <a:off x="815126" y="5078657"/>
            <a:ext cx="5145662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07DAAFA-1509-8EB5-1DE7-81F558080600}"/>
              </a:ext>
            </a:extLst>
          </p:cNvPr>
          <p:cNvCxnSpPr>
            <a:cxnSpLocks/>
          </p:cNvCxnSpPr>
          <p:nvPr/>
        </p:nvCxnSpPr>
        <p:spPr>
          <a:xfrm>
            <a:off x="9345921" y="3610325"/>
            <a:ext cx="719057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A7C17C9-3C3D-43C6-E962-1CDD4270CD87}"/>
              </a:ext>
            </a:extLst>
          </p:cNvPr>
          <p:cNvCxnSpPr>
            <a:cxnSpLocks/>
          </p:cNvCxnSpPr>
          <p:nvPr/>
        </p:nvCxnSpPr>
        <p:spPr>
          <a:xfrm>
            <a:off x="10418203" y="3603746"/>
            <a:ext cx="71247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0909C7E-0A7A-1307-8F20-E1604D64C6DE}"/>
              </a:ext>
            </a:extLst>
          </p:cNvPr>
          <p:cNvCxnSpPr>
            <a:cxnSpLocks/>
          </p:cNvCxnSpPr>
          <p:nvPr/>
        </p:nvCxnSpPr>
        <p:spPr>
          <a:xfrm>
            <a:off x="11260240" y="3610325"/>
            <a:ext cx="54801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724A515-4E6C-CB5D-5496-6B4FDB8C926B}"/>
              </a:ext>
            </a:extLst>
          </p:cNvPr>
          <p:cNvCxnSpPr>
            <a:cxnSpLocks/>
          </p:cNvCxnSpPr>
          <p:nvPr/>
        </p:nvCxnSpPr>
        <p:spPr>
          <a:xfrm flipV="1">
            <a:off x="5976780" y="3774017"/>
            <a:ext cx="0" cy="1330015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9A13328-A3A9-D17E-58D3-3A135AB341B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68EBD2-EBE6-ED1D-F0E6-67B704A02DB8}"/>
              </a:ext>
            </a:extLst>
          </p:cNvPr>
          <p:cNvCxnSpPr>
            <a:cxnSpLocks/>
          </p:cNvCxnSpPr>
          <p:nvPr/>
        </p:nvCxnSpPr>
        <p:spPr>
          <a:xfrm>
            <a:off x="6976533" y="3603746"/>
            <a:ext cx="1409912" cy="361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4CA191FC-FBE2-A3B7-4681-B6CD239FE66A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608FFF-EF3D-6F5C-E112-577FFF6056B5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🏋️ </a:t>
            </a:r>
            <a:r>
              <a:rPr lang="en-US" b="1" dirty="0">
                <a:solidFill>
                  <a:schemeClr val="bg1"/>
                </a:solidFill>
              </a:rPr>
              <a:t>The Training: </a:t>
            </a:r>
            <a:r>
              <a:rPr lang="it-IT" b="1" dirty="0">
                <a:solidFill>
                  <a:schemeClr val="bg1"/>
                </a:solidFill>
              </a:rPr>
              <a:t>Stage 2 </a:t>
            </a:r>
            <a:r>
              <a:rPr lang="it-IT" dirty="0">
                <a:solidFill>
                  <a:schemeClr val="bg1"/>
                </a:solidFill>
              </a:rPr>
              <a:t>🔎</a:t>
            </a:r>
            <a:r>
              <a:rPr lang="it-IT" b="1" dirty="0">
                <a:solidFill>
                  <a:schemeClr val="bg1"/>
                </a:solidFill>
              </a:rPr>
              <a:t> The </a:t>
            </a:r>
            <a:r>
              <a:rPr lang="it-IT" b="1" dirty="0" err="1">
                <a:solidFill>
                  <a:schemeClr val="bg1"/>
                </a:solidFill>
              </a:rPr>
              <a:t>SSINet</a:t>
            </a:r>
            <a:endParaRPr lang="en-US" b="1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844B15F-FA59-1264-CA57-31FB154F9B1B}"/>
              </a:ext>
            </a:extLst>
          </p:cNvPr>
          <p:cNvCxnSpPr>
            <a:cxnSpLocks/>
          </p:cNvCxnSpPr>
          <p:nvPr/>
        </p:nvCxnSpPr>
        <p:spPr>
          <a:xfrm>
            <a:off x="6115898" y="3614177"/>
            <a:ext cx="378035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31DE6B4-77CD-8F12-C52A-E2F81379637F}"/>
              </a:ext>
            </a:extLst>
          </p:cNvPr>
          <p:cNvCxnSpPr>
            <a:cxnSpLocks/>
          </p:cNvCxnSpPr>
          <p:nvPr/>
        </p:nvCxnSpPr>
        <p:spPr>
          <a:xfrm>
            <a:off x="815126" y="3617701"/>
            <a:ext cx="641141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6AAAF6-1CC0-61E5-565F-F72DC318A9CB}"/>
              </a:ext>
            </a:extLst>
          </p:cNvPr>
          <p:cNvCxnSpPr>
            <a:cxnSpLocks/>
          </p:cNvCxnSpPr>
          <p:nvPr/>
        </p:nvCxnSpPr>
        <p:spPr>
          <a:xfrm>
            <a:off x="2398392" y="3610324"/>
            <a:ext cx="429475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76F7B85-75F0-829C-34CF-DC7C1F4010D3}"/>
              </a:ext>
            </a:extLst>
          </p:cNvPr>
          <p:cNvCxnSpPr>
            <a:cxnSpLocks/>
          </p:cNvCxnSpPr>
          <p:nvPr/>
        </p:nvCxnSpPr>
        <p:spPr>
          <a:xfrm flipV="1">
            <a:off x="3727658" y="3603746"/>
            <a:ext cx="615742" cy="11991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3665406-2B30-F151-06D9-8091C7AE1E79}"/>
              </a:ext>
            </a:extLst>
          </p:cNvPr>
          <p:cNvCxnSpPr>
            <a:cxnSpLocks/>
          </p:cNvCxnSpPr>
          <p:nvPr/>
        </p:nvCxnSpPr>
        <p:spPr>
          <a:xfrm>
            <a:off x="4730958" y="3610324"/>
            <a:ext cx="1077175" cy="737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9C0EA7B-842B-7438-903E-4E24707C7C2E}"/>
              </a:ext>
            </a:extLst>
          </p:cNvPr>
          <p:cNvSpPr txBox="1"/>
          <p:nvPr/>
        </p:nvSpPr>
        <p:spPr>
          <a:xfrm>
            <a:off x="8531096" y="5298543"/>
            <a:ext cx="23291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CBE8"/>
                </a:solidFill>
              </a:rPr>
              <a:t>Frozen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101F4D1-E3B7-1C23-6A6F-DF9A20071091}"/>
              </a:ext>
            </a:extLst>
          </p:cNvPr>
          <p:cNvSpPr txBox="1"/>
          <p:nvPr/>
        </p:nvSpPr>
        <p:spPr>
          <a:xfrm>
            <a:off x="5630110" y="2079057"/>
            <a:ext cx="92502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CBE8"/>
                </a:solidFill>
              </a:rPr>
              <a:t>share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7905AD1-64A9-6F9C-1C20-802235AC6BA4}"/>
              </a:ext>
            </a:extLst>
          </p:cNvPr>
          <p:cNvCxnSpPr>
            <a:cxnSpLocks/>
          </p:cNvCxnSpPr>
          <p:nvPr/>
        </p:nvCxnSpPr>
        <p:spPr>
          <a:xfrm>
            <a:off x="2408017" y="2079057"/>
            <a:ext cx="5869709" cy="0"/>
          </a:xfrm>
          <a:prstGeom prst="straightConnector1">
            <a:avLst/>
          </a:prstGeom>
          <a:ln w="57150">
            <a:solidFill>
              <a:srgbClr val="00CBE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93D2C566-D98A-1AFB-F3BF-2F6BE28B9558}"/>
              </a:ext>
            </a:extLst>
          </p:cNvPr>
          <p:cNvSpPr/>
          <p:nvPr/>
        </p:nvSpPr>
        <p:spPr>
          <a:xfrm>
            <a:off x="7799942" y="1421175"/>
            <a:ext cx="3791458" cy="3871127"/>
          </a:xfrm>
          <a:prstGeom prst="roundRect">
            <a:avLst>
              <a:gd name="adj" fmla="val 7950"/>
            </a:avLst>
          </a:prstGeom>
          <a:noFill/>
          <a:ln w="57150">
            <a:solidFill>
              <a:srgbClr val="00C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4424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Word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500"/>
                            </p:stCondLst>
                            <p:childTnLst>
                              <p:par>
                                <p:cTn id="3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500"/>
                            </p:stCondLst>
                            <p:childTnLst>
                              <p:par>
                                <p:cTn id="4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0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5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0"/>
                            </p:stCondLst>
                            <p:childTnLst>
                              <p:par>
                                <p:cTn id="5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5A593-2BC8-2082-7B96-2A5CF8266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A6B7F1C-EC13-92CB-929A-60D8C4728B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844" y="5046838"/>
            <a:ext cx="6461178" cy="121225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CED962B-FE54-AACF-BA2C-37D8C3580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DF0416-F4BF-3BD9-8C43-DA193CC76CF4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0BC161-329D-E72A-4E05-7345C079A0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835790">
            <a:off x="7553275" y="3382999"/>
            <a:ext cx="417035" cy="45465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A7C9FC4-518B-9E29-5FD1-4832F88BE69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79F143D-AC0C-B2F9-319B-1FF577709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D4E36FA-5F7F-3BE8-EDB2-1BBCEC4D5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DCCCA7-ED0F-A7DB-ECBD-01D34F87415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98B1A192-90F1-A732-D908-0A47402C89F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FA4CB537-8838-977D-E416-EA84299D221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C086025-6215-40BC-DD14-87FEFA0E3925}"/>
              </a:ext>
            </a:extLst>
          </p:cNvPr>
          <p:cNvCxnSpPr>
            <a:cxnSpLocks/>
          </p:cNvCxnSpPr>
          <p:nvPr/>
        </p:nvCxnSpPr>
        <p:spPr>
          <a:xfrm flipH="1">
            <a:off x="9328987" y="3610325"/>
            <a:ext cx="719057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8483697-83B9-25DD-06BD-84DBEC78380F}"/>
              </a:ext>
            </a:extLst>
          </p:cNvPr>
          <p:cNvCxnSpPr>
            <a:cxnSpLocks/>
          </p:cNvCxnSpPr>
          <p:nvPr/>
        </p:nvCxnSpPr>
        <p:spPr>
          <a:xfrm flipH="1">
            <a:off x="10418203" y="3603746"/>
            <a:ext cx="712479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DC1A504-0D80-1CA0-7D03-43890A81D2CA}"/>
              </a:ext>
            </a:extLst>
          </p:cNvPr>
          <p:cNvCxnSpPr>
            <a:cxnSpLocks/>
          </p:cNvCxnSpPr>
          <p:nvPr/>
        </p:nvCxnSpPr>
        <p:spPr>
          <a:xfrm flipH="1">
            <a:off x="11260240" y="3610325"/>
            <a:ext cx="548019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2CC70FF-96F9-A232-9A55-EEB992FC35B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62B458F-60C2-1969-6F78-5A847E0868B8}"/>
              </a:ext>
            </a:extLst>
          </p:cNvPr>
          <p:cNvCxnSpPr>
            <a:cxnSpLocks/>
          </p:cNvCxnSpPr>
          <p:nvPr/>
        </p:nvCxnSpPr>
        <p:spPr>
          <a:xfrm flipH="1">
            <a:off x="6951132" y="3603746"/>
            <a:ext cx="1409912" cy="3617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68FA342F-68AF-6C01-C7B4-411BCF744266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C6FC74F-16D0-8FCE-A0E6-848095108D29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🏋️ </a:t>
            </a:r>
            <a:r>
              <a:rPr lang="en-US" b="1" dirty="0">
                <a:solidFill>
                  <a:schemeClr val="bg1"/>
                </a:solidFill>
              </a:rPr>
              <a:t>The Training: </a:t>
            </a:r>
            <a:r>
              <a:rPr lang="it-IT" b="1" dirty="0">
                <a:solidFill>
                  <a:schemeClr val="bg1"/>
                </a:solidFill>
              </a:rPr>
              <a:t>Stage 2 </a:t>
            </a:r>
            <a:r>
              <a:rPr lang="it-IT" dirty="0">
                <a:solidFill>
                  <a:schemeClr val="bg1"/>
                </a:solidFill>
              </a:rPr>
              <a:t>🔎</a:t>
            </a:r>
            <a:r>
              <a:rPr lang="it-IT" b="1" dirty="0">
                <a:solidFill>
                  <a:schemeClr val="bg1"/>
                </a:solidFill>
              </a:rPr>
              <a:t> The </a:t>
            </a:r>
            <a:r>
              <a:rPr lang="it-IT" b="1" dirty="0" err="1">
                <a:solidFill>
                  <a:schemeClr val="bg1"/>
                </a:solidFill>
              </a:rPr>
              <a:t>SSINet</a:t>
            </a:r>
            <a:endParaRPr lang="en-US" b="1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A454705-AE67-FBFA-CAFE-B0BDA7432963}"/>
              </a:ext>
            </a:extLst>
          </p:cNvPr>
          <p:cNvCxnSpPr>
            <a:cxnSpLocks/>
          </p:cNvCxnSpPr>
          <p:nvPr/>
        </p:nvCxnSpPr>
        <p:spPr>
          <a:xfrm flipH="1">
            <a:off x="6115898" y="3614177"/>
            <a:ext cx="378035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F0FDAE9-BADB-5410-816C-09BF5475C0E8}"/>
              </a:ext>
            </a:extLst>
          </p:cNvPr>
          <p:cNvCxnSpPr>
            <a:cxnSpLocks/>
          </p:cNvCxnSpPr>
          <p:nvPr/>
        </p:nvCxnSpPr>
        <p:spPr>
          <a:xfrm flipH="1">
            <a:off x="4697090" y="3610324"/>
            <a:ext cx="1077175" cy="7377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CB3C6B2-AA4F-13AF-1C3D-B17872030808}"/>
              </a:ext>
            </a:extLst>
          </p:cNvPr>
          <p:cNvSpPr txBox="1"/>
          <p:nvPr/>
        </p:nvSpPr>
        <p:spPr>
          <a:xfrm>
            <a:off x="8531096" y="5298543"/>
            <a:ext cx="23291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CBE8"/>
                </a:solidFill>
              </a:rPr>
              <a:t>Frozen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5416605-81D2-F04C-5985-D6CB45C46AA0}"/>
              </a:ext>
            </a:extLst>
          </p:cNvPr>
          <p:cNvSpPr txBox="1"/>
          <p:nvPr/>
        </p:nvSpPr>
        <p:spPr>
          <a:xfrm>
            <a:off x="5630110" y="2079057"/>
            <a:ext cx="92502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CBE8"/>
                </a:solidFill>
              </a:rPr>
              <a:t>share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E9050D5-F96A-2781-1CF1-AAF10C3BF8EA}"/>
              </a:ext>
            </a:extLst>
          </p:cNvPr>
          <p:cNvCxnSpPr>
            <a:cxnSpLocks/>
          </p:cNvCxnSpPr>
          <p:nvPr/>
        </p:nvCxnSpPr>
        <p:spPr>
          <a:xfrm>
            <a:off x="2408017" y="2079057"/>
            <a:ext cx="5869709" cy="0"/>
          </a:xfrm>
          <a:prstGeom prst="straightConnector1">
            <a:avLst/>
          </a:prstGeom>
          <a:ln w="57150">
            <a:solidFill>
              <a:srgbClr val="00CBE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C7E54BD-889D-87F5-F2AE-47596C914F01}"/>
              </a:ext>
            </a:extLst>
          </p:cNvPr>
          <p:cNvSpPr/>
          <p:nvPr/>
        </p:nvSpPr>
        <p:spPr>
          <a:xfrm>
            <a:off x="7799942" y="1421175"/>
            <a:ext cx="3791458" cy="3871127"/>
          </a:xfrm>
          <a:prstGeom prst="roundRect">
            <a:avLst>
              <a:gd name="adj" fmla="val 7950"/>
            </a:avLst>
          </a:prstGeom>
          <a:noFill/>
          <a:ln w="57150">
            <a:solidFill>
              <a:srgbClr val="00C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BCB954-5D06-909B-2291-F50EB644987B}"/>
              </a:ext>
            </a:extLst>
          </p:cNvPr>
          <p:cNvSpPr/>
          <p:nvPr/>
        </p:nvSpPr>
        <p:spPr>
          <a:xfrm>
            <a:off x="2952007" y="3290831"/>
            <a:ext cx="775651" cy="669183"/>
          </a:xfrm>
          <a:prstGeom prst="rect">
            <a:avLst/>
          </a:prstGeom>
          <a:solidFill>
            <a:srgbClr val="D7E3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Weight Update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BA765CB-E86C-A3B6-E499-4EA61CB4C01D}"/>
              </a:ext>
            </a:extLst>
          </p:cNvPr>
          <p:cNvCxnSpPr>
            <a:cxnSpLocks/>
          </p:cNvCxnSpPr>
          <p:nvPr/>
        </p:nvCxnSpPr>
        <p:spPr>
          <a:xfrm flipH="1" flipV="1">
            <a:off x="3727658" y="3603746"/>
            <a:ext cx="615742" cy="11991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0458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DCF92-31A8-8812-453F-8099FBECD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F424809-659E-D519-7B61-047C1EC8F52C}"/>
              </a:ext>
            </a:extLst>
          </p:cNvPr>
          <p:cNvSpPr/>
          <p:nvPr/>
        </p:nvSpPr>
        <p:spPr>
          <a:xfrm rot="10800000">
            <a:off x="-18" y="-26"/>
            <a:ext cx="1086816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7B8EB9C-07E8-C3C1-84FF-D81307645995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DF993086-9D85-2A56-E345-0B7FADA45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3F10351-44DB-0BEC-6775-3E346602F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BF986E-66C2-D313-A8FF-2E1C865E59E9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4729B49-AAF2-93F3-C059-7130F613536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DFAB1CDD-DC7A-CF4F-BB56-F9ABDD15E23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584B9D-AF19-18BA-0E64-EC8AD19A54F7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096688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b="1" dirty="0">
                <a:solidFill>
                  <a:schemeClr val="bg1"/>
                </a:solidFill>
              </a:rPr>
              <a:t>🔄️</a:t>
            </a:r>
            <a:r>
              <a:rPr lang="en-US" b="1" dirty="0">
                <a:solidFill>
                  <a:schemeClr val="bg1"/>
                </a:solidFill>
              </a:rPr>
              <a:t>The Training (Self-Supervised)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729884E-D626-B429-9114-602529EC5239}"/>
              </a:ext>
            </a:extLst>
          </p:cNvPr>
          <p:cNvSpPr/>
          <p:nvPr/>
        </p:nvSpPr>
        <p:spPr>
          <a:xfrm>
            <a:off x="1080966" y="2077485"/>
            <a:ext cx="4396469" cy="2784591"/>
          </a:xfrm>
          <a:prstGeom prst="roundRect">
            <a:avLst>
              <a:gd name="adj" fmla="val 6801"/>
            </a:avLst>
          </a:prstGeom>
          <a:solidFill>
            <a:srgbClr val="FDFDFD"/>
          </a:solidFill>
          <a:ln w="38100" cap="flat" cmpd="sng" algn="ctr">
            <a:solidFill>
              <a:srgbClr val="FF9C6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450DFD-50C1-4C14-900C-8E0352085B63}"/>
              </a:ext>
            </a:extLst>
          </p:cNvPr>
          <p:cNvSpPr txBox="1"/>
          <p:nvPr/>
        </p:nvSpPr>
        <p:spPr>
          <a:xfrm>
            <a:off x="1996498" y="2723202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FF9C67"/>
                </a:solidFill>
                <a:latin typeface="IBM Plex Sans"/>
              </a:rPr>
              <a:t>Stage</a:t>
            </a:r>
            <a:r>
              <a:rPr lang="en-US" sz="2400" b="1" dirty="0">
                <a:solidFill>
                  <a:srgbClr val="468AFF"/>
                </a:solidFill>
                <a:latin typeface="IBM Plex Sans"/>
              </a:rPr>
              <a:t> </a:t>
            </a:r>
          </a:p>
        </p:txBody>
      </p:sp>
      <p:pic>
        <p:nvPicPr>
          <p:cNvPr id="7" name="Graphic 6" descr="Badge 1 with solid fill">
            <a:extLst>
              <a:ext uri="{FF2B5EF4-FFF2-40B4-BE49-F238E27FC236}">
                <a16:creationId xmlns:a16="http://schemas.microsoft.com/office/drawing/2014/main" id="{35C53CD7-84CC-5ECD-E7DA-D4001151A0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023290" y="2161545"/>
            <a:ext cx="511818" cy="5118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32A8433-3BBD-B7C0-67B4-A2EE96A334EB}"/>
              </a:ext>
            </a:extLst>
          </p:cNvPr>
          <p:cNvSpPr txBox="1"/>
          <p:nvPr/>
        </p:nvSpPr>
        <p:spPr>
          <a:xfrm>
            <a:off x="1180683" y="3527855"/>
            <a:ext cx="41970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61616"/>
                </a:solidFill>
              </a:rPr>
              <a:t>Train</a:t>
            </a:r>
            <a:r>
              <a:rPr lang="en-US" dirty="0">
                <a:solidFill>
                  <a:srgbClr val="161616"/>
                </a:solidFill>
              </a:rPr>
              <a:t> actor (fₑ + fₐ) with standard RL
Obtain an </a:t>
            </a:r>
            <a:r>
              <a:rPr lang="en-US" b="1" dirty="0">
                <a:solidFill>
                  <a:srgbClr val="161616"/>
                </a:solidFill>
              </a:rPr>
              <a:t>expert</a:t>
            </a:r>
            <a:r>
              <a:rPr lang="en-US" dirty="0">
                <a:solidFill>
                  <a:srgbClr val="161616"/>
                </a:solidFill>
              </a:rPr>
              <a:t> </a:t>
            </a:r>
            <a:r>
              <a:rPr lang="en-US" b="1" dirty="0">
                <a:solidFill>
                  <a:srgbClr val="161616"/>
                </a:solidFill>
              </a:rPr>
              <a:t>policy</a:t>
            </a:r>
            <a:r>
              <a:rPr lang="en-US" dirty="0">
                <a:solidFill>
                  <a:srgbClr val="161616"/>
                </a:solidFill>
              </a:rPr>
              <a:t> </a:t>
            </a:r>
            <a:r>
              <a:rPr lang="en-US" b="1" dirty="0">
                <a:solidFill>
                  <a:srgbClr val="161616"/>
                </a:solidFill>
              </a:rPr>
              <a:t>πₑ</a:t>
            </a:r>
            <a:r>
              <a:rPr lang="en-US" dirty="0">
                <a:solidFill>
                  <a:srgbClr val="161616"/>
                </a:solidFill>
              </a:rPr>
              <a:t>
Roll it out to collect state-action </a:t>
            </a:r>
          </a:p>
          <a:p>
            <a:r>
              <a:rPr lang="en-US" dirty="0">
                <a:solidFill>
                  <a:srgbClr val="161616"/>
                </a:solidFill>
              </a:rPr>
              <a:t>      pairs </a:t>
            </a:r>
            <a:r>
              <a:rPr lang="en-US" b="1" dirty="0">
                <a:solidFill>
                  <a:srgbClr val="161616"/>
                </a:solidFill>
              </a:rPr>
              <a:t>{(sᵢ, aᵢ)}</a:t>
            </a:r>
            <a:endParaRPr lang="en-US" sz="2100" b="1" dirty="0">
              <a:solidFill>
                <a:srgbClr val="161616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0E1BFC6-6207-7911-F1A7-86AD01C6CA75}"/>
              </a:ext>
            </a:extLst>
          </p:cNvPr>
          <p:cNvSpPr/>
          <p:nvPr/>
        </p:nvSpPr>
        <p:spPr>
          <a:xfrm>
            <a:off x="6412365" y="2077485"/>
            <a:ext cx="4396470" cy="2784591"/>
          </a:xfrm>
          <a:prstGeom prst="roundRect">
            <a:avLst>
              <a:gd name="adj" fmla="val 7399"/>
            </a:avLst>
          </a:prstGeom>
          <a:solidFill>
            <a:srgbClr val="FDFDFD"/>
          </a:solidFill>
          <a:ln w="38100" cap="flat" cmpd="sng" algn="ctr">
            <a:solidFill>
              <a:srgbClr val="88B5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FD8261-F505-1774-D41E-C283966D2C33}"/>
              </a:ext>
            </a:extLst>
          </p:cNvPr>
          <p:cNvSpPr txBox="1"/>
          <p:nvPr/>
        </p:nvSpPr>
        <p:spPr>
          <a:xfrm>
            <a:off x="7400367" y="2725067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88B5FF"/>
                </a:solidFill>
                <a:latin typeface="IBM Plex Sans"/>
              </a:rPr>
              <a:t>Stage</a:t>
            </a:r>
          </a:p>
        </p:txBody>
      </p:sp>
      <p:pic>
        <p:nvPicPr>
          <p:cNvPr id="19" name="Graphic 18" descr="Badge with solid fill">
            <a:extLst>
              <a:ext uri="{FF2B5EF4-FFF2-40B4-BE49-F238E27FC236}">
                <a16:creationId xmlns:a16="http://schemas.microsoft.com/office/drawing/2014/main" id="{BE6E2DCC-C5FA-FE64-813D-4DE5C0B31B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8427158" y="2161545"/>
            <a:ext cx="511818" cy="51181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D24ED96-E718-CC02-D053-3224A664C11F}"/>
              </a:ext>
            </a:extLst>
          </p:cNvPr>
          <p:cNvSpPr txBox="1"/>
          <p:nvPr/>
        </p:nvSpPr>
        <p:spPr>
          <a:xfrm>
            <a:off x="6471675" y="3527855"/>
            <a:ext cx="43964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61616"/>
                </a:solidFill>
              </a:rPr>
              <a:t>Reuse</a:t>
            </a:r>
            <a:r>
              <a:rPr lang="en-US" dirty="0">
                <a:solidFill>
                  <a:srgbClr val="161616"/>
                </a:solidFill>
              </a:rPr>
              <a:t> fₑ from the agent, </a:t>
            </a:r>
            <a:r>
              <a:rPr lang="en-US" b="1" dirty="0">
                <a:solidFill>
                  <a:srgbClr val="161616"/>
                </a:solidFill>
              </a:rPr>
              <a:t>freeze</a:t>
            </a:r>
            <a:r>
              <a:rPr lang="en-US" dirty="0">
                <a:solidFill>
                  <a:srgbClr val="161616"/>
                </a:solidFill>
              </a:rPr>
              <a:t> fₑ and fₐ
</a:t>
            </a:r>
            <a:r>
              <a:rPr lang="en-US" b="1" dirty="0">
                <a:solidFill>
                  <a:srgbClr val="161616"/>
                </a:solidFill>
              </a:rPr>
              <a:t>Train</a:t>
            </a:r>
            <a:r>
              <a:rPr lang="en-US" dirty="0">
                <a:solidFill>
                  <a:srgbClr val="161616"/>
                </a:solidFill>
              </a:rPr>
              <a:t> only the decoder f 
</a:t>
            </a:r>
            <a:r>
              <a:rPr lang="en-US" b="1" dirty="0">
                <a:solidFill>
                  <a:srgbClr val="161616"/>
                </a:solidFill>
              </a:rPr>
              <a:t>Loss</a:t>
            </a:r>
            <a:r>
              <a:rPr lang="en-US" dirty="0">
                <a:solidFill>
                  <a:srgbClr val="161616"/>
                </a:solidFill>
              </a:rPr>
              <a:t>: behavior matching + α · ||mask||₁</a:t>
            </a:r>
          </a:p>
        </p:txBody>
      </p:sp>
    </p:spTree>
    <p:extLst>
      <p:ext uri="{BB962C8B-B14F-4D97-AF65-F5344CB8AC3E}">
        <p14:creationId xmlns:p14="http://schemas.microsoft.com/office/powerpoint/2010/main" val="3282848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55B0C-7D52-FEE3-A567-D31AD2B78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5658A6B-5152-4652-83B8-D12BCF027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250" y="870039"/>
            <a:ext cx="9019293" cy="538536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13144664-1AC5-E12A-256D-73EF964ADA2C}"/>
              </a:ext>
            </a:extLst>
          </p:cNvPr>
          <p:cNvSpPr/>
          <p:nvPr/>
        </p:nvSpPr>
        <p:spPr>
          <a:xfrm rot="10800000">
            <a:off x="-15" y="-23"/>
            <a:ext cx="649291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3AAEEC6-315B-FCBB-8A7C-8C2B42553F0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0EE9B01-ACEA-BB1F-0E45-8F96BCD77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3C8B77-FFB3-9A73-E756-E6B3D6763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3FE0F04-FF3A-8A4F-DF64-A5D1871D6BF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0705410F-35E9-EBE1-5E86-B0698FF2DE9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C1E405C-2977-87BE-0715-296E7F5C3572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BAC254-054A-7C5B-4D03-F82ABFDC8ACF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dirty="0">
                <a:solidFill>
                  <a:schemeClr val="bg1"/>
                </a:solidFill>
              </a:rPr>
              <a:t>🔚</a:t>
            </a:r>
            <a:r>
              <a:rPr lang="en-US" b="1" dirty="0">
                <a:solidFill>
                  <a:schemeClr val="bg1"/>
                </a:solidFill>
              </a:rPr>
              <a:t>The Output</a:t>
            </a:r>
          </a:p>
        </p:txBody>
      </p:sp>
    </p:spTree>
    <p:extLst>
      <p:ext uri="{BB962C8B-B14F-4D97-AF65-F5344CB8AC3E}">
        <p14:creationId xmlns:p14="http://schemas.microsoft.com/office/powerpoint/2010/main" val="13474204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3D323CB7-3E93-4A67-84EE-9CC8BE2CCDE5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B34AA3-AAB5-4BDC-BF9E-50990B8451DA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EF90CB-298F-4851-84DB-1C7A53BDEA76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6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76D8B62-1917-C700-A7DB-9AD7D609813D}"/>
              </a:ext>
            </a:extLst>
          </p:cNvPr>
          <p:cNvGrpSpPr/>
          <p:nvPr/>
        </p:nvGrpSpPr>
        <p:grpSpPr>
          <a:xfrm>
            <a:off x="6430244" y="1352480"/>
            <a:ext cx="3191933" cy="4756220"/>
            <a:chOff x="4740358" y="765114"/>
            <a:chExt cx="3191933" cy="4756220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1E0EBF0E-F81B-01C5-7DB3-FE4CF284F97C}"/>
                </a:ext>
              </a:extLst>
            </p:cNvPr>
            <p:cNvSpPr/>
            <p:nvPr/>
          </p:nvSpPr>
          <p:spPr>
            <a:xfrm>
              <a:off x="4740358" y="765114"/>
              <a:ext cx="3191933" cy="4576562"/>
            </a:xfrm>
            <a:prstGeom prst="roundRect">
              <a:avLst>
                <a:gd name="adj" fmla="val 11887"/>
              </a:avLst>
            </a:prstGeom>
            <a:solidFill>
              <a:srgbClr val="FDFDFD"/>
            </a:solidFill>
            <a:ln w="38100" cap="flat" cmpd="sng" algn="ctr">
              <a:solidFill>
                <a:srgbClr val="00B47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9D19893-C4CA-0915-811A-A50230BBD713}"/>
                </a:ext>
              </a:extLst>
            </p:cNvPr>
            <p:cNvSpPr txBox="1"/>
            <p:nvPr/>
          </p:nvSpPr>
          <p:spPr>
            <a:xfrm>
              <a:off x="5053623" y="1455351"/>
              <a:ext cx="2565401" cy="1200329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B476"/>
                  </a:solidFill>
                  <a:latin typeface="IBM Plex Sans"/>
                </a:rPr>
                <a:t>Minimum Region Retaining</a:t>
              </a:r>
            </a:p>
          </p:txBody>
        </p:sp>
        <p:pic>
          <p:nvPicPr>
            <p:cNvPr id="42" name="Graphic 41" descr="Downward trend graph with solid fill">
              <a:extLst>
                <a:ext uri="{FF2B5EF4-FFF2-40B4-BE49-F238E27FC236}">
                  <a16:creationId xmlns:a16="http://schemas.microsoft.com/office/drawing/2014/main" id="{76D07179-B4BC-A813-6764-0F825C2988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080415" y="900877"/>
              <a:ext cx="511818" cy="51181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9835B10-0F64-7C77-3867-5DCF1B8067E0}"/>
                    </a:ext>
                  </a:extLst>
                </p:cNvPr>
                <p:cNvSpPr txBox="1"/>
                <p:nvPr/>
              </p:nvSpPr>
              <p:spPr>
                <a:xfrm>
                  <a:off x="4740358" y="3549704"/>
                  <a:ext cx="3191933" cy="19716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161616"/>
                      </a:solidFill>
                      <a:latin typeface="IBM Plex Sans"/>
                    </a:rPr>
                    <a:t>The mask should retain </a:t>
                  </a:r>
                  <a:r>
                    <a:rPr lang="en-US" b="1" dirty="0">
                      <a:solidFill>
                        <a:srgbClr val="00B476"/>
                      </a:solidFill>
                      <a:latin typeface="IBM Plex Sans"/>
                    </a:rPr>
                    <a:t>as little of the image</a:t>
                  </a:r>
                  <a:r>
                    <a:rPr lang="en-US" dirty="0">
                      <a:solidFill>
                        <a:srgbClr val="00B476"/>
                      </a:solidFill>
                      <a:latin typeface="IBM Plex Sans"/>
                    </a:rPr>
                    <a:t> </a:t>
                  </a:r>
                  <a:r>
                    <a:rPr lang="en-US" dirty="0">
                      <a:solidFill>
                        <a:srgbClr val="161616"/>
                      </a:solidFill>
                      <a:latin typeface="IBM Plex Sans"/>
                    </a:rPr>
                    <a:t>as possible. </a:t>
                  </a:r>
                </a:p>
                <a:p>
                  <a:pPr algn="ctr">
                    <a:spcBef>
                      <a:spcPts val="600"/>
                    </a:spcBef>
                  </a:pPr>
                  <a:endParaRPr lang="en-US" dirty="0">
                    <a:solidFill>
                      <a:srgbClr val="161616"/>
                    </a:solidFill>
                    <a:latin typeface="IBM Plex Sans"/>
                  </a:endParaRPr>
                </a:p>
                <a:p>
                  <a:pPr algn="ctr"/>
                  <a:r>
                    <a:rPr lang="en-US" sz="2100" b="1" dirty="0">
                      <a:solidFill>
                        <a:srgbClr val="161616"/>
                      </a:solidFill>
                      <a:latin typeface="IBM Plex Sans"/>
                    </a:rPr>
                    <a:t>L1 reg: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it-IT" sz="2100" b="1" i="1" smtClean="0">
                              <a:solidFill>
                                <a:srgbClr val="1616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unc>
                            <m:funcPr>
                              <m:ctrlPr>
                                <a:rPr lang="it-IT" sz="2100" b="1" i="1" smtClean="0">
                                  <a:solidFill>
                                    <a:srgbClr val="1616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it-IT" sz="2100" b="1" i="1" smtClean="0">
                                      <a:solidFill>
                                        <a:srgbClr val="1616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lang="it-IT" sz="2100" b="1" i="0" smtClean="0">
                                      <a:solidFill>
                                        <a:srgbClr val="161616"/>
                                      </a:solidFill>
                                      <a:latin typeface="Cambria Math" panose="02040503050406030204" pitchFamily="18" charset="0"/>
                                    </a:rPr>
                                    <m:t>𝐦𝐢𝐧</m:t>
                                  </m:r>
                                </m:e>
                                <m:lim>
                                  <m:r>
                                    <a:rPr lang="it-IT" sz="2100" b="1" i="1" smtClean="0">
                                      <a:solidFill>
                                        <a:srgbClr val="161616"/>
                                      </a:solidFill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it-IT" sz="2100" b="1" i="1" smtClean="0">
                                      <a:solidFill>
                                        <a:srgbClr val="1616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it-IT" sz="2100" b="1" i="1" smtClean="0">
                                          <a:solidFill>
                                            <a:srgbClr val="161616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it-IT" sz="2100" b="1" i="1" smtClean="0">
                                          <a:solidFill>
                                            <a:srgbClr val="161616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𝒇</m:t>
                                      </m:r>
                                    </m:e>
                                    <m:sub>
                                      <m:r>
                                        <a:rPr lang="it-IT" sz="2100" b="1" i="1" smtClean="0">
                                          <a:solidFill>
                                            <a:srgbClr val="161616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𝒆𝒙𝒑</m:t>
                                      </m:r>
                                    </m:sub>
                                    <m:sup>
                                      <m:r>
                                        <a:rPr lang="it-IT" sz="2100" b="1" i="1" smtClean="0">
                                          <a:solidFill>
                                            <a:srgbClr val="161616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it-IT" sz="2100" b="1" i="1" smtClean="0">
                                          <a:solidFill>
                                            <a:srgbClr val="161616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it-IT" sz="2100" b="1" i="1" smtClean="0">
                                              <a:solidFill>
                                                <a:srgbClr val="161616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100" b="1" i="1" smtClean="0">
                                              <a:solidFill>
                                                <a:srgbClr val="161616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  <m:sub>
                                          <m:r>
                                            <a:rPr lang="it-IT" sz="2100" b="1" i="1" smtClean="0">
                                              <a:solidFill>
                                                <a:srgbClr val="161616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𝒕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  <m:sub>
                          <m:r>
                            <a:rPr lang="it-IT" sz="2100" b="1" i="1" smtClean="0">
                              <a:solidFill>
                                <a:srgbClr val="161616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endParaRPr lang="it-IT" sz="2100" b="1" dirty="0">
                    <a:solidFill>
                      <a:srgbClr val="161616"/>
                    </a:solidFill>
                    <a:latin typeface="IBM Plex Sans"/>
                  </a:endParaRPr>
                </a:p>
                <a:p>
                  <a:pPr algn="ctr"/>
                  <a:endParaRPr lang="en-US" dirty="0">
                    <a:solidFill>
                      <a:srgbClr val="161616"/>
                    </a:solidFill>
                    <a:latin typeface="IBM Plex Sans"/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9835B10-0F64-7C77-3867-5DCF1B8067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0358" y="3549704"/>
                  <a:ext cx="3191933" cy="1971630"/>
                </a:xfrm>
                <a:prstGeom prst="rect">
                  <a:avLst/>
                </a:prstGeom>
                <a:blipFill>
                  <a:blip r:embed="rId3"/>
                  <a:stretch>
                    <a:fillRect l="-765" t="-2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AFF09B5-E6D7-2022-FE63-30EFF324236E}"/>
              </a:ext>
            </a:extLst>
          </p:cNvPr>
          <p:cNvGrpSpPr/>
          <p:nvPr/>
        </p:nvGrpSpPr>
        <p:grpSpPr>
          <a:xfrm>
            <a:off x="2417233" y="1378465"/>
            <a:ext cx="3191933" cy="4576561"/>
            <a:chOff x="1398867" y="765114"/>
            <a:chExt cx="3191933" cy="4576561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1E20F312-4941-632E-500C-A2D6B8681F0B}"/>
                </a:ext>
              </a:extLst>
            </p:cNvPr>
            <p:cNvSpPr/>
            <p:nvPr/>
          </p:nvSpPr>
          <p:spPr>
            <a:xfrm>
              <a:off x="1398867" y="765114"/>
              <a:ext cx="3191933" cy="4576561"/>
            </a:xfrm>
            <a:prstGeom prst="roundRect">
              <a:avLst>
                <a:gd name="adj" fmla="val 11888"/>
              </a:avLst>
            </a:prstGeom>
            <a:solidFill>
              <a:srgbClr val="FDFDFD"/>
            </a:solidFill>
            <a:ln w="38100" cap="flat" cmpd="sng" algn="ctr">
              <a:solidFill>
                <a:srgbClr val="468AFF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C74A524-4B4B-18AB-C6B1-CA7BEB424307}"/>
                </a:ext>
              </a:extLst>
            </p:cNvPr>
            <p:cNvSpPr txBox="1"/>
            <p:nvPr/>
          </p:nvSpPr>
          <p:spPr>
            <a:xfrm>
              <a:off x="1712132" y="1455351"/>
              <a:ext cx="2565401" cy="1200329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468AFF"/>
                  </a:solidFill>
                  <a:latin typeface="IBM Plex Sans"/>
                </a:rPr>
                <a:t>Maximum Behavior Resemblance</a:t>
              </a:r>
            </a:p>
          </p:txBody>
        </p:sp>
        <p:pic>
          <p:nvPicPr>
            <p:cNvPr id="33" name="Graphic 32" descr="Fork In Road with solid fill">
              <a:extLst>
                <a:ext uri="{FF2B5EF4-FFF2-40B4-BE49-F238E27FC236}">
                  <a16:creationId xmlns:a16="http://schemas.microsoft.com/office/drawing/2014/main" id="{1B5B7374-5352-5862-1F12-6FC6969B4C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2738924" y="900877"/>
              <a:ext cx="511818" cy="511818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2870AEC-ED35-0033-C52D-BBA69418B3B4}"/>
                </a:ext>
              </a:extLst>
            </p:cNvPr>
            <p:cNvSpPr txBox="1"/>
            <p:nvPr/>
          </p:nvSpPr>
          <p:spPr>
            <a:xfrm>
              <a:off x="1471335" y="3549704"/>
              <a:ext cx="3046993" cy="15234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161616"/>
                  </a:solidFill>
                  <a:latin typeface="IBM Plex Sans"/>
                </a:rPr>
                <a:t>The masked state must yield (almost) the </a:t>
              </a:r>
              <a:r>
                <a:rPr lang="en-US" b="1" dirty="0">
                  <a:solidFill>
                    <a:srgbClr val="468AFF"/>
                  </a:solidFill>
                  <a:latin typeface="IBM Plex Sans"/>
                </a:rPr>
                <a:t>same action</a:t>
              </a:r>
              <a:r>
                <a:rPr lang="en-US" dirty="0">
                  <a:solidFill>
                    <a:srgbClr val="161616"/>
                  </a:solidFill>
                  <a:latin typeface="IBM Plex Sans"/>
                </a:rPr>
                <a:t> as the original state:</a:t>
              </a:r>
            </a:p>
            <a:p>
              <a:pPr algn="ctr"/>
              <a:endParaRPr lang="en-US" dirty="0">
                <a:solidFill>
                  <a:srgbClr val="161616"/>
                </a:solidFill>
                <a:latin typeface="IBM Plex Sans"/>
              </a:endParaRPr>
            </a:p>
            <a:p>
              <a:pPr algn="ctr"/>
              <a:endParaRPr lang="en-US" sz="2100" dirty="0">
                <a:solidFill>
                  <a:srgbClr val="161616"/>
                </a:solidFill>
                <a:latin typeface="IBM Plex San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0FC5BCE7-E520-BEC6-A72F-F8070CEFE2D3}"/>
                    </a:ext>
                  </a:extLst>
                </p:cNvPr>
                <p:cNvSpPr txBox="1"/>
                <p:nvPr/>
              </p:nvSpPr>
              <p:spPr>
                <a:xfrm>
                  <a:off x="1549579" y="4750033"/>
                  <a:ext cx="3041217" cy="3231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sz="21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100" b="1" i="1" smtClean="0">
                                <a:latin typeface="Cambria Math" panose="02040503050406030204" pitchFamily="18" charset="0"/>
                              </a:rPr>
                              <m:t>𝝅</m:t>
                            </m:r>
                          </m:e>
                          <m:sub>
                            <m:r>
                              <a:rPr lang="it-IT" sz="2100" b="1" i="1" smtClean="0">
                                <a:latin typeface="Cambria Math" panose="02040503050406030204" pitchFamily="18" charset="0"/>
                              </a:rPr>
                              <m:t>𝒆</m:t>
                            </m:r>
                          </m:sub>
                        </m:sSub>
                        <m:r>
                          <a:rPr lang="it-IT" sz="21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it-IT" sz="21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1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it-IT" sz="21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  <m:r>
                          <a:rPr lang="it-IT" sz="21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⨀ </m:t>
                        </m:r>
                        <m:r>
                          <a:rPr lang="it-IT" sz="21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𝒎𝒂𝒔𝒌</m:t>
                        </m:r>
                        <m:r>
                          <a:rPr lang="it-IT" sz="21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)≈</m:t>
                        </m:r>
                        <m:sSub>
                          <m:sSubPr>
                            <m:ctrlPr>
                              <a:rPr lang="it-IT" sz="21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1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𝝅</m:t>
                            </m:r>
                          </m:e>
                          <m:sub>
                            <m:r>
                              <a:rPr lang="it-IT" sz="21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𝒆</m:t>
                            </m:r>
                          </m:sub>
                        </m:sSub>
                        <m:r>
                          <a:rPr lang="it-IT" sz="21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it-IT" sz="21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1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it-IT" sz="21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  <m:r>
                          <a:rPr lang="it-IT" sz="21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)</m:t>
                        </m:r>
                      </m:oMath>
                    </m:oMathPara>
                  </a14:m>
                  <a:endParaRPr lang="en-US" sz="2100" b="1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0FC5BCE7-E520-BEC6-A72F-F8070CEFE2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49579" y="4750033"/>
                  <a:ext cx="3041217" cy="323165"/>
                </a:xfrm>
                <a:prstGeom prst="rect">
                  <a:avLst/>
                </a:prstGeom>
                <a:blipFill>
                  <a:blip r:embed="rId5"/>
                  <a:stretch>
                    <a:fillRect l="-802" t="-1887" r="-3006" b="-358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7" name="Rectangle: Top Corners Rounded 46">
            <a:extLst>
              <a:ext uri="{FF2B5EF4-FFF2-40B4-BE49-F238E27FC236}">
                <a16:creationId xmlns:a16="http://schemas.microsoft.com/office/drawing/2014/main" id="{982662E1-EE06-0DBD-B5D4-24436F880608}"/>
              </a:ext>
            </a:extLst>
          </p:cNvPr>
          <p:cNvSpPr/>
          <p:nvPr/>
        </p:nvSpPr>
        <p:spPr>
          <a:xfrm rot="10800000">
            <a:off x="-14" y="-22"/>
            <a:ext cx="902560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8" name="Title 1">
            <a:extLst>
              <a:ext uri="{FF2B5EF4-FFF2-40B4-BE49-F238E27FC236}">
                <a16:creationId xmlns:a16="http://schemas.microsoft.com/office/drawing/2014/main" id="{2E4FA130-25FE-E624-00C1-F54CDB80BF2E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3222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🖥️ </a:t>
            </a:r>
            <a:r>
              <a:rPr lang="en-US" b="1" dirty="0" err="1">
                <a:solidFill>
                  <a:schemeClr val="bg1"/>
                </a:solidFill>
              </a:rPr>
              <a:t>SSINet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it-IT" dirty="0">
                <a:solidFill>
                  <a:schemeClr val="bg1"/>
                </a:solidFill>
              </a:rPr>
              <a:t>2️⃣</a:t>
            </a:r>
            <a:r>
              <a:rPr lang="it-IT" b="1" dirty="0">
                <a:solidFill>
                  <a:schemeClr val="bg1"/>
                </a:solidFill>
              </a:rPr>
              <a:t>Two Core </a:t>
            </a:r>
            <a:r>
              <a:rPr lang="it-IT" b="1" dirty="0" err="1">
                <a:solidFill>
                  <a:schemeClr val="bg1"/>
                </a:solidFill>
              </a:rPr>
              <a:t>Properties</a:t>
            </a:r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3238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F88103-0FDA-4EFA-9B26-436C1DBC1C22}"/>
              </a:ext>
            </a:extLst>
          </p:cNvPr>
          <p:cNvSpPr/>
          <p:nvPr/>
        </p:nvSpPr>
        <p:spPr>
          <a:xfrm>
            <a:off x="0" y="0"/>
            <a:ext cx="4572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C93DFD-E01A-486B-9F5E-9F0707F17D62}"/>
              </a:ext>
            </a:extLst>
          </p:cNvPr>
          <p:cNvSpPr txBox="1"/>
          <p:nvPr/>
        </p:nvSpPr>
        <p:spPr>
          <a:xfrm>
            <a:off x="203200" y="101600"/>
            <a:ext cx="4318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Key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86E402-8052-491A-8110-4A9DC6D4A920}"/>
              </a:ext>
            </a:extLst>
          </p:cNvPr>
          <p:cNvSpPr txBox="1"/>
          <p:nvPr/>
        </p:nvSpPr>
        <p:spPr>
          <a:xfrm>
            <a:off x="4826000" y="279400"/>
            <a:ext cx="711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Atari 2600 and Duckietown self-driving simulator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E4DE4F-327F-41CA-A183-5C407476ED99}"/>
              </a:ext>
            </a:extLst>
          </p:cNvPr>
          <p:cNvSpPr/>
          <p:nvPr/>
        </p:nvSpPr>
        <p:spPr>
          <a:xfrm>
            <a:off x="50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6C7BDF-3BA6-4E88-88E7-7C48ADE56932}"/>
              </a:ext>
            </a:extLst>
          </p:cNvPr>
          <p:cNvSpPr txBox="1"/>
          <p:nvPr/>
        </p:nvSpPr>
        <p:spPr>
          <a:xfrm>
            <a:off x="63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≈ expert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FE19E7-CE6C-493F-9202-30F4E9C6BC97}"/>
              </a:ext>
            </a:extLst>
          </p:cNvPr>
          <p:cNvSpPr txBox="1"/>
          <p:nvPr/>
        </p:nvSpPr>
        <p:spPr>
          <a:xfrm>
            <a:off x="68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Mask policy matches expert policy return &amp; actions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9E1DB7-6206-40DC-83FF-BE0816BA40AE}"/>
              </a:ext>
            </a:extLst>
          </p:cNvPr>
          <p:cNvSpPr/>
          <p:nvPr/>
        </p:nvSpPr>
        <p:spPr>
          <a:xfrm>
            <a:off x="431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B365C0-1D98-4C91-A996-78A16A6387FB}"/>
              </a:ext>
            </a:extLst>
          </p:cNvPr>
          <p:cNvSpPr txBox="1"/>
          <p:nvPr/>
        </p:nvSpPr>
        <p:spPr>
          <a:xfrm>
            <a:off x="444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sharper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30B5A0-CD7E-49F6-8985-8BBD4C2A5F22}"/>
              </a:ext>
            </a:extLst>
          </p:cNvPr>
          <p:cNvSpPr txBox="1"/>
          <p:nvPr/>
        </p:nvSpPr>
        <p:spPr>
          <a:xfrm>
            <a:off x="449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Higher-resolution maps vs. Gradient &amp; Perturbation saliency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BB85EB9-F223-4CC4-A548-7006A90BDB12}"/>
              </a:ext>
            </a:extLst>
          </p:cNvPr>
          <p:cNvSpPr/>
          <p:nvPr/>
        </p:nvSpPr>
        <p:spPr>
          <a:xfrm>
            <a:off x="812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26F72B-5729-46DC-B58F-255955BACBE0}"/>
              </a:ext>
            </a:extLst>
          </p:cNvPr>
          <p:cNvSpPr txBox="1"/>
          <p:nvPr/>
        </p:nvSpPr>
        <p:spPr>
          <a:xfrm>
            <a:off x="825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10 maps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72B421-15B0-4627-A0C1-20B40F2BF3A0}"/>
              </a:ext>
            </a:extLst>
          </p:cNvPr>
          <p:cNvSpPr txBox="1"/>
          <p:nvPr/>
        </p:nvSpPr>
        <p:spPr>
          <a:xfrm>
            <a:off x="830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Duckietown: empty, zigzag, corner, U-turn, S-turn + city variants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5D1D38-0A72-4F70-A930-E60AD07AA8D3}"/>
              </a:ext>
            </a:extLst>
          </p:cNvPr>
          <p:cNvSpPr/>
          <p:nvPr/>
        </p:nvSpPr>
        <p:spPr>
          <a:xfrm>
            <a:off x="508000" y="3238500"/>
            <a:ext cx="5461000" cy="2667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6ADF4C-BDFE-48D8-ADAA-77A9C2903D84}"/>
              </a:ext>
            </a:extLst>
          </p:cNvPr>
          <p:cNvSpPr/>
          <p:nvPr/>
        </p:nvSpPr>
        <p:spPr>
          <a:xfrm>
            <a:off x="508000" y="32385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D22D1F-FC9A-457D-8116-AD1785E74C0C}"/>
              </a:ext>
            </a:extLst>
          </p:cNvPr>
          <p:cNvSpPr txBox="1"/>
          <p:nvPr/>
        </p:nvSpPr>
        <p:spPr>
          <a:xfrm>
            <a:off x="762000" y="3429000"/>
            <a:ext cx="4953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What the mask learns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F64CCF-A803-4108-BE5A-9861E5521959}"/>
              </a:ext>
            </a:extLst>
          </p:cNvPr>
          <p:cNvSpPr txBox="1"/>
          <p:nvPr/>
        </p:nvSpPr>
        <p:spPr>
          <a:xfrm>
            <a:off x="762000" y="4000500"/>
            <a:ext cx="4953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dirty="0">
                <a:solidFill>
                  <a:srgbClr val="161616"/>
                </a:solidFill>
                <a:latin typeface="IBM Plex Sans"/>
              </a:rPr>
              <a:t>• Lane-following: white edge &amp; yellow dashed lines
• Tennis: players, net, ball
• Attention is tight and task-relevant — matches human gaze patterns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9E79052-551A-4FB7-A6DE-8E37AFF1E8D6}"/>
              </a:ext>
            </a:extLst>
          </p:cNvPr>
          <p:cNvSpPr/>
          <p:nvPr/>
        </p:nvSpPr>
        <p:spPr>
          <a:xfrm>
            <a:off x="6223000" y="3238500"/>
            <a:ext cx="5461000" cy="2667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F2637C3-417D-43FA-8C8F-66404F9C66FD}"/>
              </a:ext>
            </a:extLst>
          </p:cNvPr>
          <p:cNvSpPr/>
          <p:nvPr/>
        </p:nvSpPr>
        <p:spPr>
          <a:xfrm>
            <a:off x="6223000" y="32385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773F82-78D0-45C1-87EE-186BD2F4407B}"/>
              </a:ext>
            </a:extLst>
          </p:cNvPr>
          <p:cNvSpPr txBox="1"/>
          <p:nvPr/>
        </p:nvSpPr>
        <p:spPr>
          <a:xfrm>
            <a:off x="6477000" y="3429000"/>
            <a:ext cx="4953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vs. prior saliency methods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8065D1-8863-4F9D-A5E4-ECBFE5CD4DF0}"/>
              </a:ext>
            </a:extLst>
          </p:cNvPr>
          <p:cNvSpPr txBox="1"/>
          <p:nvPr/>
        </p:nvSpPr>
        <p:spPr>
          <a:xfrm>
            <a:off x="6477000" y="4000500"/>
            <a:ext cx="4953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dirty="0">
                <a:solidFill>
                  <a:srgbClr val="161616"/>
                </a:solidFill>
                <a:latin typeface="IBM Plex Sans"/>
              </a:rPr>
              <a:t>• Higher-resolution, sharper maps than Gradient-Saliency [18]
• Better than Perturbation-Saliency [21] (Gaussian blur)
• Masked-pixel policies preserve return; others degrade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2C0BEEE-9F89-4894-823A-58132AEDF4AC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6A355F-78E0-444F-9CD5-7F012B7DCEF4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8EABC9-C2E7-4B8E-B16B-99700DA6C0F7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9744455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FE7A8B-B4C0-4F2E-87F3-82A35F0DF113}"/>
              </a:ext>
            </a:extLst>
          </p:cNvPr>
          <p:cNvSpPr/>
          <p:nvPr/>
        </p:nvSpPr>
        <p:spPr>
          <a:xfrm>
            <a:off x="0" y="0"/>
            <a:ext cx="6096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27F355-5E19-4DA9-B304-455907EF0299}"/>
              </a:ext>
            </a:extLst>
          </p:cNvPr>
          <p:cNvSpPr txBox="1"/>
          <p:nvPr/>
        </p:nvSpPr>
        <p:spPr>
          <a:xfrm>
            <a:off x="203200" y="101600"/>
            <a:ext cx="5842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Measuring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20ABE9-1AE7-420A-8C7A-020A1E7F2C0F}"/>
              </a:ext>
            </a:extLst>
          </p:cNvPr>
          <p:cNvSpPr txBox="1"/>
          <p:nvPr/>
        </p:nvSpPr>
        <p:spPr>
          <a:xfrm>
            <a:off x="6350000" y="279400"/>
            <a:ext cx="5715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Quantitative metrics + practical takeaways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13D9FA-2AF3-458F-A8BC-D9E1E7F97C69}"/>
              </a:ext>
            </a:extLst>
          </p:cNvPr>
          <p:cNvSpPr/>
          <p:nvPr/>
        </p:nvSpPr>
        <p:spPr>
          <a:xfrm>
            <a:off x="508000" y="1270000"/>
            <a:ext cx="5588000" cy="15875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B1AF69-524F-4553-A806-1219D5623EE9}"/>
              </a:ext>
            </a:extLst>
          </p:cNvPr>
          <p:cNvSpPr/>
          <p:nvPr/>
        </p:nvSpPr>
        <p:spPr>
          <a:xfrm>
            <a:off x="698500" y="1498600"/>
            <a:ext cx="1117600" cy="11176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 dirty="0">
                <a:solidFill>
                  <a:srgbClr val="C9A227"/>
                </a:solidFill>
                <a:latin typeface="IBM Plex Sans"/>
              </a:rPr>
              <a:t>FOR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74EDC-5DDA-4D23-A584-CAC090A85993}"/>
              </a:ext>
            </a:extLst>
          </p:cNvPr>
          <p:cNvSpPr txBox="1"/>
          <p:nvPr/>
        </p:nvSpPr>
        <p:spPr>
          <a:xfrm>
            <a:off x="2032000" y="1473200"/>
            <a:ext cx="3937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 dirty="0">
                <a:solidFill>
                  <a:srgbClr val="005866"/>
                </a:solidFill>
                <a:latin typeface="IBM Plex Sans"/>
              </a:rPr>
              <a:t>Feature Overlapping Rate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1A9312-309F-4CD3-8CF4-8DC2BF7FA5DA}"/>
              </a:ext>
            </a:extLst>
          </p:cNvPr>
          <p:cNvSpPr txBox="1"/>
          <p:nvPr/>
        </p:nvSpPr>
        <p:spPr>
          <a:xfrm>
            <a:off x="2032000" y="1854200"/>
            <a:ext cx="3937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Overlap between true mask area and learned mask.
Did the agent look at the right things?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295D3F9-471C-41BD-9919-B0FF67EE8678}"/>
              </a:ext>
            </a:extLst>
          </p:cNvPr>
          <p:cNvSpPr/>
          <p:nvPr/>
        </p:nvSpPr>
        <p:spPr>
          <a:xfrm>
            <a:off x="508000" y="3048000"/>
            <a:ext cx="5588000" cy="15875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7FB84F-612D-4C5A-AA98-BE70CEB2381A}"/>
              </a:ext>
            </a:extLst>
          </p:cNvPr>
          <p:cNvSpPr/>
          <p:nvPr/>
        </p:nvSpPr>
        <p:spPr>
          <a:xfrm>
            <a:off x="698500" y="3276600"/>
            <a:ext cx="1117600" cy="11176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 dirty="0">
                <a:solidFill>
                  <a:srgbClr val="C9A227"/>
                </a:solidFill>
                <a:latin typeface="IBM Plex Sans"/>
              </a:rPr>
              <a:t>BER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9FD3EB-D25D-4875-8189-97EF1B507ADA}"/>
              </a:ext>
            </a:extLst>
          </p:cNvPr>
          <p:cNvSpPr txBox="1"/>
          <p:nvPr/>
        </p:nvSpPr>
        <p:spPr>
          <a:xfrm>
            <a:off x="2032000" y="3251200"/>
            <a:ext cx="3937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 dirty="0">
                <a:solidFill>
                  <a:srgbClr val="005866"/>
                </a:solidFill>
                <a:latin typeface="IBM Plex Sans"/>
              </a:rPr>
              <a:t>Background Elimination Rate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F83C40-0AC1-4F9E-87D0-DDDD603BBB96}"/>
              </a:ext>
            </a:extLst>
          </p:cNvPr>
          <p:cNvSpPr txBox="1"/>
          <p:nvPr/>
        </p:nvSpPr>
        <p:spPr>
          <a:xfrm>
            <a:off x="2032000" y="3632200"/>
            <a:ext cx="3937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How well the mask suppresses irrelevant background.
Did the agent ignore the noise?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5467CB2-A7A6-4C17-90B5-61522E1BB9BA}"/>
              </a:ext>
            </a:extLst>
          </p:cNvPr>
          <p:cNvSpPr/>
          <p:nvPr/>
        </p:nvSpPr>
        <p:spPr>
          <a:xfrm>
            <a:off x="508000" y="4826000"/>
            <a:ext cx="5588000" cy="1079500"/>
          </a:xfrm>
          <a:prstGeom prst="round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22E8C1-0064-44B8-8EB3-508DBB92A11D}"/>
              </a:ext>
            </a:extLst>
          </p:cNvPr>
          <p:cNvSpPr txBox="1"/>
          <p:nvPr/>
        </p:nvSpPr>
        <p:spPr>
          <a:xfrm>
            <a:off x="698500" y="4953000"/>
            <a:ext cx="5207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 dirty="0">
                <a:solidFill>
                  <a:srgbClr val="161616"/>
                </a:solidFill>
                <a:latin typeface="IBM Plex Sans"/>
              </a:rPr>
              <a:t>FOR × BER strongly correlates with return.
Agent wins only when it looks right AND ignores the rest.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7343D72-DBA3-4E63-8D13-1106CEACD305}"/>
              </a:ext>
            </a:extLst>
          </p:cNvPr>
          <p:cNvSpPr/>
          <p:nvPr/>
        </p:nvSpPr>
        <p:spPr>
          <a:xfrm>
            <a:off x="6350000" y="1270000"/>
            <a:ext cx="5334000" cy="4635500"/>
          </a:xfrm>
          <a:prstGeom prst="roundRect">
            <a:avLst/>
          </a:prstGeom>
          <a:solidFill>
            <a:srgbClr val="F2F0EA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B91028-4CED-47E2-9B96-A5017882C070}"/>
              </a:ext>
            </a:extLst>
          </p:cNvPr>
          <p:cNvSpPr/>
          <p:nvPr/>
        </p:nvSpPr>
        <p:spPr>
          <a:xfrm>
            <a:off x="6350000" y="1270000"/>
            <a:ext cx="5334000" cy="762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0A109F-0C65-4D53-B870-FFCBB7DC196B}"/>
              </a:ext>
            </a:extLst>
          </p:cNvPr>
          <p:cNvSpPr txBox="1"/>
          <p:nvPr/>
        </p:nvSpPr>
        <p:spPr>
          <a:xfrm>
            <a:off x="6604000" y="1498600"/>
            <a:ext cx="482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Takeaways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0D6EB2-1F36-4862-BBC3-37A9E4D44682}"/>
              </a:ext>
            </a:extLst>
          </p:cNvPr>
          <p:cNvSpPr txBox="1"/>
          <p:nvPr/>
        </p:nvSpPr>
        <p:spPr>
          <a:xfrm>
            <a:off x="6604000" y="2095500"/>
            <a:ext cx="4826000" cy="368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•  PPO &gt; SAC &gt; TD3 on lane-following — PPO ignores background better (higher BER)
•  Complex actor architectures don't guarantee better performance
•  Attention shift explains failure: agent drifts to background in novel scenes
•  Works on any vision-based RL model, no retraining of the agent
•  Points toward label-free self-supervised segmentation &amp; detection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5B4518-BE54-4229-B485-74D1BE89739C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FE8CCE-A8CD-446C-ABE7-D2A28C153F92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69377D-2FC1-4026-AE6F-0DDEF86BFE02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7671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F006C5D-752A-4980-9E10-2472195AF9D7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12e4e84e-e63c-4563-aee1-f0f02513a26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1440</Words>
  <Application>Microsoft Office PowerPoint</Application>
  <PresentationFormat>Widescreen</PresentationFormat>
  <Paragraphs>261</Paragraphs>
  <Slides>26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Cambria Math</vt:lpstr>
      <vt:lpstr>IBM Plex Sans</vt:lpstr>
      <vt:lpstr>Office Theme</vt:lpstr>
      <vt:lpstr>PowerPoint Presentation</vt:lpstr>
      <vt:lpstr>🔎The Context</vt:lpstr>
      <vt:lpstr>The Context: MoleGuLAR 🧬</vt:lpstr>
      <vt:lpstr>🧬MoleGuLAR: The Pipeline </vt:lpstr>
      <vt:lpstr>🧬MoleGuLAR: 🙂 SMILES</vt:lpstr>
      <vt:lpstr>🧬MoleGuLAR: 📄Data &amp; 🎯Target Proteins</vt:lpstr>
      <vt:lpstr>🧬MoleGuLAR: BA Estimation</vt:lpstr>
      <vt:lpstr>PowerPoint Presentation</vt:lpstr>
      <vt:lpstr>PowerPoint Presentation</vt:lpstr>
      <vt:lpstr>MoleGuLAR: 🎯 Desired Properties</vt:lpstr>
      <vt:lpstr>MoleGuLAR: 🏆Reward Functions</vt:lpstr>
      <vt:lpstr>MoleGuLAR: 🏆Reward Strategies</vt:lpstr>
      <vt:lpstr>🧬MoleGuLAR: 🤖The RL Model</vt:lpstr>
      <vt:lpstr>🤖The RL Model : 💪REINFORCE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Pimpinelli</dc:creator>
  <cp:lastModifiedBy>Francesco Pimpinelli</cp:lastModifiedBy>
  <cp:revision>13</cp:revision>
  <dcterms:created xsi:type="dcterms:W3CDTF">2026-03-14T16:31:52Z</dcterms:created>
  <dcterms:modified xsi:type="dcterms:W3CDTF">2026-04-27T13:52:34Z</dcterms:modified>
</cp:coreProperties>
</file>