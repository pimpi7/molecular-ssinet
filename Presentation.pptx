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7" r:id="rId2"/>
    <p:sldId id="326" r:id="rId3"/>
    <p:sldId id="337" r:id="rId4"/>
    <p:sldId id="338" r:id="rId5"/>
    <p:sldId id="339" r:id="rId6"/>
    <p:sldId id="340" r:id="rId7"/>
    <p:sldId id="344" r:id="rId8"/>
    <p:sldId id="345" r:id="rId9"/>
    <p:sldId id="342" r:id="rId10"/>
    <p:sldId id="348" r:id="rId11"/>
    <p:sldId id="341" r:id="rId12"/>
    <p:sldId id="347" r:id="rId13"/>
    <p:sldId id="346" r:id="rId14"/>
    <p:sldId id="303" r:id="rId15"/>
    <p:sldId id="327" r:id="rId16"/>
    <p:sldId id="336" r:id="rId17"/>
    <p:sldId id="331" r:id="rId18"/>
    <p:sldId id="332" r:id="rId19"/>
    <p:sldId id="333" r:id="rId20"/>
    <p:sldId id="334" r:id="rId21"/>
    <p:sldId id="33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66"/>
    <a:srgbClr val="C9A227"/>
    <a:srgbClr val="F0A76D"/>
    <a:srgbClr val="FFFCF0"/>
    <a:srgbClr val="96BF0D"/>
    <a:srgbClr val="FFCC66"/>
    <a:srgbClr val="FFFDF3"/>
    <a:srgbClr val="FFFBEB"/>
    <a:srgbClr val="F1F2E3"/>
    <a:srgbClr val="6DA8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8C04E0-E443-4414-A1E7-4090A8823F9A}" v="1195" dt="2026-03-19T08:21:17.8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725" autoAdjust="0"/>
    <p:restoredTop sz="87643" autoAdjust="0"/>
  </p:normalViewPr>
  <p:slideViewPr>
    <p:cSldViewPr snapToGrid="0">
      <p:cViewPr varScale="1">
        <p:scale>
          <a:sx n="94" d="100"/>
          <a:sy n="94" d="100"/>
        </p:scale>
        <p:origin x="148" y="76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1A2EBF-38CC-41CC-8845-D52A43580C34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F48A99-A7F1-49EB-916A-9E2AEC7B1174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90129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24857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904352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B70B8-C6A9-B93E-03B9-5CD7ED224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7EC58-EC39-4B99-7725-7FB507E0C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983A70-640D-4AAC-B263-DA7BFBADA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F5B46-EABD-9945-5DD2-DAF664BF3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81490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297F5-A1A0-F24B-7496-9C814E6CB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F417FE-8E87-F18F-6E5D-2866704873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BDBBF-8998-6568-DD4E-BC1FC5F80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FD459-2EA9-7EED-50E6-FF9044F66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9486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A3771-7D97-129C-A910-CFB47890F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C561D-F5CC-D47C-693B-E9EF79399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37C05-F180-AACE-93F4-37A6D48D3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54A9A-660B-6059-036E-EAE107B0C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0299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34C2F-6FBF-6688-2FF5-FBEE0AA17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3D4551-7F85-175E-AB59-AD002EC1D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0747C-2C65-D66C-2C99-54A5C6222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CCDD9-AC34-4410-14A5-4B5A12A88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551338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0EE4-D73B-0B5A-385C-3402EF8AD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658A1D-1EA3-B91F-EBD0-03ACD5AF7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C40A6F-2859-347C-9305-432160AD2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1D8806-275B-3F53-DE18-10EE6C077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15364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B9EE6-1C11-B396-E296-768082056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65B53F-112A-6B6F-77B8-637AE28FA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140B9D-28F2-FA55-1458-93CC82A81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6479E-B9FC-5A93-C5CF-31A3686B5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91852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4BCFF-8680-4429-B729-056A70C99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2D54AF-32B1-8869-9347-0644136D1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4B285D-1464-DE1E-5FC9-7879CD2B18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86CFA-FC29-F156-89F9-862C10C448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540704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DF863-A97E-4C6C-55BB-FC47525C1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FC3B7-DB5F-67B5-C92F-4DC4A5A1A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C8912-6918-1CE7-1DD5-AEFB04B63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0990F-EBAA-2E4E-1E0A-268164908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626933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A9B0E-E2D6-04E1-21B6-49FCFE70B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C1631A-0EBD-3D57-DBC5-7313C99D4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7F90F2-2660-60C5-3C2D-630EA2751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5096-5CCB-CD8E-566F-9B2DBC7D4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005576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ABB94-8CE7-B1F5-5E31-8E76FEB26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AFC27-34D7-9C58-B8A0-DFAE6008F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2EA091-2CC3-7D9A-36B5-3495839FF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Desirable properties.</a:t>
            </a:r>
          </a:p>
          <a:p>
            <a:r>
              <a:rPr lang="en-US" dirty="0"/>
              <a:t>Quantitative Estimate of Drug-likeness (QED)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18244-E065-4C9B-1D75-12FA9301ED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759133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F57C9-6DCF-8E3A-CCD6-9BCD7F4BB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DC125C-1C79-A4B4-E547-F32A8FA0B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A931EE-8004-97A5-04DF-631627126D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5331F8-ACA2-7408-78ED-D0AFBDBD17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017180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52B08-9F6C-71A4-5B85-BA7C44AAE1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0F6593-2FE5-49A4-A8AF-D9A66B47A9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0B817-26AF-8551-9A66-5A2BE8E39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A184F-393D-A3D6-91A4-D21D6DA98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772CE-3B3E-B840-29CC-362832F31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6569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F61-554B-3670-8F94-5F67857DC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C52A0-A955-8370-4502-FE9AC5201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9586-5C0F-3B13-13B6-A270B750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52CA9-178D-52CD-1D00-178BC9B59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1A0FF-139B-34E5-254F-B5B8B73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00282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D1B2A-233B-DD33-FFEF-C2C29B719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54826-39E7-C553-96BA-9597BDCED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91A75-8043-4F5D-E30B-2E263F9F0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9B4EE-7300-8123-AF28-70776CD5A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C833A-3596-5EAE-83FC-3A42C13E3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30289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81BC8-E38E-C0B4-6505-F8EC26018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E5231-EBD4-C163-92B9-3C3ACEA1A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2128A-EAF9-D63A-08DE-BA4131D77C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D09C4-EE65-0817-7C92-0839477B9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F09FA5-F5DE-CB3A-FF96-4A5460C19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F25EE-CF1C-DD2F-B94C-D9D251DE4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7865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9D446-D90B-56C0-B64C-9C2620F16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3B750-B501-91C8-26D3-488FB27DC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57B9ED-0D08-CDB2-9AEF-D0D17BBEF7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A49DFE-8879-F391-5BE2-73B9F8069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8EEDBE-D6A1-E91C-E89F-5DC0F884F0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22FDFF-E57A-65E1-4793-645D439F4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16BD18-6E83-D075-8599-FD09375F1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8181B3-5F8E-B7D9-336E-0BA050766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026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EB832-C17F-60E5-4768-3B3D8CCC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44C360-F9FA-D06E-87B2-3008FB2C7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E8777B-4A95-8A65-3F8A-6C5514E80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F40C7F-EFC8-EEF0-B0E0-CD1E046EA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48031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3CD271-363C-C1A8-4F54-DEDED611B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0067F8-D129-9024-7E91-B86437CD9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F82DD-9D0E-2900-CCF6-F72AD7DEF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75207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F9D29-AB81-CCF6-EB13-DE42C0147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B07FB-5AD1-5AE6-223B-A828CF756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A95105-8804-2F82-F56F-E797B79F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0E4A3-8F5F-C28B-806E-1C9C13CE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D491C4-ADA5-67D1-4474-F1846D75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5E41AD-642B-2A96-9DA6-123C2298E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1982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BABD5-7CE2-64B1-11D3-BC68A6CC1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6B961-BC20-78DE-F505-FFF1B248F3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42383-8C22-AFED-C9AA-148B2433A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C2DE09-D62C-D128-90C3-A3603DD18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013750-52AE-8232-5189-61973CC36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15E511-E1FB-815E-3424-5019E71CA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27213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93430-A7EB-9BCB-ABEC-B56986423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B4E52-AD39-089A-F0C9-FA9CAEA00E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35A9B0-FC21-8010-7D69-301B9F1B9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A87B3-2759-CB8F-6F44-3DC581094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E91CE-8400-37FD-EEC1-779823A9D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76163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3D5796-F381-DAA4-4FC3-44F1E30863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DD9AED-08AE-352A-146A-048AE0EC0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85D1B-9110-9B40-DA0A-F59679E79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4A595-0638-9CAB-05FA-781A9E8C4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BE299-DBD2-D8EA-078B-EB4789D13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84090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ACD38E-E0DB-572D-3B7C-4066C649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A0F8E-55C5-903E-14D0-9F579E986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768C3-EA23-A642-618E-121D4BCA83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EF195-71D2-4E51-8F71-5848C8970B32}" type="datetimeFigureOut">
              <a:rPr lang="it-IT" smtClean="0"/>
              <a:t>24/04/2026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31453-765C-25D7-6817-10D1E90943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316CF-1027-0712-A5E5-6A8E9B6F9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50617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59C6F7-0BCA-3F0A-D4BC-E984D6D0B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B96276F-3B8D-97DB-ED9B-B2A4AEEB9B8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22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BC9294-2F47-BD4A-9AC3-9A791517C6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942"/>
          <a:stretch>
            <a:fillRect/>
          </a:stretch>
        </p:blipFill>
        <p:spPr>
          <a:xfrm>
            <a:off x="5269268" y="192275"/>
            <a:ext cx="1653462" cy="19821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E29253-FA72-A353-CBB8-F893FBB52FDF}"/>
              </a:ext>
            </a:extLst>
          </p:cNvPr>
          <p:cNvSpPr txBox="1"/>
          <p:nvPr/>
        </p:nvSpPr>
        <p:spPr>
          <a:xfrm>
            <a:off x="-27934" y="2828835"/>
            <a:ext cx="122478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Applying Self-Supervised Discovering of Interpretable Features to Molecule Generation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3F8EDC-E0EC-44A6-912F-FA526DDD5DA9}"/>
              </a:ext>
            </a:extLst>
          </p:cNvPr>
          <p:cNvSpPr txBox="1"/>
          <p:nvPr/>
        </p:nvSpPr>
        <p:spPr>
          <a:xfrm>
            <a:off x="3242744" y="6095555"/>
            <a:ext cx="57065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Pimpinelli Francesco 2214340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white"/>
                </a:solidFill>
                <a:latin typeface="Aptos" panose="02110004020202020204"/>
              </a:rPr>
              <a:t>REINFORCEMENT LEARNING </a:t>
            </a:r>
            <a:r>
              <a:rPr lang="en-US" noProof="0" dirty="0">
                <a:solidFill>
                  <a:prstClr val="white"/>
                </a:solidFill>
                <a:latin typeface="Aptos" panose="02110004020202020204"/>
              </a:rPr>
              <a:t>A.A 25/26</a:t>
            </a:r>
            <a:endParaRPr kumimoji="0" lang="en-US" b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A60138-8134-4384-F208-089FF97041E0}"/>
              </a:ext>
            </a:extLst>
          </p:cNvPr>
          <p:cNvCxnSpPr>
            <a:cxnSpLocks/>
          </p:cNvCxnSpPr>
          <p:nvPr/>
        </p:nvCxnSpPr>
        <p:spPr>
          <a:xfrm>
            <a:off x="5695562" y="5353561"/>
            <a:ext cx="80087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061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C3D88-1E9C-A4A6-87B5-D0B2C0700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Accent Circle 1"/>
          <p:cNvSpPr/>
          <p:nvPr/>
        </p:nvSpPr>
        <p:spPr>
          <a:xfrm>
            <a:off x="101600" y="2514600"/>
            <a:ext cx="254000" cy="254000"/>
          </a:xfrm>
          <a:prstGeom prst="ellipse">
            <a:avLst/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Accent Line"/>
          <p:cNvSpPr/>
          <p:nvPr/>
        </p:nvSpPr>
        <p:spPr>
          <a:xfrm>
            <a:off x="457200" y="2743200"/>
            <a:ext cx="2743200" cy="0"/>
          </a:xfrm>
          <a:prstGeom prst="line">
            <a:avLst/>
          </a:prstGeom>
          <a:ln w="19050">
            <a:solidFill>
              <a:srgbClr val="E8A838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56" name="Accent Diamond"/>
          <p:cNvSpPr/>
          <p:nvPr/>
        </p:nvSpPr>
        <p:spPr>
          <a:xfrm rot="2700000">
            <a:off x="11201400" y="5486400"/>
            <a:ext cx="304800" cy="304800"/>
          </a:xfrm>
          <a:prstGeom prst="rect">
            <a:avLst/>
          </a:prstGeom>
          <a:solidFill>
            <a:srgbClr val="E8A83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Fun Arrow"/>
          <p:cNvSpPr/>
          <p:nvPr/>
        </p:nvSpPr>
        <p:spPr>
          <a:xfrm rot="5400000">
            <a:off x="5638800" y="2438400"/>
            <a:ext cx="533400" cy="3810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80EFEF3-9B24-A2DA-69EB-91C4AA482886}"/>
              </a:ext>
            </a:extLst>
          </p:cNvPr>
          <p:cNvSpPr/>
          <p:nvPr/>
        </p:nvSpPr>
        <p:spPr>
          <a:xfrm rot="10800000">
            <a:off x="-1" y="-2"/>
            <a:ext cx="3262579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480045B-A75C-C2B2-D5B3-C67654E0C6C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D286D28C-FC43-1663-37D8-3D2572DFA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9B5565A-778D-3D1D-2145-C90A1B5DB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1DAC80-3B66-2A56-DE12-6E751FABC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3" y="-227754"/>
            <a:ext cx="6100334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The Context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766155-CA4F-3BA3-D33A-6CA555AD7515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75F7E7-1028-CD30-1F56-50B40598D4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114C6678-1150-C0BC-28E5-7A828606DF7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947EC-6374-A1A9-CBC4-A983F36BDD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28690" y="133719"/>
            <a:ext cx="5696002" cy="2686717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231E72-CBED-140D-6E85-2781F6AEBD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819"/>
          <a:stretch>
            <a:fillRect/>
          </a:stretch>
        </p:blipFill>
        <p:spPr>
          <a:xfrm>
            <a:off x="552460" y="2802188"/>
            <a:ext cx="5696002" cy="322330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19C412C-1BE1-2332-A51E-F7C9CA391C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8342" y="2793218"/>
            <a:ext cx="5607477" cy="334217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57" name="Graphic 57" descr="Resear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26000" y="101600"/>
            <a:ext cx="558800" cy="558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CFF088-A7BD-45FF-6F53-2E04B1B364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41" y="1045192"/>
            <a:ext cx="6100335" cy="1747764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8636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55A86-0EDF-7C43-7E3E-F4F676C5C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3E93B9C7-AACF-862D-F653-4A6B33F12347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E2C1EC-9FA8-B807-6233-8B8E630073C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FE478CD-608D-3394-5075-BE5775B52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D2A8323-A3B8-CD49-30C6-03AED7D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9478145-7C74-AE18-5BE1-3973B301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The Context: MoleGuLAR </a:t>
            </a:r>
            <a:r>
              <a:rPr lang="it-IT" b="1" dirty="0">
                <a:solidFill>
                  <a:schemeClr val="bg1"/>
                </a:solidFill>
              </a:rPr>
              <a:t>🧬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36885A-A6E6-301D-978F-2BBA6482E3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F3E19D8F-49BB-18F1-E0CB-CD87CC0AA92E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4B34C2E-E321-7692-E8AB-4DE007A90BD0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9FA946C-6551-FDAE-57C3-920A1CB15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85" y="1325560"/>
            <a:ext cx="10974943" cy="3747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291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7B733-C6B8-1CC4-CF49-A1A6600EA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3F88AE-33E3-7715-6555-B97426439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" r="870"/>
          <a:stretch>
            <a:fillRect/>
          </a:stretch>
        </p:blipFill>
        <p:spPr>
          <a:xfrm>
            <a:off x="3037787" y="761876"/>
            <a:ext cx="6944413" cy="5536266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B8E7BE2-84F3-D1A3-4C2D-F7B680F3FC8B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0A44D8-44F4-95DB-A337-280A3C3913D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118AFFF-3591-1B55-C5CC-347C101D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1FFDFEC-83E1-EAAE-177E-B5E262DF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915513-DF91-053E-419A-B2581CE12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The Pipeline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1C359D-EEC7-2074-BEB3-CF85C8C139B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719104C3-895E-DA6A-5C30-09298C1F3188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003457F3-568C-2BDB-293E-95659049A85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6387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47F79-054D-716E-A0EC-F6E8554FA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259FA557-25EC-73F7-C769-9EDFAB05BA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84" b="1991"/>
          <a:stretch>
            <a:fillRect/>
          </a:stretch>
        </p:blipFill>
        <p:spPr bwMode="auto">
          <a:xfrm>
            <a:off x="2274486" y="3982875"/>
            <a:ext cx="3647269" cy="214963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2D21F5-AF85-FB45-1B06-7CCB17DEE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3" y="925445"/>
            <a:ext cx="8110557" cy="29500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4EC6D4-1853-12C2-21B6-85E36ED37C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8" t="62" r="-256" b="192"/>
          <a:stretch>
            <a:fillRect/>
          </a:stretch>
        </p:blipFill>
        <p:spPr>
          <a:xfrm>
            <a:off x="7315200" y="1960993"/>
            <a:ext cx="10772704" cy="8557879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3DB3313-E8DE-632E-2905-73B3FE71AD5F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CE5C2-E817-4FF1-C9B1-F4AC5D2FEB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D2C64B-1F91-5A24-FD75-6C9BE6643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454EB69B-AC8D-8C07-637B-182E04680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48D630-B72B-3962-ACB5-E539F41B7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dirty="0">
                <a:solidFill>
                  <a:schemeClr val="bg1"/>
                </a:solidFill>
              </a:rPr>
              <a:t>🙂 </a:t>
            </a:r>
            <a:r>
              <a:rPr lang="en-US" b="1" noProof="0" dirty="0">
                <a:solidFill>
                  <a:schemeClr val="bg1"/>
                </a:solidFill>
              </a:rPr>
              <a:t>SMILES</a:t>
            </a:r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774479-E582-19BC-FC1A-FFDCF9EE453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6F6A3BA-D8B4-3F9E-F80A-3668D2D80BC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B1AB529A-C45A-B812-6CA1-07337FEA51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Arrow: Curved Right 5">
            <a:extLst>
              <a:ext uri="{FF2B5EF4-FFF2-40B4-BE49-F238E27FC236}">
                <a16:creationId xmlns:a16="http://schemas.microsoft.com/office/drawing/2014/main" id="{C76AB348-9265-9F81-BA1C-B1FC222FB77F}"/>
              </a:ext>
            </a:extLst>
          </p:cNvPr>
          <p:cNvSpPr/>
          <p:nvPr/>
        </p:nvSpPr>
        <p:spPr>
          <a:xfrm rot="19681607">
            <a:off x="933723" y="3672590"/>
            <a:ext cx="614597" cy="1918741"/>
          </a:xfrm>
          <a:prstGeom prst="curvedRightArrow">
            <a:avLst>
              <a:gd name="adj1" fmla="val 30265"/>
              <a:gd name="adj2" fmla="val 41322"/>
              <a:gd name="adj3" fmla="val 25000"/>
            </a:avLst>
          </a:prstGeom>
          <a:solidFill>
            <a:srgbClr val="E9886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12268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173D4-5533-0BFB-CBD0-69BB4BF65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06867A-0AE6-394A-E5EE-B10727F342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D65AFB8-6F25-B0F8-1CD4-81A5F7DCF8FC}"/>
              </a:ext>
            </a:extLst>
          </p:cNvPr>
          <p:cNvSpPr/>
          <p:nvPr/>
        </p:nvSpPr>
        <p:spPr>
          <a:xfrm rot="10800000">
            <a:off x="-3" y="-7"/>
            <a:ext cx="751687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A18EAC-2097-A911-87B3-77DCB001E84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2B08E4B-C38D-4CC4-BFDE-3E09BDF64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EEE7058-0088-8FD5-2EEE-BE9AFB222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6D138FE-1237-0D1B-E803-7631FC60F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516878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en-US" b="1" dirty="0">
                <a:solidFill>
                  <a:schemeClr val="bg1"/>
                </a:solidFill>
              </a:rPr>
              <a:t>BA Estimation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6971BA-6EE3-7D6C-BA09-63ABE9A5EB2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4627589-E671-9B13-FC83-DFC0BF9C36B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8E517530-11E2-26F6-DB7F-1C1DE94A2C0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F476A45-C3DE-6216-0392-00FDF740B284}"/>
              </a:ext>
            </a:extLst>
          </p:cNvPr>
          <p:cNvSpPr/>
          <p:nvPr/>
        </p:nvSpPr>
        <p:spPr>
          <a:xfrm>
            <a:off x="6727970" y="1214226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D936E1-2358-BA93-FA43-CFD9447285FB}"/>
              </a:ext>
            </a:extLst>
          </p:cNvPr>
          <p:cNvSpPr txBox="1"/>
          <p:nvPr/>
        </p:nvSpPr>
        <p:spPr>
          <a:xfrm>
            <a:off x="6727970" y="1312841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Graph Embeddings + 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7A75BF9-623D-5DAC-7BE4-D4C5108F9699}"/>
                  </a:ext>
                </a:extLst>
              </p:cNvPr>
              <p:cNvSpPr txBox="1"/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0.87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0.55</a:t>
                </a: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7A75BF9-623D-5DAC-7BE4-D4C5108F96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blipFill>
                <a:blip r:embed="rId4"/>
                <a:stretch>
                  <a:fillRect t="-2564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3B440F16-6148-B739-EDE9-A61FA4330AE0}"/>
              </a:ext>
            </a:extLst>
          </p:cNvPr>
          <p:cNvSpPr/>
          <p:nvPr/>
        </p:nvSpPr>
        <p:spPr>
          <a:xfrm>
            <a:off x="6727970" y="2926248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21A9149-D7EB-8B78-1C00-2F4C3FD677B6}"/>
              </a:ext>
            </a:extLst>
          </p:cNvPr>
          <p:cNvSpPr txBox="1"/>
          <p:nvPr/>
        </p:nvSpPr>
        <p:spPr>
          <a:xfrm>
            <a:off x="6787930" y="2979254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Mol2Vec + 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7537EAD-A536-79F9-9CF5-6C4DDC75D185}"/>
                  </a:ext>
                </a:extLst>
              </p:cNvPr>
              <p:cNvSpPr txBox="1"/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0.47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0.91</a:t>
                </a: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7537EAD-A536-79F9-9CF5-6C4DDC75D1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blipFill>
                <a:blip r:embed="rId5"/>
                <a:stretch>
                  <a:fillRect t="-3419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FFCF67A7-253C-1BA4-E23B-B82BDC661941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005866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3F13BB8-2FD5-7031-2774-13E38EA4553E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Graph Isomorphism Network (GIN)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B295091-49AB-055B-A3BD-10FB24091019}"/>
                  </a:ext>
                </a:extLst>
              </p:cNvPr>
              <p:cNvSpPr txBox="1"/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chemeClr val="tx1"/>
                    </a:solidFill>
                  </a:rPr>
                  <a:t>           MAE</a:t>
                </a:r>
                <a:r>
                  <a:rPr lang="en-US" sz="2000" dirty="0">
                    <a:solidFill>
                      <a:schemeClr val="tx1"/>
                    </a:solidFill>
                  </a:rPr>
                  <a:t>: 		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</a:t>
                </a:r>
                <a:r>
                  <a:rPr lang="en-US" sz="2000" dirty="0">
                    <a:solidFill>
                      <a:srgbClr val="005866"/>
                    </a:solidFill>
                  </a:rPr>
                  <a:t>	</a:t>
                </a:r>
              </a:p>
              <a:p>
                <a:pPr algn="l"/>
                <a:r>
                  <a:rPr lang="en-US" sz="2000" dirty="0">
                    <a:solidFill>
                      <a:srgbClr val="005866"/>
                    </a:solidFill>
                  </a:rPr>
                  <a:t>            </a:t>
                </a:r>
                <a:r>
                  <a:rPr lang="en-US" sz="2000" dirty="0"/>
                  <a:t>0.45                     </a:t>
                </a:r>
                <a:r>
                  <a:rPr lang="en-US" sz="2000" dirty="0">
                    <a:latin typeface="IBM Plex Sans"/>
                  </a:rPr>
                  <a:t>        </a:t>
                </a:r>
                <a:r>
                  <a:rPr lang="en-US" sz="2000" dirty="0"/>
                  <a:t>0.93</a:t>
                </a: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B295091-49AB-055B-A3BD-10FB24091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blipFill>
                <a:blip r:embed="rId6"/>
                <a:stretch>
                  <a:fillRect t="-3419" b="-153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112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F2A55-1561-1021-7341-31D509B62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9C74C1D-009D-FB7A-3911-F42198A325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32737D70-A346-99E1-EBF7-63921C4132A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C4FC49C3-E1CB-D097-EECF-B5639DFA2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5E10EFB-D306-06FD-1321-01DE55BCD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D1C2C7-A960-9DD0-EB66-42C0767A712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1A83BAC8-5B99-922F-B0E2-9564AAE7C2AD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E6837ED-B375-9352-50CD-CAEBCF4F724F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8580ECB3-CCD9-A048-ABB3-01B71E753F78}"/>
              </a:ext>
            </a:extLst>
          </p:cNvPr>
          <p:cNvSpPr/>
          <p:nvPr/>
        </p:nvSpPr>
        <p:spPr>
          <a:xfrm>
            <a:off x="6727970" y="1214226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DCFA371-45DC-97F5-846C-EFAC7BD964BF}"/>
              </a:ext>
            </a:extLst>
          </p:cNvPr>
          <p:cNvSpPr txBox="1"/>
          <p:nvPr/>
        </p:nvSpPr>
        <p:spPr>
          <a:xfrm>
            <a:off x="6727970" y="1312841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Graph Embeddings + 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BDE6CFC-60D1-F6B9-E840-2CD8F888670D}"/>
                  </a:ext>
                </a:extLst>
              </p:cNvPr>
              <p:cNvSpPr txBox="1"/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0.87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0.55</a:t>
                </a: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BDE6CFC-60D1-F6B9-E840-2CD8F8886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blipFill>
                <a:blip r:embed="rId4"/>
                <a:stretch>
                  <a:fillRect t="-2564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E0285277-7D5D-8402-32FA-123425176564}"/>
              </a:ext>
            </a:extLst>
          </p:cNvPr>
          <p:cNvSpPr/>
          <p:nvPr/>
        </p:nvSpPr>
        <p:spPr>
          <a:xfrm>
            <a:off x="6727970" y="2926248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1A9A37-1618-7E38-25C9-96E7C327CE92}"/>
              </a:ext>
            </a:extLst>
          </p:cNvPr>
          <p:cNvSpPr txBox="1"/>
          <p:nvPr/>
        </p:nvSpPr>
        <p:spPr>
          <a:xfrm>
            <a:off x="6787930" y="2979254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Mol2Vec + 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467D94-9560-BC64-EFC2-3B0CB6B52053}"/>
                  </a:ext>
                </a:extLst>
              </p:cNvPr>
              <p:cNvSpPr txBox="1"/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0.47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0.91</a:t>
                </a: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467D94-9560-BC64-EFC2-3B0CB6B52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blipFill>
                <a:blip r:embed="rId5"/>
                <a:stretch>
                  <a:fillRect t="-3419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96CB4FB1-FFD9-C5F1-6DD4-4A3D76E22836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170C2A-890B-8DCF-2021-52964353B035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7C26419-A3B4-0B69-5BF9-23F0B02019FF}"/>
                  </a:ext>
                </a:extLst>
              </p:cNvPr>
              <p:cNvSpPr txBox="1"/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C9A227"/>
                    </a:solidFill>
                  </a:rPr>
                  <a:t>          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MAE</a:t>
                </a:r>
                <a:r>
                  <a:rPr lang="en-US" sz="2000" dirty="0">
                    <a:solidFill>
                      <a:schemeClr val="tx1"/>
                    </a:solidFill>
                  </a:rPr>
                  <a:t>: 		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chemeClr val="tx1"/>
                    </a:solidFill>
                  </a:rPr>
                  <a:t>            0.45                     </a:t>
                </a:r>
                <a:r>
                  <a:rPr lang="en-US" sz="2000" dirty="0">
                    <a:solidFill>
                      <a:schemeClr val="tx1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chemeClr val="tx1"/>
                    </a:solidFill>
                  </a:rPr>
                  <a:t>0.93</a:t>
                </a: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7C26419-A3B4-0B69-5BF9-23F0B02019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blipFill>
                <a:blip r:embed="rId6"/>
                <a:stretch>
                  <a:fillRect t="-3419" b="-153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: Top Corners Rounded 4">
            <a:extLst>
              <a:ext uri="{FF2B5EF4-FFF2-40B4-BE49-F238E27FC236}">
                <a16:creationId xmlns:a16="http://schemas.microsoft.com/office/drawing/2014/main" id="{D44F5DDC-9C90-7800-6623-3E1AF45C8980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1CA1988-62D9-F93E-9840-0E9547FC0B90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🤝</a:t>
            </a:r>
            <a:r>
              <a:rPr lang="en-US" b="1" dirty="0">
                <a:solidFill>
                  <a:schemeClr val="bg1"/>
                </a:solidFill>
              </a:rPr>
              <a:t>BA Estimation: Chosen Architecture</a:t>
            </a:r>
          </a:p>
        </p:txBody>
      </p:sp>
    </p:spTree>
    <p:extLst>
      <p:ext uri="{BB962C8B-B14F-4D97-AF65-F5344CB8AC3E}">
        <p14:creationId xmlns:p14="http://schemas.microsoft.com/office/powerpoint/2010/main" val="4304719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F1D8-131F-AB22-3B17-C2FDB46A7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>
            <a:extLst>
              <a:ext uri="{FF2B5EF4-FFF2-40B4-BE49-F238E27FC236}">
                <a16:creationId xmlns:a16="http://schemas.microsoft.com/office/drawing/2014/main" id="{39772984-A627-DD16-F3FF-4FE79C64C7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DF4DC020-30E9-05E8-B79E-716A81B7D5D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297DA04-5150-91B8-1EDF-B051197F2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9133A47-008B-2129-3BC4-8EFCAF8F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9EB08C-DDC7-A66B-E673-9B5A43EB555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6653FF8-9610-1295-D253-CE620F35DD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33E16E21-94BF-E640-CC41-6B3EA5EFEE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5CF442B-1D4C-DBA1-BFC3-FBC998AAA457}"/>
              </a:ext>
            </a:extLst>
          </p:cNvPr>
          <p:cNvSpPr/>
          <p:nvPr/>
        </p:nvSpPr>
        <p:spPr>
          <a:xfrm>
            <a:off x="6727970" y="986474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80710B0-3FD8-DBEF-CF96-8E42B289E07A}"/>
              </a:ext>
            </a:extLst>
          </p:cNvPr>
          <p:cNvSpPr txBox="1"/>
          <p:nvPr/>
        </p:nvSpPr>
        <p:spPr>
          <a:xfrm>
            <a:off x="6727970" y="1059866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43E270EB-FD84-2650-779F-A8A128CB6F88}"/>
                  </a:ext>
                </a:extLst>
              </p:cNvPr>
              <p:cNvSpPr txBox="1"/>
              <p:nvPr/>
            </p:nvSpPr>
            <p:spPr>
              <a:xfrm>
                <a:off x="7168283" y="1497798"/>
                <a:ext cx="4011118" cy="7148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C9A227"/>
                    </a:solidFill>
                  </a:rPr>
                  <a:t>          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MAE</a:t>
                </a:r>
                <a:r>
                  <a:rPr lang="en-US" sz="2000" dirty="0">
                    <a:solidFill>
                      <a:schemeClr val="tx1"/>
                    </a:solidFill>
                  </a:rPr>
                  <a:t>: 		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chemeClr val="tx1"/>
                    </a:solidFill>
                  </a:rPr>
                  <a:t>            0.45                     </a:t>
                </a:r>
                <a:r>
                  <a:rPr lang="en-US" sz="2000" dirty="0">
                    <a:solidFill>
                      <a:schemeClr val="tx1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chemeClr val="tx1"/>
                    </a:solidFill>
                  </a:rPr>
                  <a:t>0.93</a:t>
                </a: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43E270EB-FD84-2650-779F-A8A128CB6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1497798"/>
                <a:ext cx="4011118" cy="714876"/>
              </a:xfrm>
              <a:prstGeom prst="rect">
                <a:avLst/>
              </a:prstGeom>
              <a:blipFill>
                <a:blip r:embed="rId4"/>
                <a:stretch>
                  <a:fillRect t="-3419" b="-153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9" name="Picture 48">
            <a:extLst>
              <a:ext uri="{FF2B5EF4-FFF2-40B4-BE49-F238E27FC236}">
                <a16:creationId xmlns:a16="http://schemas.microsoft.com/office/drawing/2014/main" id="{C291D896-AD15-3B6D-00A2-7D9AB6E9F4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1525"/>
          <a:stretch>
            <a:fillRect/>
          </a:stretch>
        </p:blipFill>
        <p:spPr>
          <a:xfrm>
            <a:off x="7516302" y="2617161"/>
            <a:ext cx="3318346" cy="3439151"/>
          </a:xfrm>
          <a:prstGeom prst="rect">
            <a:avLst/>
          </a:prstGeom>
        </p:spPr>
      </p:pic>
      <p:sp>
        <p:nvSpPr>
          <p:cNvPr id="52" name="Rectangle: Top Corners Rounded 51">
            <a:extLst>
              <a:ext uri="{FF2B5EF4-FFF2-40B4-BE49-F238E27FC236}">
                <a16:creationId xmlns:a16="http://schemas.microsoft.com/office/drawing/2014/main" id="{36089BE2-8BC1-8999-DBA5-178B5BA4A7BE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E0DB1B8A-9D3B-C6DA-8CAB-121554BA1BFB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🤝</a:t>
            </a:r>
            <a:r>
              <a:rPr lang="en-US" b="1" dirty="0">
                <a:solidFill>
                  <a:schemeClr val="bg1"/>
                </a:solidFill>
              </a:rPr>
              <a:t>BA Estimation: Chosen Architecture</a:t>
            </a:r>
          </a:p>
        </p:txBody>
      </p:sp>
    </p:spTree>
    <p:extLst>
      <p:ext uri="{BB962C8B-B14F-4D97-AF65-F5344CB8AC3E}">
        <p14:creationId xmlns:p14="http://schemas.microsoft.com/office/powerpoint/2010/main" val="110397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EB384-9CA5-FFF4-5902-57254A8B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80D71F-BC2F-7157-9315-790EC70EF6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63EE719-723A-B69A-5CFD-39292DAE746E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45204CF-464D-2A15-17C0-7CAC1D5D97E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BC0FCF-382F-E953-7EC0-55FA80FDC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CDBDF85-2C95-5997-B2FA-F1239F961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7F2A186-E058-FDCC-47EF-B92494B5F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dirty="0">
                <a:solidFill>
                  <a:schemeClr val="bg1"/>
                </a:solidFill>
              </a:rPr>
              <a:t>🎯 </a:t>
            </a:r>
            <a:r>
              <a:rPr lang="en-US" b="1" noProof="0" dirty="0">
                <a:solidFill>
                  <a:schemeClr val="bg1"/>
                </a:solidFill>
              </a:rPr>
              <a:t>Desired Properties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62FF3-4467-2025-2AC7-94F81584E33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A7CA102E-4C54-7455-037D-D224FEEDE74D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FF1241C-7357-01EE-9429-9F4D8BE4D664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6BD46B-5943-6D12-78A7-A0F6E94D2A8C}"/>
              </a:ext>
            </a:extLst>
          </p:cNvPr>
          <p:cNvGrpSpPr/>
          <p:nvPr/>
        </p:nvGrpSpPr>
        <p:grpSpPr>
          <a:xfrm>
            <a:off x="4961464" y="1203591"/>
            <a:ext cx="3191933" cy="2219271"/>
            <a:chOff x="5404690" y="1291711"/>
            <a:chExt cx="3191933" cy="221927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F93FFCF-0869-D07F-637A-1FFA93BC271D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FFCF0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66B1BF2-3959-F39F-2B4C-CCAF3F8C2AF7}"/>
                </a:ext>
              </a:extLst>
            </p:cNvPr>
            <p:cNvSpPr txBox="1"/>
            <p:nvPr/>
          </p:nvSpPr>
          <p:spPr>
            <a:xfrm>
              <a:off x="5717955" y="1981949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5866"/>
                  </a:solidFill>
                  <a:latin typeface="IBM Plex Sans"/>
                </a:rPr>
                <a:t>Binding Affinity</a:t>
              </a:r>
            </a:p>
          </p:txBody>
        </p:sp>
        <p:pic>
          <p:nvPicPr>
            <p:cNvPr id="20" name="Graphic 19" descr="Germ with solid fill">
              <a:extLst>
                <a:ext uri="{FF2B5EF4-FFF2-40B4-BE49-F238E27FC236}">
                  <a16:creationId xmlns:a16="http://schemas.microsoft.com/office/drawing/2014/main" id="{3654E73C-23AC-98BF-28A4-28238BAD75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57A3932-4E84-09FF-59F1-9D64ED4F096B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Strength of the </a:t>
              </a:r>
              <a:r>
                <a:rPr lang="en-US" b="1" dirty="0"/>
                <a:t>non-covalent interaction</a:t>
              </a:r>
              <a:r>
                <a:rPr lang="en-US" dirty="0"/>
                <a:t> between two molecules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F2B5D75-F6ED-AE10-1516-7E0EB5DCA81E}"/>
              </a:ext>
            </a:extLst>
          </p:cNvPr>
          <p:cNvGrpSpPr/>
          <p:nvPr/>
        </p:nvGrpSpPr>
        <p:grpSpPr>
          <a:xfrm>
            <a:off x="8525050" y="1203590"/>
            <a:ext cx="3191933" cy="2219271"/>
            <a:chOff x="8837422" y="1291711"/>
            <a:chExt cx="3191933" cy="2219271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4E529FFB-2FF7-EEEE-92FF-DE975468E602}"/>
                </a:ext>
              </a:extLst>
            </p:cNvPr>
            <p:cNvSpPr/>
            <p:nvPr/>
          </p:nvSpPr>
          <p:spPr>
            <a:xfrm>
              <a:off x="8837422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FFCF0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4F4C95A-90CC-84FC-D2E1-B8D67EC613BA}"/>
                </a:ext>
              </a:extLst>
            </p:cNvPr>
            <p:cNvSpPr txBox="1"/>
            <p:nvPr/>
          </p:nvSpPr>
          <p:spPr>
            <a:xfrm>
              <a:off x="9150687" y="1966815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rgbClr val="005866"/>
                  </a:solidFill>
                  <a:latin typeface="IBM Plex Sans"/>
                </a:rPr>
                <a:t>LogP</a:t>
              </a:r>
              <a:endParaRPr lang="en-US" sz="2400" b="1" dirty="0">
                <a:solidFill>
                  <a:srgbClr val="005866"/>
                </a:solidFill>
                <a:latin typeface="IBM Plex Sans"/>
              </a:endParaRPr>
            </a:p>
          </p:txBody>
        </p:sp>
        <p:pic>
          <p:nvPicPr>
            <p:cNvPr id="26" name="Graphic 20" descr="Ripple with solid fill">
              <a:extLst>
                <a:ext uri="{FF2B5EF4-FFF2-40B4-BE49-F238E27FC236}">
                  <a16:creationId xmlns:a16="http://schemas.microsoft.com/office/drawing/2014/main" id="{C3EBD017-3957-11DD-F12A-72D60ED526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177479" y="1412341"/>
              <a:ext cx="511818" cy="511818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0CE538-805F-3AA3-5FF8-C5461A931FC5}"/>
                </a:ext>
              </a:extLst>
            </p:cNvPr>
            <p:cNvSpPr txBox="1"/>
            <p:nvPr/>
          </p:nvSpPr>
          <p:spPr>
            <a:xfrm>
              <a:off x="8909890" y="2500499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Measures a molecule's </a:t>
              </a:r>
              <a:r>
                <a:rPr lang="en-US" b="1" dirty="0"/>
                <a:t>lipophilicity</a:t>
              </a:r>
              <a:r>
                <a:rPr lang="en-US" dirty="0"/>
                <a:t>, how well it dissolves in fats vs water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3BED64F-1B35-8312-B420-7B413F062CDD}"/>
              </a:ext>
            </a:extLst>
          </p:cNvPr>
          <p:cNvGrpSpPr/>
          <p:nvPr/>
        </p:nvGrpSpPr>
        <p:grpSpPr>
          <a:xfrm>
            <a:off x="4952997" y="3708196"/>
            <a:ext cx="3191933" cy="2219271"/>
            <a:chOff x="5404690" y="3713323"/>
            <a:chExt cx="3191933" cy="221927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110C5F4-AE1E-0882-118A-95B5BE1DAA7C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FFCF0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462C0A-CF90-BC21-72CC-7F894C70F353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5866"/>
                  </a:solidFill>
                  <a:latin typeface="IBM Plex Sans"/>
                </a:rPr>
                <a:t>QED</a:t>
              </a:r>
            </a:p>
          </p:txBody>
        </p:sp>
        <p:pic>
          <p:nvPicPr>
            <p:cNvPr id="32" name="Graphic 31" descr="Germ with solid fill">
              <a:extLst>
                <a:ext uri="{FF2B5EF4-FFF2-40B4-BE49-F238E27FC236}">
                  <a16:creationId xmlns:a16="http://schemas.microsoft.com/office/drawing/2014/main" id="{55E2F5C2-2957-1ABD-36BA-3FAEC18F30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E68B6D-4454-DDC0-680E-1A751B14BF5C}"/>
                </a:ext>
              </a:extLst>
            </p:cNvPr>
            <p:cNvSpPr txBox="1"/>
            <p:nvPr/>
          </p:nvSpPr>
          <p:spPr>
            <a:xfrm>
              <a:off x="5477158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 0-to-1 scoring method to map </a:t>
              </a:r>
              <a:r>
                <a:rPr lang="en-US" b="1" dirty="0"/>
                <a:t>resemblance</a:t>
              </a:r>
              <a:r>
                <a:rPr lang="en-US" dirty="0"/>
                <a:t> to known oral drugs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FEBA3C3-0B6B-7F4B-EBDC-D5F1A15801A3}"/>
              </a:ext>
            </a:extLst>
          </p:cNvPr>
          <p:cNvGrpSpPr/>
          <p:nvPr/>
        </p:nvGrpSpPr>
        <p:grpSpPr>
          <a:xfrm>
            <a:off x="8525050" y="3703644"/>
            <a:ext cx="3191933" cy="2219271"/>
            <a:chOff x="8837422" y="3713323"/>
            <a:chExt cx="3191933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A4553458-2E4E-2B0F-D59D-6E12CC21BFEC}"/>
                </a:ext>
              </a:extLst>
            </p:cNvPr>
            <p:cNvSpPr/>
            <p:nvPr/>
          </p:nvSpPr>
          <p:spPr>
            <a:xfrm>
              <a:off x="8837422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FFCF0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9E032F6-3D7F-A88E-C19B-10C922E6487F}"/>
                </a:ext>
              </a:extLst>
            </p:cNvPr>
            <p:cNvSpPr txBox="1"/>
            <p:nvPr/>
          </p:nvSpPr>
          <p:spPr>
            <a:xfrm>
              <a:off x="8875229" y="4438398"/>
              <a:ext cx="3116314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5866"/>
                  </a:solidFill>
                  <a:latin typeface="IBM Plex Sans"/>
                </a:rPr>
                <a:t>Hydration Free Energy</a:t>
              </a:r>
            </a:p>
          </p:txBody>
        </p:sp>
        <p:pic>
          <p:nvPicPr>
            <p:cNvPr id="36" name="Graphic 20" descr="Eye dropper with solid fill">
              <a:extLst>
                <a:ext uri="{FF2B5EF4-FFF2-40B4-BE49-F238E27FC236}">
                  <a16:creationId xmlns:a16="http://schemas.microsoft.com/office/drawing/2014/main" id="{8C1BA258-0415-8E09-A477-D861AB1875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177479" y="3849087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7D4F47C-83A4-7412-5424-AF4B6F3B6A92}"/>
                </a:ext>
              </a:extLst>
            </p:cNvPr>
            <p:cNvSpPr txBox="1"/>
            <p:nvPr/>
          </p:nvSpPr>
          <p:spPr>
            <a:xfrm>
              <a:off x="8909890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 The amount of energy released when one mole of ions undergoes </a:t>
              </a:r>
              <a:r>
                <a:rPr lang="en-US" b="1" dirty="0"/>
                <a:t>solvation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58450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A85B3-198F-C546-1994-E38FCA79C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A8D9DB-CB46-350A-3284-6D9A15C911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4CB7905-A9E7-055C-4F1D-F482EEEFA461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20C690C-A2BF-146A-BD88-EC3687696CC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1F64003-DD86-F0CB-8F69-2D43DAF7C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2C3E45D-1897-8E48-3EC2-940A46E01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D1C78D-7B51-5E67-5984-3CCE379BC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b="1" noProof="0" dirty="0">
                <a:solidFill>
                  <a:schemeClr val="bg1"/>
                </a:solidFill>
              </a:rPr>
              <a:t>🏆</a:t>
            </a:r>
            <a:r>
              <a:rPr lang="en-US" b="1" noProof="0" dirty="0">
                <a:solidFill>
                  <a:schemeClr val="bg1"/>
                </a:solidFill>
              </a:rPr>
              <a:t>Reward Functions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CAA5F1-33F3-DC95-3ED2-4B4DA4AEC96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D2853AE5-249E-9C33-EFC8-F3ED4A7022C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E277678-A6A8-AA43-FB06-963CB062AF80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7E7678-FD3E-BA8E-37E8-97B2D74F3078}"/>
              </a:ext>
            </a:extLst>
          </p:cNvPr>
          <p:cNvSpPr/>
          <p:nvPr/>
        </p:nvSpPr>
        <p:spPr>
          <a:xfrm>
            <a:off x="4961464" y="1203591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FFCF0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B46391-6746-80A2-146A-1982649B886E}"/>
              </a:ext>
            </a:extLst>
          </p:cNvPr>
          <p:cNvSpPr txBox="1"/>
          <p:nvPr/>
        </p:nvSpPr>
        <p:spPr>
          <a:xfrm>
            <a:off x="5274727" y="194876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Exponential</a:t>
            </a:r>
          </a:p>
        </p:txBody>
      </p:sp>
      <p:pic>
        <p:nvPicPr>
          <p:cNvPr id="20" name="Graphic 19" descr="Germ with solid fill">
            <a:extLst>
              <a:ext uri="{FF2B5EF4-FFF2-40B4-BE49-F238E27FC236}">
                <a16:creationId xmlns:a16="http://schemas.microsoft.com/office/drawing/2014/main" id="{FDB3E4B2-DA6A-D28C-3514-3DCC0B0BD8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301521" y="1339355"/>
            <a:ext cx="511818" cy="5118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67456B-CBBE-0AFA-2472-7A66DE0E1B2B}"/>
              </a:ext>
            </a:extLst>
          </p:cNvPr>
          <p:cNvSpPr txBox="1"/>
          <p:nvPr/>
        </p:nvSpPr>
        <p:spPr>
          <a:xfrm>
            <a:off x="5033932" y="2640828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Strong push toward low binding energy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44ABD30-D284-7040-1F94-2F9C85D1839D}"/>
              </a:ext>
            </a:extLst>
          </p:cNvPr>
          <p:cNvSpPr/>
          <p:nvPr/>
        </p:nvSpPr>
        <p:spPr>
          <a:xfrm>
            <a:off x="8525050" y="1203590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FFCF0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2DBE22-5B95-3DAD-BD08-E86392E6AF43}"/>
              </a:ext>
            </a:extLst>
          </p:cNvPr>
          <p:cNvSpPr txBox="1"/>
          <p:nvPr/>
        </p:nvSpPr>
        <p:spPr>
          <a:xfrm>
            <a:off x="8838313" y="1934775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Linear</a:t>
            </a:r>
          </a:p>
        </p:txBody>
      </p:sp>
      <p:pic>
        <p:nvPicPr>
          <p:cNvPr id="26" name="Graphic 20" descr="Ripple with solid fill">
            <a:extLst>
              <a:ext uri="{FF2B5EF4-FFF2-40B4-BE49-F238E27FC236}">
                <a16:creationId xmlns:a16="http://schemas.microsoft.com/office/drawing/2014/main" id="{96675AE2-16D5-BAE9-D7FF-73C4EB014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865107" y="1324220"/>
            <a:ext cx="511818" cy="51181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CF67691-1528-8BDC-2D55-D3A66E5C8BD2}"/>
              </a:ext>
            </a:extLst>
          </p:cNvPr>
          <p:cNvSpPr txBox="1"/>
          <p:nvPr/>
        </p:nvSpPr>
        <p:spPr>
          <a:xfrm>
            <a:off x="8597518" y="2640827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Constant gradient based on the score minus a threshold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3CA3C69-BC94-1ADC-1E38-FE40DE95093A}"/>
              </a:ext>
            </a:extLst>
          </p:cNvPr>
          <p:cNvSpPr/>
          <p:nvPr/>
        </p:nvSpPr>
        <p:spPr>
          <a:xfrm>
            <a:off x="4952997" y="3708196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FFCF0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6D1CAE-8100-4CC4-5E5D-417397680397}"/>
              </a:ext>
            </a:extLst>
          </p:cNvPr>
          <p:cNvSpPr txBox="1"/>
          <p:nvPr/>
        </p:nvSpPr>
        <p:spPr>
          <a:xfrm>
            <a:off x="5266262" y="439843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Logarithmic</a:t>
            </a:r>
          </a:p>
        </p:txBody>
      </p:sp>
      <p:pic>
        <p:nvPicPr>
          <p:cNvPr id="32" name="Graphic 31" descr="Germ with solid fill">
            <a:extLst>
              <a:ext uri="{FF2B5EF4-FFF2-40B4-BE49-F238E27FC236}">
                <a16:creationId xmlns:a16="http://schemas.microsoft.com/office/drawing/2014/main" id="{C1D10108-81A9-00D9-6C5A-9A1707DF11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293054" y="3843960"/>
            <a:ext cx="511818" cy="51181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0E0DB34-C982-7CCB-4D5E-AF9A795356BB}"/>
              </a:ext>
            </a:extLst>
          </p:cNvPr>
          <p:cNvSpPr txBox="1"/>
          <p:nvPr/>
        </p:nvSpPr>
        <p:spPr>
          <a:xfrm>
            <a:off x="5025465" y="4932118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Gentle at first but becomes aggressive as scores approach zero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6CCF2E-FC42-9CA5-4B63-952D41E9BDC2}"/>
              </a:ext>
            </a:extLst>
          </p:cNvPr>
          <p:cNvSpPr/>
          <p:nvPr/>
        </p:nvSpPr>
        <p:spPr>
          <a:xfrm>
            <a:off x="8525050" y="3703644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FFCF0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6A0747-0256-82A3-B621-8D9B7BD4F473}"/>
              </a:ext>
            </a:extLst>
          </p:cNvPr>
          <p:cNvSpPr txBox="1"/>
          <p:nvPr/>
        </p:nvSpPr>
        <p:spPr>
          <a:xfrm>
            <a:off x="8562855" y="4486990"/>
            <a:ext cx="3116314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Squared</a:t>
            </a:r>
          </a:p>
        </p:txBody>
      </p:sp>
      <p:pic>
        <p:nvPicPr>
          <p:cNvPr id="36" name="Graphic 20" descr="Eye dropper with solid fill">
            <a:extLst>
              <a:ext uri="{FF2B5EF4-FFF2-40B4-BE49-F238E27FC236}">
                <a16:creationId xmlns:a16="http://schemas.microsoft.com/office/drawing/2014/main" id="{4E6B51D9-D41F-8A64-357C-45DFEABDAA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865107" y="3839408"/>
            <a:ext cx="511818" cy="51181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48C77B09-9833-875B-E3C5-6483EF5E986F}"/>
              </a:ext>
            </a:extLst>
          </p:cNvPr>
          <p:cNvSpPr txBox="1"/>
          <p:nvPr/>
        </p:nvSpPr>
        <p:spPr>
          <a:xfrm>
            <a:off x="8597516" y="5141295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Heavily punishes low-quality molecules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793617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5FF2-1F3C-DF10-16BD-BF98DC01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49E74B-789A-3A23-E983-47E2ED5A9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7E2F80E-21A6-D0E9-DCB2-3624D899837E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B359CC6-ACEE-3D19-1850-641D630A6D7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21648C2-F60A-0E56-4D9C-DD8A04D9C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33A3F2-340B-35C5-E965-CC45412F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2456E3F-FFEB-B60B-4344-55F80DF2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The Pipeline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821B6-7382-19A6-BC34-5C0A1F74529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84FBC0C-909E-0284-7159-13CDDEE86B8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DDCC8A1-9D2F-F021-4E02-9A644F0F884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589A0A-CB6C-9C00-15DE-13D992C97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990" y="2444818"/>
            <a:ext cx="5391166" cy="3475064"/>
          </a:xfrm>
          <a:prstGeom prst="rect">
            <a:avLst/>
          </a:prstGeom>
        </p:spPr>
      </p:pic>
      <p:pic>
        <p:nvPicPr>
          <p:cNvPr id="2" name="Picture 2" descr="undefined">
            <a:extLst>
              <a:ext uri="{FF2B5EF4-FFF2-40B4-BE49-F238E27FC236}">
                <a16:creationId xmlns:a16="http://schemas.microsoft.com/office/drawing/2014/main" id="{0A8349DA-EFC6-04CA-3620-49A9772F00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699" b="1990"/>
          <a:stretch>
            <a:fillRect/>
          </a:stretch>
        </p:blipFill>
        <p:spPr bwMode="auto">
          <a:xfrm>
            <a:off x="205409" y="1214226"/>
            <a:ext cx="5176530" cy="61806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rrow: Curved Right 4">
            <a:extLst>
              <a:ext uri="{FF2B5EF4-FFF2-40B4-BE49-F238E27FC236}">
                <a16:creationId xmlns:a16="http://schemas.microsoft.com/office/drawing/2014/main" id="{298E78A2-B713-822F-9FAD-7A8121EF254E}"/>
              </a:ext>
            </a:extLst>
          </p:cNvPr>
          <p:cNvSpPr/>
          <p:nvPr/>
        </p:nvSpPr>
        <p:spPr>
          <a:xfrm rot="19681607">
            <a:off x="772857" y="2241724"/>
            <a:ext cx="614597" cy="1918741"/>
          </a:xfrm>
          <a:prstGeom prst="curvedRightArrow">
            <a:avLst>
              <a:gd name="adj1" fmla="val 20175"/>
              <a:gd name="adj2" fmla="val 41322"/>
              <a:gd name="adj3" fmla="val 25000"/>
            </a:avLst>
          </a:prstGeom>
          <a:solidFill>
            <a:srgbClr val="96BF0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5674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1672A-AE53-F199-4AE5-74F994239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40245F-F151-8891-50A8-6C74B4D5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E58FC4D-35A6-16EF-1250-F20404C6B266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584EC1-F0D1-EAA6-F9E3-6505FFF1AE3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CABD7BB-AB83-E8DB-4E46-800B5DE99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3E92D06-7840-6A86-A34A-5E0A7D52D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D17FBCF-FF00-A81C-8766-97EF11693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en-US" b="1" dirty="0">
                <a:solidFill>
                  <a:schemeClr val="bg1"/>
                </a:solidFill>
              </a:rPr>
              <a:t>Properties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B0B18C-4744-FE3D-44D6-9018F7296A3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B826E4D-0BD4-A686-3789-828D2CACF1A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2A0A61A-7239-D4FB-EC56-BC352871897C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45512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7905F-C72A-94D2-58BA-9F573958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24F9BD-8DDA-D399-7849-2785631B15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69F1084E-F6FA-97A6-E5BA-B4C51C63D39F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50B087-83CA-E0DD-6046-C1A8DCCFDA5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D9C4628-868E-CA01-3A7A-A227B2938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E6DF899-2331-2852-9D08-98CEF82B6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70359C0-5ACA-560A-FEBF-455C6E188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The Pipeline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65326-EE49-7022-E3D6-B65DE78162B2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29255EC-7AE6-4A37-5EAB-DB600202E32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90DB8290-340E-62F7-B26E-772DE11BF8BD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A3B1FF6-9840-F968-A6EB-9543DFA4CA78}"/>
              </a:ext>
            </a:extLst>
          </p:cNvPr>
          <p:cNvSpPr/>
          <p:nvPr/>
        </p:nvSpPr>
        <p:spPr>
          <a:xfrm>
            <a:off x="381000" y="1785462"/>
            <a:ext cx="2914742" cy="3929537"/>
          </a:xfrm>
          <a:prstGeom prst="roundRect">
            <a:avLst/>
          </a:prstGeom>
          <a:solidFill>
            <a:srgbClr val="FFFCF0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4BA37-570E-13D2-91E3-DF88CD85E64B}"/>
              </a:ext>
            </a:extLst>
          </p:cNvPr>
          <p:cNvSpPr txBox="1"/>
          <p:nvPr/>
        </p:nvSpPr>
        <p:spPr>
          <a:xfrm>
            <a:off x="247742" y="2995347"/>
            <a:ext cx="3048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Weighted Sum Rewards</a:t>
            </a:r>
          </a:p>
        </p:txBody>
      </p:sp>
      <p:pic>
        <p:nvPicPr>
          <p:cNvPr id="20" name="Graphic 20" descr="Add with solid fill">
            <a:extLst>
              <a:ext uri="{FF2B5EF4-FFF2-40B4-BE49-F238E27FC236}">
                <a16:creationId xmlns:a16="http://schemas.microsoft.com/office/drawing/2014/main" id="{7995D15A-4EA3-0608-F277-6B3318411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325661" y="1958595"/>
            <a:ext cx="1016000" cy="1016000"/>
          </a:xfrm>
          <a:prstGeom prst="rect">
            <a:avLst/>
          </a:prstGeom>
        </p:spPr>
      </p:pic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37A12FA-40EA-C918-2314-B6E0CC6E04ED}"/>
              </a:ext>
            </a:extLst>
          </p:cNvPr>
          <p:cNvSpPr/>
          <p:nvPr/>
        </p:nvSpPr>
        <p:spPr>
          <a:xfrm>
            <a:off x="3948366" y="1785462"/>
            <a:ext cx="2914742" cy="3929537"/>
          </a:xfrm>
          <a:prstGeom prst="roundRect">
            <a:avLst/>
          </a:prstGeom>
          <a:solidFill>
            <a:srgbClr val="FFFCF0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41C379-CAE5-5DAA-75FC-7CE69DF6C7BA}"/>
              </a:ext>
            </a:extLst>
          </p:cNvPr>
          <p:cNvSpPr txBox="1"/>
          <p:nvPr/>
        </p:nvSpPr>
        <p:spPr>
          <a:xfrm>
            <a:off x="3815108" y="2995347"/>
            <a:ext cx="3048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Alternating</a:t>
            </a:r>
          </a:p>
          <a:p>
            <a:pPr algn="ctr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Rewards</a:t>
            </a:r>
          </a:p>
        </p:txBody>
      </p:sp>
      <p:pic>
        <p:nvPicPr>
          <p:cNvPr id="24" name="Graphic 20" descr="Repeat with solid fill">
            <a:extLst>
              <a:ext uri="{FF2B5EF4-FFF2-40B4-BE49-F238E27FC236}">
                <a16:creationId xmlns:a16="http://schemas.microsoft.com/office/drawing/2014/main" id="{836F4F35-3118-A176-24E6-B0A0DD2F9C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893027" y="1958595"/>
            <a:ext cx="10160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8132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3BDFB-8408-41BE-2F73-F8CB59E9D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E7E6186-60DC-272C-8425-396DEF484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472" y="870060"/>
            <a:ext cx="8623055" cy="5111709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778F78AD-4E52-17F2-DC0F-590A0C2DCD7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646737C0-1950-7E03-AAB5-6881C40A0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8C120A14-3D86-1664-9335-F365AA49E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37D2089-FFD6-59EE-A3CD-D47541D4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27753"/>
            <a:ext cx="4737652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The Problem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3370DC-F71B-6BD2-6B7D-06A365A5A2B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BB606DAA-09BC-3C2F-21DF-98643FFCEAA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04423CC-4DDD-15A9-23AE-DCC579A059A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30" name="Rectangle: Top Corners Rounded 29">
            <a:extLst>
              <a:ext uri="{FF2B5EF4-FFF2-40B4-BE49-F238E27FC236}">
                <a16:creationId xmlns:a16="http://schemas.microsoft.com/office/drawing/2014/main" id="{8E6FE619-0CAD-0A76-60D8-91BB9F726720}"/>
              </a:ext>
            </a:extLst>
          </p:cNvPr>
          <p:cNvSpPr/>
          <p:nvPr/>
        </p:nvSpPr>
        <p:spPr>
          <a:xfrm rot="10800000">
            <a:off x="-2" y="-3"/>
            <a:ext cx="3331030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59A94517-D090-E433-E306-B9E1114CB856}"/>
              </a:ext>
            </a:extLst>
          </p:cNvPr>
          <p:cNvSpPr txBox="1">
            <a:spLocks/>
          </p:cNvSpPr>
          <p:nvPr/>
        </p:nvSpPr>
        <p:spPr>
          <a:xfrm>
            <a:off x="77723" y="-227754"/>
            <a:ext cx="473765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bg1"/>
                </a:solidFill>
              </a:rPr>
              <a:t>The Problem</a:t>
            </a:r>
          </a:p>
        </p:txBody>
      </p:sp>
    </p:spTree>
    <p:extLst>
      <p:ext uri="{BB962C8B-B14F-4D97-AF65-F5344CB8AC3E}">
        <p14:creationId xmlns:p14="http://schemas.microsoft.com/office/powerpoint/2010/main" val="2149486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27A3F-AFCC-FF98-E728-E4518D14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2">
            <a:extLst>
              <a:ext uri="{FF2B5EF4-FFF2-40B4-BE49-F238E27FC236}">
                <a16:creationId xmlns:a16="http://schemas.microsoft.com/office/drawing/2014/main" id="{BCD1B848-66B9-508E-4BA8-9707BC378A8B}"/>
              </a:ext>
            </a:extLst>
          </p:cNvPr>
          <p:cNvCxnSpPr>
            <a:cxnSpLocks/>
          </p:cNvCxnSpPr>
          <p:nvPr/>
        </p:nvCxnSpPr>
        <p:spPr>
          <a:xfrm>
            <a:off x="384628" y="2932519"/>
            <a:ext cx="5788833" cy="2631088"/>
          </a:xfrm>
          <a:prstGeom prst="bentConnector3">
            <a:avLst>
              <a:gd name="adj1" fmla="val 90242"/>
            </a:avLst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8C9AAB7-A978-09A3-5601-877108121D2B}"/>
              </a:ext>
            </a:extLst>
          </p:cNvPr>
          <p:cNvSpPr/>
          <p:nvPr/>
        </p:nvSpPr>
        <p:spPr>
          <a:xfrm rot="10800000">
            <a:off x="-6" y="-8"/>
            <a:ext cx="3374576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649D2F8-B8F2-E60D-F42F-F7596B7CDF0B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66D05117-CBED-EC9F-149E-94800E47A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2C0C48F-05D5-781A-BCD6-8140C0386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8C30D6-16F6-0DE0-B7AF-886CAF9B88F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7F1FB53-0F36-7428-7C55-C92F17432E5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1190488-9B99-FF08-EB92-4648FCA7C4F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08D33B-FD36-E32F-F312-EFB31742A2D1}"/>
              </a:ext>
            </a:extLst>
          </p:cNvPr>
          <p:cNvSpPr txBox="1">
            <a:spLocks/>
          </p:cNvSpPr>
          <p:nvPr/>
        </p:nvSpPr>
        <p:spPr>
          <a:xfrm>
            <a:off x="139148" y="-227752"/>
            <a:ext cx="50391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bg1"/>
                </a:solidFill>
              </a:rPr>
              <a:t>The Solution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0DEA5CD-37E7-34FE-EAFE-C6E0A0C430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604" r="15586"/>
          <a:stretch>
            <a:fillRect/>
          </a:stretch>
        </p:blipFill>
        <p:spPr>
          <a:xfrm>
            <a:off x="6173461" y="3629498"/>
            <a:ext cx="5856514" cy="213293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2599655-5FB5-9E20-DCD5-39BEBBC480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599"/>
          <a:stretch>
            <a:fillRect/>
          </a:stretch>
        </p:blipFill>
        <p:spPr>
          <a:xfrm>
            <a:off x="1918095" y="3151998"/>
            <a:ext cx="9357397" cy="135265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59063F4-B1C2-96B4-5FE2-E5DCBDDBA9B8}"/>
              </a:ext>
            </a:extLst>
          </p:cNvPr>
          <p:cNvCxnSpPr>
            <a:cxnSpLocks/>
            <a:endCxn id="19" idx="1"/>
          </p:cNvCxnSpPr>
          <p:nvPr/>
        </p:nvCxnSpPr>
        <p:spPr>
          <a:xfrm rot="16200000" flipH="1">
            <a:off x="1004227" y="2914457"/>
            <a:ext cx="1186898" cy="640838"/>
          </a:xfrm>
          <a:prstGeom prst="bentConnector2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EF57FCC-AF59-76BA-506D-C25DBEFF4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98" y="1095567"/>
            <a:ext cx="9467909" cy="182286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E2E45A-BCF1-0C50-1736-232343697A55}"/>
              </a:ext>
            </a:extLst>
          </p:cNvPr>
          <p:cNvSpPr txBox="1"/>
          <p:nvPr/>
        </p:nvSpPr>
        <p:spPr>
          <a:xfrm>
            <a:off x="3798324" y="204189"/>
            <a:ext cx="80185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“Better understanding of the decision-making processes”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818730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D3B-8B2C-FA0D-389E-8A5CB15AB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2">
            <a:extLst>
              <a:ext uri="{FF2B5EF4-FFF2-40B4-BE49-F238E27FC236}">
                <a16:creationId xmlns:a16="http://schemas.microsoft.com/office/drawing/2014/main" id="{7FEDF4B4-29E4-282B-0498-F337477A4D59}"/>
              </a:ext>
            </a:extLst>
          </p:cNvPr>
          <p:cNvCxnSpPr>
            <a:cxnSpLocks/>
          </p:cNvCxnSpPr>
          <p:nvPr/>
        </p:nvCxnSpPr>
        <p:spPr>
          <a:xfrm>
            <a:off x="384628" y="2932519"/>
            <a:ext cx="5788833" cy="2631088"/>
          </a:xfrm>
          <a:prstGeom prst="bentConnector3">
            <a:avLst>
              <a:gd name="adj1" fmla="val 90242"/>
            </a:avLst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42F8BC5-43C3-D255-65A2-651E6365548E}"/>
              </a:ext>
            </a:extLst>
          </p:cNvPr>
          <p:cNvSpPr/>
          <p:nvPr/>
        </p:nvSpPr>
        <p:spPr>
          <a:xfrm rot="10800000">
            <a:off x="-8" y="-11"/>
            <a:ext cx="2446556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C6A98D-25E7-EE2D-141B-2C5314C7331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7C722FA-B8F4-2F35-5F40-352C48FD3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72B9BA04-27FC-D3EA-9892-33D559BE6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93D84F-957E-01F5-022A-1DABFEC89273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6AB025-85A2-525B-3497-F1463FE04DD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29D47F1-A297-0B2E-5F27-E6C19904B67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7EA09A-A41F-9068-1850-67BA97302EA9}"/>
              </a:ext>
            </a:extLst>
          </p:cNvPr>
          <p:cNvSpPr txBox="1">
            <a:spLocks/>
          </p:cNvSpPr>
          <p:nvPr/>
        </p:nvSpPr>
        <p:spPr>
          <a:xfrm>
            <a:off x="139148" y="-227752"/>
            <a:ext cx="50391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bg1"/>
                </a:solidFill>
              </a:rPr>
              <a:t>The Idea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50126F-FCB2-6BFA-33D1-39E46CDC21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604" r="15586"/>
          <a:stretch>
            <a:fillRect/>
          </a:stretch>
        </p:blipFill>
        <p:spPr>
          <a:xfrm>
            <a:off x="6173461" y="3629498"/>
            <a:ext cx="5856514" cy="213293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37A4EAD-455E-5483-C049-2CC0BD26D2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599"/>
          <a:stretch>
            <a:fillRect/>
          </a:stretch>
        </p:blipFill>
        <p:spPr>
          <a:xfrm>
            <a:off x="1918095" y="3151998"/>
            <a:ext cx="9357397" cy="135265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0C19390-2C0E-DD5B-8117-3E227B05EFD2}"/>
              </a:ext>
            </a:extLst>
          </p:cNvPr>
          <p:cNvCxnSpPr>
            <a:cxnSpLocks/>
            <a:endCxn id="19" idx="1"/>
          </p:cNvCxnSpPr>
          <p:nvPr/>
        </p:nvCxnSpPr>
        <p:spPr>
          <a:xfrm rot="16200000" flipH="1">
            <a:off x="1004227" y="2914457"/>
            <a:ext cx="1186898" cy="640838"/>
          </a:xfrm>
          <a:prstGeom prst="bentConnector2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A0808B4-3BDA-F2EF-5CD2-FA4B9DEDB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98" y="1095567"/>
            <a:ext cx="9467909" cy="182286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47F9671-236D-00C6-29E7-B70896C2A6AE}"/>
              </a:ext>
            </a:extLst>
          </p:cNvPr>
          <p:cNvSpPr txBox="1"/>
          <p:nvPr/>
        </p:nvSpPr>
        <p:spPr>
          <a:xfrm>
            <a:off x="3798324" y="204189"/>
            <a:ext cx="80185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“Better understanding of the decision-making processes”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2729029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1A3C95-F086-4B64-89C2-5BB88C1ADBC6}"/>
              </a:ext>
            </a:extLst>
          </p:cNvPr>
          <p:cNvSpPr/>
          <p:nvPr/>
        </p:nvSpPr>
        <p:spPr>
          <a:xfrm>
            <a:off x="0" y="0"/>
            <a:ext cx="4572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BA604F-1545-422A-A9EB-02A68385E805}"/>
              </a:ext>
            </a:extLst>
          </p:cNvPr>
          <p:cNvSpPr txBox="1"/>
          <p:nvPr/>
        </p:nvSpPr>
        <p:spPr>
          <a:xfrm>
            <a:off x="203200" y="101600"/>
            <a:ext cx="4318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Motivation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B1B2FB-6531-48CF-824B-9F5756AD0729}"/>
              </a:ext>
            </a:extLst>
          </p:cNvPr>
          <p:cNvSpPr txBox="1"/>
          <p:nvPr/>
        </p:nvSpPr>
        <p:spPr>
          <a:xfrm>
            <a:off x="4826000" y="279400"/>
            <a:ext cx="711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"Deep RL works, but we don't know why."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3F47F3-7B52-4338-9C6A-A59A892E5CD2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04AC8C-E05E-44A2-BEFB-D2D36BBF7EFE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42CD6E-2C0F-4411-91A2-9DA887E96F13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5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848EFE-41C4-475F-B7E6-9F53CBECB12F}"/>
              </a:ext>
            </a:extLst>
          </p:cNvPr>
          <p:cNvSpPr/>
          <p:nvPr/>
        </p:nvSpPr>
        <p:spPr>
          <a:xfrm>
            <a:off x="508000" y="1651000"/>
            <a:ext cx="3556000" cy="4064000"/>
          </a:xfrm>
          <a:prstGeom prst="roundRect">
            <a:avLst/>
          </a:prstGeom>
          <a:solidFill>
            <a:srgbClr val="F2F0EA"/>
          </a:solidFill>
          <a:ln w="127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842A88-E36C-4BFF-B8A7-DFE333498753}"/>
              </a:ext>
            </a:extLst>
          </p:cNvPr>
          <p:cNvSpPr txBox="1"/>
          <p:nvPr/>
        </p:nvSpPr>
        <p:spPr>
          <a:xfrm>
            <a:off x="762000" y="3048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Black Box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0ADB48-526E-4427-BA72-344B586B64D5}"/>
              </a:ext>
            </a:extLst>
          </p:cNvPr>
          <p:cNvSpPr txBox="1"/>
          <p:nvPr/>
        </p:nvSpPr>
        <p:spPr>
          <a:xfrm>
            <a:off x="762000" y="3683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Deep RL agents make decisions through millions of weights — opaque to humans.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D2C8BC1-F294-4731-B646-9FA3051B134B}"/>
              </a:ext>
            </a:extLst>
          </p:cNvPr>
          <p:cNvSpPr/>
          <p:nvPr/>
        </p:nvSpPr>
        <p:spPr>
          <a:xfrm>
            <a:off x="4318000" y="1651000"/>
            <a:ext cx="3556000" cy="4064000"/>
          </a:xfrm>
          <a:prstGeom prst="roundRect">
            <a:avLst/>
          </a:prstGeom>
          <a:solidFill>
            <a:srgbClr val="F2F0EA"/>
          </a:solidFill>
          <a:ln w="127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23BDAE-9B63-4B7E-B3C1-95C35029EE78}"/>
              </a:ext>
            </a:extLst>
          </p:cNvPr>
          <p:cNvSpPr/>
          <p:nvPr/>
        </p:nvSpPr>
        <p:spPr>
          <a:xfrm>
            <a:off x="4318000" y="1651000"/>
            <a:ext cx="3556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CC7463-C812-4F3C-ACA3-7DB1CF0A865E}"/>
              </a:ext>
            </a:extLst>
          </p:cNvPr>
          <p:cNvSpPr txBox="1"/>
          <p:nvPr/>
        </p:nvSpPr>
        <p:spPr>
          <a:xfrm>
            <a:off x="4572000" y="3048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Safety at Stake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C9865E-95FF-4EBF-9E67-9CF43A31DEDE}"/>
              </a:ext>
            </a:extLst>
          </p:cNvPr>
          <p:cNvSpPr txBox="1"/>
          <p:nvPr/>
        </p:nvSpPr>
        <p:spPr>
          <a:xfrm>
            <a:off x="4572000" y="3683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Interpretability is required before deploying RL in safety-critical domains.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21DC72B-EA87-44A5-AF59-AE524C832EBD}"/>
              </a:ext>
            </a:extLst>
          </p:cNvPr>
          <p:cNvSpPr/>
          <p:nvPr/>
        </p:nvSpPr>
        <p:spPr>
          <a:xfrm>
            <a:off x="8128000" y="1651000"/>
            <a:ext cx="3556000" cy="4064000"/>
          </a:xfrm>
          <a:prstGeom prst="roundRect">
            <a:avLst/>
          </a:prstGeom>
          <a:solidFill>
            <a:srgbClr val="F2F0EA"/>
          </a:solidFill>
          <a:ln w="127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4CDBC7-EB8A-47BC-8FD0-CE93DDBA954D}"/>
              </a:ext>
            </a:extLst>
          </p:cNvPr>
          <p:cNvSpPr/>
          <p:nvPr/>
        </p:nvSpPr>
        <p:spPr>
          <a:xfrm>
            <a:off x="8128000" y="1651000"/>
            <a:ext cx="3556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62A66B-F65A-4A3D-90F2-E457FA437E95}"/>
              </a:ext>
            </a:extLst>
          </p:cNvPr>
          <p:cNvSpPr txBox="1"/>
          <p:nvPr/>
        </p:nvSpPr>
        <p:spPr>
          <a:xfrm>
            <a:off x="8382000" y="3048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Limited Explanations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CD2FF7-6BBF-44F7-A23D-C368C799206B}"/>
              </a:ext>
            </a:extLst>
          </p:cNvPr>
          <p:cNvSpPr txBox="1"/>
          <p:nvPr/>
        </p:nvSpPr>
        <p:spPr>
          <a:xfrm>
            <a:off x="8382000" y="3683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</p:txBody>
      </p:sp>
      <p:pic>
        <p:nvPicPr>
          <p:cNvPr id="20" name="Graphic 20" descr="Brai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78000" y="1968500"/>
            <a:ext cx="1016000" cy="1016000"/>
          </a:xfrm>
          <a:prstGeom prst="rect">
            <a:avLst/>
          </a:prstGeom>
        </p:spPr>
      </p:pic>
      <p:pic>
        <p:nvPicPr>
          <p:cNvPr id="21" name="Graphic 21" descr="Shiel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8000" y="1968500"/>
            <a:ext cx="1016000" cy="1016000"/>
          </a:xfrm>
          <a:prstGeom prst="rect">
            <a:avLst/>
          </a:prstGeom>
        </p:spPr>
      </p:pic>
      <p:pic>
        <p:nvPicPr>
          <p:cNvPr id="22" name="Graphic 22" descr="Question mar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98000" y="1968500"/>
            <a:ext cx="10160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008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CAE664-DB31-40BA-85B8-8646608FD497}"/>
              </a:ext>
            </a:extLst>
          </p:cNvPr>
          <p:cNvSpPr/>
          <p:nvPr/>
        </p:nvSpPr>
        <p:spPr>
          <a:xfrm>
            <a:off x="0" y="0"/>
            <a:ext cx="5334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643F5F-8EF3-4865-84BB-A419028AF42F}"/>
              </a:ext>
            </a:extLst>
          </p:cNvPr>
          <p:cNvSpPr txBox="1"/>
          <p:nvPr/>
        </p:nvSpPr>
        <p:spPr>
          <a:xfrm>
            <a:off x="203200" y="101600"/>
            <a:ext cx="5080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The SSINet Framework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0A3BAF-4D06-4C50-870D-69474A00B26F}"/>
              </a:ext>
            </a:extLst>
          </p:cNvPr>
          <p:cNvSpPr txBox="1"/>
          <p:nvPr/>
        </p:nvSpPr>
        <p:spPr>
          <a:xfrm>
            <a:off x="5588000" y="279400"/>
            <a:ext cx="635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Self-Supervised Interpretable Network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EE13858-9D75-4439-B241-A13130CFEDFA}"/>
              </a:ext>
            </a:extLst>
          </p:cNvPr>
          <p:cNvSpPr/>
          <p:nvPr/>
        </p:nvSpPr>
        <p:spPr>
          <a:xfrm>
            <a:off x="508000" y="1397000"/>
            <a:ext cx="1143000" cy="1016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161616"/>
                </a:solidFill>
                <a:latin typeface="IBM Plex Sans"/>
              </a:rPr>
              <a:t>State
sₜ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D6250D-45C7-4E77-B222-32CDD19DE640}"/>
              </a:ext>
            </a:extLst>
          </p:cNvPr>
          <p:cNvSpPr/>
          <p:nvPr/>
        </p:nvSpPr>
        <p:spPr>
          <a:xfrm>
            <a:off x="2159000" y="1397000"/>
            <a:ext cx="1143000" cy="1016000"/>
          </a:xfrm>
          <a:prstGeom prst="roundRect">
            <a:avLst/>
          </a:prstGeom>
          <a:solidFill>
            <a:srgbClr val="005866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IBM Plex Sans"/>
              </a:rPr>
              <a:t>Encoder
fₑ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6F0068D-6965-41C4-AA5C-3E14CCEB005D}"/>
              </a:ext>
            </a:extLst>
          </p:cNvPr>
          <p:cNvSpPr/>
          <p:nvPr/>
        </p:nvSpPr>
        <p:spPr>
          <a:xfrm>
            <a:off x="3810000" y="1397000"/>
            <a:ext cx="1143000" cy="1016000"/>
          </a:xfrm>
          <a:prstGeom prst="roundRect">
            <a:avLst/>
          </a:prstGeom>
          <a:solidFill>
            <a:srgbClr val="005866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IBM Plex Sans"/>
              </a:rPr>
              <a:t>Decoder
f_d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BB7657-9250-4D21-9421-47CB43F81CAD}"/>
              </a:ext>
            </a:extLst>
          </p:cNvPr>
          <p:cNvSpPr/>
          <p:nvPr/>
        </p:nvSpPr>
        <p:spPr>
          <a:xfrm>
            <a:off x="5461000" y="1397000"/>
            <a:ext cx="1143000" cy="1016000"/>
          </a:xfrm>
          <a:prstGeom prst="roundRect">
            <a:avLst/>
          </a:prstGeom>
          <a:solidFill>
            <a:srgbClr val="C9A227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161616"/>
                </a:solidFill>
                <a:latin typeface="IBM Plex Sans"/>
              </a:rPr>
              <a:t>Mask
f_exp(sₜ)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FF955FE-0AD1-4095-ADC9-D00C1F3F7835}"/>
              </a:ext>
            </a:extLst>
          </p:cNvPr>
          <p:cNvSpPr/>
          <p:nvPr/>
        </p:nvSpPr>
        <p:spPr>
          <a:xfrm>
            <a:off x="7112000" y="1397000"/>
            <a:ext cx="1397000" cy="1016000"/>
          </a:xfrm>
          <a:prstGeom prst="roundRect">
            <a:avLst/>
          </a:prstGeom>
          <a:solidFill>
            <a:srgbClr val="D5E5E8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161616"/>
                </a:solidFill>
                <a:latin typeface="IBM Plex Sans"/>
              </a:rPr>
              <a:t>Masked state
sₜ ⊙ mask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F64EEED-4301-40BE-A046-FD99231E1A76}"/>
              </a:ext>
            </a:extLst>
          </p:cNvPr>
          <p:cNvSpPr/>
          <p:nvPr/>
        </p:nvSpPr>
        <p:spPr>
          <a:xfrm>
            <a:off x="8890000" y="1397000"/>
            <a:ext cx="1143000" cy="1016000"/>
          </a:xfrm>
          <a:prstGeom prst="roundRect">
            <a:avLst/>
          </a:prstGeom>
          <a:solidFill>
            <a:srgbClr val="005866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IBM Plex Sans"/>
              </a:rPr>
              <a:t>Actor
fₐ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9E6B3C2-C71B-4377-892F-6BED2D46E437}"/>
              </a:ext>
            </a:extLst>
          </p:cNvPr>
          <p:cNvSpPr/>
          <p:nvPr/>
        </p:nvSpPr>
        <p:spPr>
          <a:xfrm>
            <a:off x="10541000" y="1397000"/>
            <a:ext cx="1143000" cy="1016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161616"/>
                </a:solidFill>
                <a:latin typeface="IBM Plex Sans"/>
              </a:rPr>
              <a:t>Action
aₜ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F6FA8ED-0D2B-4017-89BA-116FC2FC3A70}"/>
              </a:ext>
            </a:extLst>
          </p:cNvPr>
          <p:cNvSpPr/>
          <p:nvPr/>
        </p:nvSpPr>
        <p:spPr>
          <a:xfrm>
            <a:off x="1663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782AFE9-03C9-4BCE-ABDB-213E57BB6033}"/>
              </a:ext>
            </a:extLst>
          </p:cNvPr>
          <p:cNvSpPr/>
          <p:nvPr/>
        </p:nvSpPr>
        <p:spPr>
          <a:xfrm>
            <a:off x="3314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11A83687-D82D-481E-8836-ED00401D0277}"/>
              </a:ext>
            </a:extLst>
          </p:cNvPr>
          <p:cNvSpPr/>
          <p:nvPr/>
        </p:nvSpPr>
        <p:spPr>
          <a:xfrm>
            <a:off x="4965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072A3A5C-8B45-4359-BC77-25C3BE4E44FE}"/>
              </a:ext>
            </a:extLst>
          </p:cNvPr>
          <p:cNvSpPr/>
          <p:nvPr/>
        </p:nvSpPr>
        <p:spPr>
          <a:xfrm>
            <a:off x="6616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C0087968-4CAF-4001-98E1-4A17C9739224}"/>
              </a:ext>
            </a:extLst>
          </p:cNvPr>
          <p:cNvSpPr/>
          <p:nvPr/>
        </p:nvSpPr>
        <p:spPr>
          <a:xfrm>
            <a:off x="8521700" y="1778000"/>
            <a:ext cx="355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7A4E20A-9BEC-4304-8EAB-B31DD9CFCE10}"/>
              </a:ext>
            </a:extLst>
          </p:cNvPr>
          <p:cNvSpPr/>
          <p:nvPr/>
        </p:nvSpPr>
        <p:spPr>
          <a:xfrm>
            <a:off x="10045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22AA0E-F34C-47C6-8AED-E4E5A83F15F0}"/>
              </a:ext>
            </a:extLst>
          </p:cNvPr>
          <p:cNvSpPr txBox="1"/>
          <p:nvPr/>
        </p:nvSpPr>
        <p:spPr>
          <a:xfrm>
            <a:off x="508000" y="1079500"/>
            <a:ext cx="1117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 dirty="0">
                <a:solidFill>
                  <a:srgbClr val="005866"/>
                </a:solidFill>
                <a:latin typeface="IBM Plex Sans"/>
              </a:rPr>
              <a:t>SSINet: encoder + decoder produces a fine-grained attention mask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C3539F4-E7EE-4915-B600-322EE36C77C7}"/>
              </a:ext>
            </a:extLst>
          </p:cNvPr>
          <p:cNvSpPr/>
          <p:nvPr/>
        </p:nvSpPr>
        <p:spPr>
          <a:xfrm>
            <a:off x="508000" y="2921000"/>
            <a:ext cx="5461000" cy="2921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09C33F-E4B3-44E7-8073-C28662634859}"/>
              </a:ext>
            </a:extLst>
          </p:cNvPr>
          <p:cNvSpPr/>
          <p:nvPr/>
        </p:nvSpPr>
        <p:spPr>
          <a:xfrm>
            <a:off x="508000" y="29210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5F7D1-FF68-4764-A582-990E3355973C}"/>
              </a:ext>
            </a:extLst>
          </p:cNvPr>
          <p:cNvSpPr txBox="1"/>
          <p:nvPr/>
        </p:nvSpPr>
        <p:spPr>
          <a:xfrm>
            <a:off x="762000" y="3175000"/>
            <a:ext cx="4953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005866"/>
                </a:solidFill>
                <a:latin typeface="IBM Plex Sans"/>
              </a:rPr>
              <a:t>Property 1 — Maximum Behavior Resemblance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C6CA33-78DF-4399-AA8D-95A40EB4CDCB}"/>
              </a:ext>
            </a:extLst>
          </p:cNvPr>
          <p:cNvSpPr txBox="1"/>
          <p:nvPr/>
        </p:nvSpPr>
        <p:spPr>
          <a:xfrm>
            <a:off x="762000" y="4064000"/>
            <a:ext cx="4953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The masked state must yield (almost) the same action as the original state:  πₑ(sₜ ⊙ mask) ≈ πₑ(sₜ).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F825728-B8EE-4D78-8D8C-52B1DF288D70}"/>
              </a:ext>
            </a:extLst>
          </p:cNvPr>
          <p:cNvSpPr/>
          <p:nvPr/>
        </p:nvSpPr>
        <p:spPr>
          <a:xfrm>
            <a:off x="6223000" y="2921000"/>
            <a:ext cx="5461000" cy="2921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6483D2E-6B57-457D-9110-8F456D0B7992}"/>
              </a:ext>
            </a:extLst>
          </p:cNvPr>
          <p:cNvSpPr/>
          <p:nvPr/>
        </p:nvSpPr>
        <p:spPr>
          <a:xfrm>
            <a:off x="6223000" y="29210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2DB101-6A6D-4848-A678-D0AF884DB37E}"/>
              </a:ext>
            </a:extLst>
          </p:cNvPr>
          <p:cNvSpPr txBox="1"/>
          <p:nvPr/>
        </p:nvSpPr>
        <p:spPr>
          <a:xfrm>
            <a:off x="6477000" y="3175000"/>
            <a:ext cx="4953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005866"/>
                </a:solidFill>
                <a:latin typeface="IBM Plex Sans"/>
              </a:rPr>
              <a:t>Property 2 — Minimum Region Retaining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0D9CD5-DA64-40A3-96C5-B7FD05102A4D}"/>
              </a:ext>
            </a:extLst>
          </p:cNvPr>
          <p:cNvSpPr txBox="1"/>
          <p:nvPr/>
        </p:nvSpPr>
        <p:spPr>
          <a:xfrm>
            <a:off x="6477000" y="4064000"/>
            <a:ext cx="4953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The mask should retain as little of the image as possible — enforced via L1 regularization: min ||f_exp(sₜ)||₁.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323CB7-3E93-4A67-84EE-9CC8BE2CCDE5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B34AA3-AAB5-4BDC-BF9E-50990B8451DA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EF90CB-298F-4851-84DB-1C7A53BDEA76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5432381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630D7FA-C4C0-40EE-A503-45BFBF07E635}"/>
              </a:ext>
            </a:extLst>
          </p:cNvPr>
          <p:cNvSpPr/>
          <p:nvPr/>
        </p:nvSpPr>
        <p:spPr>
          <a:xfrm>
            <a:off x="0" y="0"/>
            <a:ext cx="5461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E10B1-3FD3-4128-AB90-85C120396122}"/>
              </a:ext>
            </a:extLst>
          </p:cNvPr>
          <p:cNvSpPr txBox="1"/>
          <p:nvPr/>
        </p:nvSpPr>
        <p:spPr>
          <a:xfrm>
            <a:off x="203200" y="101600"/>
            <a:ext cx="5207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Two-Stage Training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691B6-FA61-435C-8DED-3B68B864FD79}"/>
              </a:ext>
            </a:extLst>
          </p:cNvPr>
          <p:cNvSpPr txBox="1"/>
          <p:nvPr/>
        </p:nvSpPr>
        <p:spPr>
          <a:xfrm>
            <a:off x="5715000" y="279400"/>
            <a:ext cx="635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Completely label-free, self-supervised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356592F-778B-4AA8-9B11-84F3A79C15D4}"/>
              </a:ext>
            </a:extLst>
          </p:cNvPr>
          <p:cNvSpPr/>
          <p:nvPr/>
        </p:nvSpPr>
        <p:spPr>
          <a:xfrm>
            <a:off x="508000" y="1397000"/>
            <a:ext cx="5461000" cy="4445000"/>
          </a:xfrm>
          <a:prstGeom prst="roundRect">
            <a:avLst/>
          </a:prstGeom>
          <a:solidFill>
            <a:srgbClr val="F2F0EA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486835E-5DFC-400B-8498-98BE1DD29018}"/>
              </a:ext>
            </a:extLst>
          </p:cNvPr>
          <p:cNvSpPr/>
          <p:nvPr/>
        </p:nvSpPr>
        <p:spPr>
          <a:xfrm>
            <a:off x="762000" y="1651000"/>
            <a:ext cx="711200" cy="711200"/>
          </a:xfrm>
          <a:prstGeom prst="ellipse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800" b="1" dirty="0">
                <a:solidFill>
                  <a:srgbClr val="FFFFFF"/>
                </a:solidFill>
                <a:latin typeface="IBM Plex Sans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8F088C-5F02-44B1-BBF0-0B5E2987D5A1}"/>
              </a:ext>
            </a:extLst>
          </p:cNvPr>
          <p:cNvSpPr txBox="1"/>
          <p:nvPr/>
        </p:nvSpPr>
        <p:spPr>
          <a:xfrm>
            <a:off x="1651000" y="1714500"/>
            <a:ext cx="4064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Pretrain the RL 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6F490A-80DF-427B-8A77-FABBA94FECFD}"/>
              </a:ext>
            </a:extLst>
          </p:cNvPr>
          <p:cNvSpPr txBox="1"/>
          <p:nvPr/>
        </p:nvSpPr>
        <p:spPr>
          <a:xfrm>
            <a:off x="889000" y="2667000"/>
            <a:ext cx="4826000" cy="292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•  Train actor (fₑ + fₐ) with standard RL
•  Obtain an expert policy πₑ
•  Roll it out to collect state–action pairs {(sᵢ, aᵢ)}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DCBF726-C3C6-455A-82E6-357F53CD0598}"/>
              </a:ext>
            </a:extLst>
          </p:cNvPr>
          <p:cNvSpPr/>
          <p:nvPr/>
        </p:nvSpPr>
        <p:spPr>
          <a:xfrm>
            <a:off x="6223000" y="1397000"/>
            <a:ext cx="5461000" cy="4445000"/>
          </a:xfrm>
          <a:prstGeom prst="roundRect">
            <a:avLst/>
          </a:prstGeom>
          <a:solidFill>
            <a:srgbClr val="F2F0EA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9FE8EAE-2AFC-494A-8309-D6BA8779D753}"/>
              </a:ext>
            </a:extLst>
          </p:cNvPr>
          <p:cNvSpPr/>
          <p:nvPr/>
        </p:nvSpPr>
        <p:spPr>
          <a:xfrm>
            <a:off x="6477000" y="1651000"/>
            <a:ext cx="711200" cy="711200"/>
          </a:xfrm>
          <a:prstGeom prst="ellipse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800" b="1" dirty="0">
                <a:solidFill>
                  <a:srgbClr val="FFFFFF"/>
                </a:solidFill>
                <a:latin typeface="IBM Plex Sans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84BC42-C2A7-4CC0-802F-DB994DDC06FA}"/>
              </a:ext>
            </a:extLst>
          </p:cNvPr>
          <p:cNvSpPr txBox="1"/>
          <p:nvPr/>
        </p:nvSpPr>
        <p:spPr>
          <a:xfrm>
            <a:off x="7366000" y="1714500"/>
            <a:ext cx="4064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Train SSINet (decoder only)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4394A-6A15-49C9-A58D-95FC1FBA66CD}"/>
              </a:ext>
            </a:extLst>
          </p:cNvPr>
          <p:cNvSpPr txBox="1"/>
          <p:nvPr/>
        </p:nvSpPr>
        <p:spPr>
          <a:xfrm>
            <a:off x="6604000" y="2667000"/>
            <a:ext cx="4826000" cy="292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•  Reuse fₑ from the agent — freeze fₑ and fₐ
•  Train only the decoder f_d
•  Loss: behavior matching + α · ||mask||₁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BEBDDBF-6659-431C-A228-D7C701E9756F}"/>
              </a:ext>
            </a:extLst>
          </p:cNvPr>
          <p:cNvSpPr/>
          <p:nvPr/>
        </p:nvSpPr>
        <p:spPr>
          <a:xfrm>
            <a:off x="5994400" y="3429000"/>
            <a:ext cx="203200" cy="381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17999B-73A1-46F8-B371-6DC73C6BDB20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87A8FE-9A70-4636-93B4-E81449C64E43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D66E9C-5B7B-489D-A611-753BA6B95966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1511895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F88103-0FDA-4EFA-9B26-436C1DBC1C22}"/>
              </a:ext>
            </a:extLst>
          </p:cNvPr>
          <p:cNvSpPr/>
          <p:nvPr/>
        </p:nvSpPr>
        <p:spPr>
          <a:xfrm>
            <a:off x="0" y="0"/>
            <a:ext cx="4572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C93DFD-E01A-486B-9F5E-9F0707F17D62}"/>
              </a:ext>
            </a:extLst>
          </p:cNvPr>
          <p:cNvSpPr txBox="1"/>
          <p:nvPr/>
        </p:nvSpPr>
        <p:spPr>
          <a:xfrm>
            <a:off x="203200" y="101600"/>
            <a:ext cx="4318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Key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86E402-8052-491A-8110-4A9DC6D4A920}"/>
              </a:ext>
            </a:extLst>
          </p:cNvPr>
          <p:cNvSpPr txBox="1"/>
          <p:nvPr/>
        </p:nvSpPr>
        <p:spPr>
          <a:xfrm>
            <a:off x="4826000" y="279400"/>
            <a:ext cx="711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Atari 2600 and Duckietown self-driving simulator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E4DE4F-327F-41CA-A183-5C407476ED99}"/>
              </a:ext>
            </a:extLst>
          </p:cNvPr>
          <p:cNvSpPr/>
          <p:nvPr/>
        </p:nvSpPr>
        <p:spPr>
          <a:xfrm>
            <a:off x="50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6C7BDF-3BA6-4E88-88E7-7C48ADE56932}"/>
              </a:ext>
            </a:extLst>
          </p:cNvPr>
          <p:cNvSpPr txBox="1"/>
          <p:nvPr/>
        </p:nvSpPr>
        <p:spPr>
          <a:xfrm>
            <a:off x="63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≈ expert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FE19E7-CE6C-493F-9202-30F4E9C6BC97}"/>
              </a:ext>
            </a:extLst>
          </p:cNvPr>
          <p:cNvSpPr txBox="1"/>
          <p:nvPr/>
        </p:nvSpPr>
        <p:spPr>
          <a:xfrm>
            <a:off x="68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Mask policy matches expert policy return &amp; actions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9E1DB7-6206-40DC-83FF-BE0816BA40AE}"/>
              </a:ext>
            </a:extLst>
          </p:cNvPr>
          <p:cNvSpPr/>
          <p:nvPr/>
        </p:nvSpPr>
        <p:spPr>
          <a:xfrm>
            <a:off x="431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B365C0-1D98-4C91-A996-78A16A6387FB}"/>
              </a:ext>
            </a:extLst>
          </p:cNvPr>
          <p:cNvSpPr txBox="1"/>
          <p:nvPr/>
        </p:nvSpPr>
        <p:spPr>
          <a:xfrm>
            <a:off x="444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sharper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30B5A0-CD7E-49F6-8985-8BBD4C2A5F22}"/>
              </a:ext>
            </a:extLst>
          </p:cNvPr>
          <p:cNvSpPr txBox="1"/>
          <p:nvPr/>
        </p:nvSpPr>
        <p:spPr>
          <a:xfrm>
            <a:off x="449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Higher-resolution maps vs. Gradient &amp; Perturbation saliency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BB85EB9-F223-4CC4-A548-7006A90BDB12}"/>
              </a:ext>
            </a:extLst>
          </p:cNvPr>
          <p:cNvSpPr/>
          <p:nvPr/>
        </p:nvSpPr>
        <p:spPr>
          <a:xfrm>
            <a:off x="812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26F72B-5729-46DC-B58F-255955BACBE0}"/>
              </a:ext>
            </a:extLst>
          </p:cNvPr>
          <p:cNvSpPr txBox="1"/>
          <p:nvPr/>
        </p:nvSpPr>
        <p:spPr>
          <a:xfrm>
            <a:off x="825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10 maps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72B421-15B0-4627-A0C1-20B40F2BF3A0}"/>
              </a:ext>
            </a:extLst>
          </p:cNvPr>
          <p:cNvSpPr txBox="1"/>
          <p:nvPr/>
        </p:nvSpPr>
        <p:spPr>
          <a:xfrm>
            <a:off x="830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Duckietown: empty, zigzag, corner, U-turn, S-turn + city variants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5D1D38-0A72-4F70-A930-E60AD07AA8D3}"/>
              </a:ext>
            </a:extLst>
          </p:cNvPr>
          <p:cNvSpPr/>
          <p:nvPr/>
        </p:nvSpPr>
        <p:spPr>
          <a:xfrm>
            <a:off x="508000" y="3238500"/>
            <a:ext cx="5461000" cy="2667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6ADF4C-BDFE-48D8-ADAA-77A9C2903D84}"/>
              </a:ext>
            </a:extLst>
          </p:cNvPr>
          <p:cNvSpPr/>
          <p:nvPr/>
        </p:nvSpPr>
        <p:spPr>
          <a:xfrm>
            <a:off x="508000" y="32385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D22D1F-FC9A-457D-8116-AD1785E74C0C}"/>
              </a:ext>
            </a:extLst>
          </p:cNvPr>
          <p:cNvSpPr txBox="1"/>
          <p:nvPr/>
        </p:nvSpPr>
        <p:spPr>
          <a:xfrm>
            <a:off x="762000" y="3429000"/>
            <a:ext cx="4953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What the mask learns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F64CCF-A803-4108-BE5A-9861E5521959}"/>
              </a:ext>
            </a:extLst>
          </p:cNvPr>
          <p:cNvSpPr txBox="1"/>
          <p:nvPr/>
        </p:nvSpPr>
        <p:spPr>
          <a:xfrm>
            <a:off x="762000" y="4000500"/>
            <a:ext cx="4953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dirty="0">
                <a:solidFill>
                  <a:srgbClr val="161616"/>
                </a:solidFill>
                <a:latin typeface="IBM Plex Sans"/>
              </a:rPr>
              <a:t>• Lane-following: white edge &amp; yellow dashed lines
• Tennis: players, net, ball
• Attention is tight and task-relevant — matches human gaze patterns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9E79052-551A-4FB7-A6DE-8E37AFF1E8D6}"/>
              </a:ext>
            </a:extLst>
          </p:cNvPr>
          <p:cNvSpPr/>
          <p:nvPr/>
        </p:nvSpPr>
        <p:spPr>
          <a:xfrm>
            <a:off x="6223000" y="3238500"/>
            <a:ext cx="5461000" cy="2667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F2637C3-417D-43FA-8C8F-66404F9C66FD}"/>
              </a:ext>
            </a:extLst>
          </p:cNvPr>
          <p:cNvSpPr/>
          <p:nvPr/>
        </p:nvSpPr>
        <p:spPr>
          <a:xfrm>
            <a:off x="6223000" y="32385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773F82-78D0-45C1-87EE-186BD2F4407B}"/>
              </a:ext>
            </a:extLst>
          </p:cNvPr>
          <p:cNvSpPr txBox="1"/>
          <p:nvPr/>
        </p:nvSpPr>
        <p:spPr>
          <a:xfrm>
            <a:off x="6477000" y="3429000"/>
            <a:ext cx="4953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vs. prior saliency methods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8065D1-8863-4F9D-A5E4-ECBFE5CD4DF0}"/>
              </a:ext>
            </a:extLst>
          </p:cNvPr>
          <p:cNvSpPr txBox="1"/>
          <p:nvPr/>
        </p:nvSpPr>
        <p:spPr>
          <a:xfrm>
            <a:off x="6477000" y="4000500"/>
            <a:ext cx="4953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dirty="0">
                <a:solidFill>
                  <a:srgbClr val="161616"/>
                </a:solidFill>
                <a:latin typeface="IBM Plex Sans"/>
              </a:rPr>
              <a:t>• Higher-resolution, sharper maps than Gradient-Saliency [18]
• Better than Perturbation-Saliency [21] (Gaussian blur)
• Masked-pixel policies preserve return; others degrade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2C0BEEE-9F89-4894-823A-58132AEDF4AC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6A355F-78E0-444F-9CD5-7F012B7DCEF4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8EABC9-C2E7-4B8E-B16B-99700DA6C0F7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974445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FE7A8B-B4C0-4F2E-87F3-82A35F0DF113}"/>
              </a:ext>
            </a:extLst>
          </p:cNvPr>
          <p:cNvSpPr/>
          <p:nvPr/>
        </p:nvSpPr>
        <p:spPr>
          <a:xfrm>
            <a:off x="0" y="0"/>
            <a:ext cx="6096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27F355-5E19-4DA9-B304-455907EF0299}"/>
              </a:ext>
            </a:extLst>
          </p:cNvPr>
          <p:cNvSpPr txBox="1"/>
          <p:nvPr/>
        </p:nvSpPr>
        <p:spPr>
          <a:xfrm>
            <a:off x="203200" y="101600"/>
            <a:ext cx="5842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Measuring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20ABE9-1AE7-420A-8C7A-020A1E7F2C0F}"/>
              </a:ext>
            </a:extLst>
          </p:cNvPr>
          <p:cNvSpPr txBox="1"/>
          <p:nvPr/>
        </p:nvSpPr>
        <p:spPr>
          <a:xfrm>
            <a:off x="6350000" y="279400"/>
            <a:ext cx="5715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Quantitative metrics + practical takeaways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13D9FA-2AF3-458F-A8BC-D9E1E7F97C69}"/>
              </a:ext>
            </a:extLst>
          </p:cNvPr>
          <p:cNvSpPr/>
          <p:nvPr/>
        </p:nvSpPr>
        <p:spPr>
          <a:xfrm>
            <a:off x="508000" y="1270000"/>
            <a:ext cx="5588000" cy="15875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B1AF69-524F-4553-A806-1219D5623EE9}"/>
              </a:ext>
            </a:extLst>
          </p:cNvPr>
          <p:cNvSpPr/>
          <p:nvPr/>
        </p:nvSpPr>
        <p:spPr>
          <a:xfrm>
            <a:off x="698500" y="1498600"/>
            <a:ext cx="1117600" cy="11176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 dirty="0">
                <a:solidFill>
                  <a:srgbClr val="C9A227"/>
                </a:solidFill>
                <a:latin typeface="IBM Plex Sans"/>
              </a:rPr>
              <a:t>FOR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74EDC-5DDA-4D23-A584-CAC090A85993}"/>
              </a:ext>
            </a:extLst>
          </p:cNvPr>
          <p:cNvSpPr txBox="1"/>
          <p:nvPr/>
        </p:nvSpPr>
        <p:spPr>
          <a:xfrm>
            <a:off x="2032000" y="1473200"/>
            <a:ext cx="3937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 dirty="0">
                <a:solidFill>
                  <a:srgbClr val="005866"/>
                </a:solidFill>
                <a:latin typeface="IBM Plex Sans"/>
              </a:rPr>
              <a:t>Feature Overlapping Rate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1A9312-309F-4CD3-8CF4-8DC2BF7FA5DA}"/>
              </a:ext>
            </a:extLst>
          </p:cNvPr>
          <p:cNvSpPr txBox="1"/>
          <p:nvPr/>
        </p:nvSpPr>
        <p:spPr>
          <a:xfrm>
            <a:off x="2032000" y="1854200"/>
            <a:ext cx="3937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Overlap between true mask area and learned mask.
Did the agent look at the right things?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295D3F9-471C-41BD-9919-B0FF67EE8678}"/>
              </a:ext>
            </a:extLst>
          </p:cNvPr>
          <p:cNvSpPr/>
          <p:nvPr/>
        </p:nvSpPr>
        <p:spPr>
          <a:xfrm>
            <a:off x="508000" y="3048000"/>
            <a:ext cx="5588000" cy="15875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7FB84F-612D-4C5A-AA98-BE70CEB2381A}"/>
              </a:ext>
            </a:extLst>
          </p:cNvPr>
          <p:cNvSpPr/>
          <p:nvPr/>
        </p:nvSpPr>
        <p:spPr>
          <a:xfrm>
            <a:off x="698500" y="3276600"/>
            <a:ext cx="1117600" cy="11176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 dirty="0">
                <a:solidFill>
                  <a:srgbClr val="C9A227"/>
                </a:solidFill>
                <a:latin typeface="IBM Plex Sans"/>
              </a:rPr>
              <a:t>BER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9FD3EB-D25D-4875-8189-97EF1B507ADA}"/>
              </a:ext>
            </a:extLst>
          </p:cNvPr>
          <p:cNvSpPr txBox="1"/>
          <p:nvPr/>
        </p:nvSpPr>
        <p:spPr>
          <a:xfrm>
            <a:off x="2032000" y="3251200"/>
            <a:ext cx="3937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 dirty="0">
                <a:solidFill>
                  <a:srgbClr val="005866"/>
                </a:solidFill>
                <a:latin typeface="IBM Plex Sans"/>
              </a:rPr>
              <a:t>Background Elimination Rate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F83C40-0AC1-4F9E-87D0-DDDD603BBB96}"/>
              </a:ext>
            </a:extLst>
          </p:cNvPr>
          <p:cNvSpPr txBox="1"/>
          <p:nvPr/>
        </p:nvSpPr>
        <p:spPr>
          <a:xfrm>
            <a:off x="2032000" y="3632200"/>
            <a:ext cx="3937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How well the mask suppresses irrelevant background.
Did the agent ignore the noise?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5467CB2-A7A6-4C17-90B5-61522E1BB9BA}"/>
              </a:ext>
            </a:extLst>
          </p:cNvPr>
          <p:cNvSpPr/>
          <p:nvPr/>
        </p:nvSpPr>
        <p:spPr>
          <a:xfrm>
            <a:off x="508000" y="4826000"/>
            <a:ext cx="5588000" cy="1079500"/>
          </a:xfrm>
          <a:prstGeom prst="round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22E8C1-0064-44B8-8EB3-508DBB92A11D}"/>
              </a:ext>
            </a:extLst>
          </p:cNvPr>
          <p:cNvSpPr txBox="1"/>
          <p:nvPr/>
        </p:nvSpPr>
        <p:spPr>
          <a:xfrm>
            <a:off x="698500" y="4953000"/>
            <a:ext cx="5207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 dirty="0">
                <a:solidFill>
                  <a:srgbClr val="161616"/>
                </a:solidFill>
                <a:latin typeface="IBM Plex Sans"/>
              </a:rPr>
              <a:t>FOR × BER strongly correlates with return.
Agent wins only when it looks right AND ignores the rest.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7343D72-DBA3-4E63-8D13-1106CEACD305}"/>
              </a:ext>
            </a:extLst>
          </p:cNvPr>
          <p:cNvSpPr/>
          <p:nvPr/>
        </p:nvSpPr>
        <p:spPr>
          <a:xfrm>
            <a:off x="6350000" y="1270000"/>
            <a:ext cx="5334000" cy="4635500"/>
          </a:xfrm>
          <a:prstGeom prst="roundRect">
            <a:avLst/>
          </a:prstGeom>
          <a:solidFill>
            <a:srgbClr val="F2F0EA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B91028-4CED-47E2-9B96-A5017882C070}"/>
              </a:ext>
            </a:extLst>
          </p:cNvPr>
          <p:cNvSpPr/>
          <p:nvPr/>
        </p:nvSpPr>
        <p:spPr>
          <a:xfrm>
            <a:off x="6350000" y="1270000"/>
            <a:ext cx="5334000" cy="762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0A109F-0C65-4D53-B870-FFCBB7DC196B}"/>
              </a:ext>
            </a:extLst>
          </p:cNvPr>
          <p:cNvSpPr txBox="1"/>
          <p:nvPr/>
        </p:nvSpPr>
        <p:spPr>
          <a:xfrm>
            <a:off x="6604000" y="1498600"/>
            <a:ext cx="482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Takeaways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0D6EB2-1F36-4862-BBC3-37A9E4D44682}"/>
              </a:ext>
            </a:extLst>
          </p:cNvPr>
          <p:cNvSpPr txBox="1"/>
          <p:nvPr/>
        </p:nvSpPr>
        <p:spPr>
          <a:xfrm>
            <a:off x="6604000" y="2095500"/>
            <a:ext cx="4826000" cy="368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•  PPO &gt; SAC &gt; TD3 on lane-following — PPO ignores background better (higher BER)
•  Complex actor architectures don't guarantee better performance
•  Attention shift explains failure: agent drifts to background in novel scenes
•  Works on any vision-based RL model, no retraining of the agent
•  Points toward label-free self-supervised segmentation &amp; detection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5B4518-BE54-4229-B485-74D1BE89739C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FE8CCE-A8CD-446C-ABE7-D2A28C153F92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69377D-2FC1-4026-AE6F-0DDEF86BFE02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7671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7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F006C5D-752A-4980-9E10-2472195AF9D7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12e4e84e-e63c-4563-aee1-f0f02513a26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1007</Words>
  <Application>Microsoft Office PowerPoint</Application>
  <PresentationFormat>Widescreen</PresentationFormat>
  <Paragraphs>201</Paragraphs>
  <Slides>21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IBM Plex Sans</vt:lpstr>
      <vt:lpstr>Office Theme</vt:lpstr>
      <vt:lpstr>PowerPoint Presentation</vt:lpstr>
      <vt:lpstr>The Context</vt:lpstr>
      <vt:lpstr>The Context: MoleGuLAR 🧬</vt:lpstr>
      <vt:lpstr>🧬MoleGuLAR: The Pipeline </vt:lpstr>
      <vt:lpstr>🧬MoleGuLAR: 🙂 SMILES</vt:lpstr>
      <vt:lpstr>🧬MoleGuLAR: BA Estimation</vt:lpstr>
      <vt:lpstr>PowerPoint Presentation</vt:lpstr>
      <vt:lpstr>PowerPoint Presentation</vt:lpstr>
      <vt:lpstr>MoleGuLAR: 🎯 Desired Properties</vt:lpstr>
      <vt:lpstr>MoleGuLAR: 🏆Reward Functions</vt:lpstr>
      <vt:lpstr>🧬MoleGuLAR: The Pipeline </vt:lpstr>
      <vt:lpstr>🧬MoleGuLAR: Properties</vt:lpstr>
      <vt:lpstr>🧬MoleGuLAR: The Pipeline </vt:lpstr>
      <vt:lpstr>The Problem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Pimpinelli</dc:creator>
  <cp:lastModifiedBy>Francesco Pimpinelli</cp:lastModifiedBy>
  <cp:revision>8</cp:revision>
  <dcterms:created xsi:type="dcterms:W3CDTF">2026-03-14T16:31:52Z</dcterms:created>
  <dcterms:modified xsi:type="dcterms:W3CDTF">2026-04-24T08:34:34Z</dcterms:modified>
</cp:coreProperties>
</file>